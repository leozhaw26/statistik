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Zulassungsquote</c:v>
                </c:pt>
              </c:strCache>
            </c:strRef>
          </c:tx>
          <c:spPr>
            <a:solidFill>
              <a:srgbClr val="E4572E"/>
            </a:solidFill>
            <a:effectLst/>
          </c:spPr>
          <c:invertIfNegative val="0"/>
          <c:dLbls>
            <c:numFmt formatCode="0.0&quot; %&quot;" sourceLinked="0"/>
            <c:txPr>
              <a:bodyPr/>
              <a:lstStyle/>
              <a:p>
                <a:pPr>
                  <a:defRPr b="1" i="0" strike="noStrike" sz="2200" u="none">
                    <a:solidFill>
                      <a:srgbClr val="111827"/>
                    </a:solidFill>
                    <a:latin typeface="Arial"/>
                  </a:defRPr>
                </a:pPr>
              </a:p>
            </c:txPr>
            <c:showLegendKey val="0"/>
            <c:showVal val="1"/>
            <c:showCatName val="0"/>
            <c:showSerName val="0"/>
            <c:showPercent val="0"/>
            <c:showBubbleSize val="0"/>
            <c:showLeaderLines val="0"/>
          </c:dLbls>
          <c:dPt>
            <c:idx val="0"/>
            <c:invertIfNegative val="0"/>
            <c:bubble3D val="0"/>
            <c:spPr>
              <a:solidFill>
                <a:srgbClr val="E4572E"/>
              </a:solidFill>
              <a:effectLst/>
            </c:spPr>
          </c:dPt>
          <c:dPt>
            <c:idx val="1"/>
            <c:invertIfNegative val="0"/>
            <c:bubble3D val="0"/>
            <c:spPr>
              <a:solidFill>
                <a:srgbClr val="2F4B7C"/>
              </a:solidFill>
              <a:effectLst/>
            </c:spPr>
          </c:dPt>
          <c:cat>
            <c:multiLvlStrRef>
              <c:f>Sheet1!$A$2:$A$3</c:f>
              <c:multiLvlStrCache>
                <c:ptCount val="2"/>
                <c:lvl>
                  <c:pt idx="0">
                    <c:v>Frauen</c:v>
                  </c:pt>
                  <c:pt idx="1">
                    <c:v>Männer</c:v>
                  </c:pt>
                </c:lvl>
              </c:multiLvlStrCache>
            </c:multiLvlStrRef>
          </c:cat>
          <c:val>
            <c:numRef>
              <c:f>Sheet1!$B$2:$B$3</c:f>
              <c:numCache>
                <c:formatCode>General</c:formatCode>
                <c:ptCount val="2"/>
                <c:pt idx="0">
                  <c:v>30.4</c:v>
                </c:pt>
                <c:pt idx="1">
                  <c:v>44.5</c:v>
                </c:pt>
              </c:numCache>
            </c:numRef>
          </c:val>
        </c:ser>
        <c:dLbls>
          <c:numFmt formatCode="0.0&quot; %&quot;" sourceLinked="0"/>
          <c:txPr>
            <a:bodyPr/>
            <a:lstStyle/>
            <a:p>
              <a:pPr>
                <a:defRPr b="1" i="0" strike="noStrike" sz="2200" u="none">
                  <a:solidFill>
                    <a:srgbClr val="111827"/>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none"/>
        <c:minorTickMark val="none"/>
        <c:tickLblPos val="nextTo"/>
        <c:spPr>
          <a:ln w="12700" cap="flat">
            <a:noFill/>
            <a:prstDash val="solid"/>
            <a:round/>
          </a:ln>
        </c:spPr>
        <c:txPr>
          <a:bodyPr/>
          <a:lstStyle/>
          <a:p>
            <a:pPr>
              <a:defRPr sz="18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E4572E"/>
            </a:solidFill>
            <a:effectLst/>
          </c:spPr>
          <c:invertIfNegative val="0"/>
          <c:dLbls>
            <c:numFmt formatCode="0.0" sourceLinked="0"/>
            <c:txPr>
              <a:bodyPr/>
              <a:lstStyle/>
              <a:p>
                <a:pPr>
                  <a:defRPr b="1" i="0" strike="noStrike" sz="1300" u="none">
                    <a:solidFill>
                      <a:srgbClr val="111827"/>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
Frauen +20.3 PP</c:v>
                  </c:pt>
                  <c:pt idx="1">
                    <c:v>FB B
Frauen +5.0 PP</c:v>
                  </c:pt>
                  <c:pt idx="2">
                    <c:v>FB C
Frauen −2.9 PP</c:v>
                  </c:pt>
                  <c:pt idx="3">
                    <c:v>FB D
Frauen +1.8 PP</c:v>
                  </c:pt>
                  <c:pt idx="4">
                    <c:v>FB E
Frauen −3.8 PP</c:v>
                  </c:pt>
                  <c:pt idx="5">
                    <c:v>FB F
Frauen +1.1 PP</c:v>
                  </c:pt>
                </c:lvl>
              </c:multiLvlStrCache>
            </c:multiLvlStrRef>
          </c:cat>
          <c:val>
            <c:numRef>
              <c:f>Sheet1!$B$2:$B$7</c:f>
              <c:numCache>
                <c:formatCode>General</c:formatCode>
                <c:ptCount val="6"/>
                <c:pt idx="0">
                  <c:v>82.4</c:v>
                </c:pt>
                <c:pt idx="1">
                  <c:v>68</c:v>
                </c:pt>
                <c:pt idx="2">
                  <c:v>34.1</c:v>
                </c:pt>
                <c:pt idx="3">
                  <c:v>34.9</c:v>
                </c:pt>
                <c:pt idx="4">
                  <c:v>23.9</c:v>
                </c:pt>
                <c:pt idx="5">
                  <c:v>7</c:v>
                </c:pt>
              </c:numCache>
            </c:numRef>
          </c:val>
        </c:ser>
        <c:ser>
          <c:idx val="1"/>
          <c:order val="1"/>
          <c:tx>
            <c:strRef>
              <c:f>Sheet1!$C$1</c:f>
              <c:strCache>
                <c:ptCount val="1"/>
                <c:pt idx="0">
                  <c:v>Männer</c:v>
                </c:pt>
              </c:strCache>
            </c:strRef>
          </c:tx>
          <c:spPr>
            <a:solidFill>
              <a:srgbClr val="2F4B7C"/>
            </a:solidFill>
            <a:effectLst/>
          </c:spPr>
          <c:invertIfNegative val="0"/>
          <c:dLbls>
            <c:numFmt formatCode="0.0" sourceLinked="0"/>
            <c:txPr>
              <a:bodyPr/>
              <a:lstStyle/>
              <a:p>
                <a:pPr>
                  <a:defRPr b="1" i="0" strike="noStrike" sz="1300" u="none">
                    <a:solidFill>
                      <a:srgbClr val="111827"/>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
Frauen +20.3 PP</c:v>
                  </c:pt>
                  <c:pt idx="1">
                    <c:v>FB B
Frauen +5.0 PP</c:v>
                  </c:pt>
                  <c:pt idx="2">
                    <c:v>FB C
Frauen −2.9 PP</c:v>
                  </c:pt>
                  <c:pt idx="3">
                    <c:v>FB D
Frauen +1.8 PP</c:v>
                  </c:pt>
                  <c:pt idx="4">
                    <c:v>FB E
Frauen −3.8 PP</c:v>
                  </c:pt>
                  <c:pt idx="5">
                    <c:v>FB F
Frauen +1.1 PP</c:v>
                  </c:pt>
                </c:lvl>
              </c:multiLvlStrCache>
            </c:multiLvlStrRef>
          </c:cat>
          <c:val>
            <c:numRef>
              <c:f>Sheet1!$C$2:$C$7</c:f>
              <c:numCache>
                <c:formatCode>General</c:formatCode>
                <c:ptCount val="6"/>
                <c:pt idx="0">
                  <c:v>62.1</c:v>
                </c:pt>
                <c:pt idx="1">
                  <c:v>63</c:v>
                </c:pt>
                <c:pt idx="2">
                  <c:v>36.9</c:v>
                </c:pt>
                <c:pt idx="3">
                  <c:v>33.1</c:v>
                </c:pt>
                <c:pt idx="4">
                  <c:v>27.7</c:v>
                </c:pt>
                <c:pt idx="5">
                  <c:v>5.9</c:v>
                </c:pt>
              </c:numCache>
            </c:numRef>
          </c:val>
        </c:ser>
        <c:dLbls>
          <c:numFmt formatCode="0.0" sourceLinked="0"/>
          <c:txPr>
            <a:bodyPr/>
            <a:lstStyle/>
            <a:p>
              <a:pPr>
                <a:defRPr b="1" i="0" strike="noStrike" sz="1300" u="none">
                  <a:solidFill>
                    <a:srgbClr val="111827"/>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11827"/>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9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 und B</c:v>
                </c:pt>
              </c:strCache>
            </c:strRef>
          </c:tx>
          <c:spPr>
            <a:solidFill>
              <a:srgbClr val="111827"/>
            </a:solidFill>
            <a:effectLst/>
          </c:spPr>
          <c:invertIfNegative val="0"/>
          <c:dLbls>
            <c:numFmt formatCode="0.0&quot; %&quot;" sourceLinked="0"/>
            <c:txPr>
              <a:bodyPr/>
              <a:lstStyle/>
              <a:p>
                <a:pPr>
                  <a:defRPr b="1"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Frauen</c:v>
                  </c:pt>
                  <c:pt idx="1">
                    <c:v>Männer</c:v>
                  </c:pt>
                </c:lvl>
              </c:multiLvlStrCache>
            </c:multiLvlStrRef>
          </c:cat>
          <c:val>
            <c:numRef>
              <c:f>Sheet1!$B$2:$B$3</c:f>
              <c:numCache>
                <c:formatCode>General</c:formatCode>
                <c:ptCount val="2"/>
                <c:pt idx="0">
                  <c:v>7.2</c:v>
                </c:pt>
                <c:pt idx="1">
                  <c:v>51.5</c:v>
                </c:pt>
              </c:numCache>
            </c:numRef>
          </c:val>
        </c:ser>
        <c:ser>
          <c:idx val="1"/>
          <c:order val="1"/>
          <c:tx>
            <c:strRef>
              <c:f>Sheet1!$C$1</c:f>
              <c:strCache>
                <c:ptCount val="1"/>
                <c:pt idx="0">
                  <c:v>C bis F</c:v>
                </c:pt>
              </c:strCache>
            </c:strRef>
          </c:tx>
          <c:spPr>
            <a:solidFill>
              <a:srgbClr val="6B7280"/>
            </a:solidFill>
            <a:effectLst/>
          </c:spPr>
          <c:invertIfNegative val="0"/>
          <c:dLbls>
            <c:numFmt formatCode="0.0&quot; %&quot;" sourceLinked="0"/>
            <c:txPr>
              <a:bodyPr/>
              <a:lstStyle/>
              <a:p>
                <a:pPr>
                  <a:defRPr b="1"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Frauen</c:v>
                  </c:pt>
                  <c:pt idx="1">
                    <c:v>Männer</c:v>
                  </c:pt>
                </c:lvl>
              </c:multiLvlStrCache>
            </c:multiLvlStrRef>
          </c:cat>
          <c:val>
            <c:numRef>
              <c:f>Sheet1!$C$2:$C$3</c:f>
              <c:numCache>
                <c:formatCode>General</c:formatCode>
                <c:ptCount val="2"/>
                <c:pt idx="0">
                  <c:v>92.8</c:v>
                </c:pt>
                <c:pt idx="1">
                  <c:v>48.5</c:v>
                </c:pt>
              </c:numCache>
            </c:numRef>
          </c:val>
        </c:ser>
        <c:dLbls>
          <c:numFmt formatCode="0.0&quot; %&quot;" sourceLinked="0"/>
          <c:txPr>
            <a:bodyPr/>
            <a:lstStyle/>
            <a:p>
              <a:pPr>
                <a:defRPr b="1"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none"/>
        <c:minorTickMark val="none"/>
        <c:tickLblPos val="nextTo"/>
        <c:spPr>
          <a:ln w="12700" cap="flat">
            <a:noFill/>
            <a:prstDash val="solid"/>
            <a:round/>
          </a:ln>
        </c:spPr>
        <c:txPr>
          <a:bodyPr/>
          <a:lstStyle/>
          <a:p>
            <a:pPr>
              <a:defRPr sz="16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Tatsächlich</c:v>
                </c:pt>
              </c:strCache>
            </c:strRef>
          </c:tx>
          <c:spPr>
            <a:solidFill>
              <a:srgbClr val="E4572E"/>
            </a:solidFill>
            <a:effectLst/>
          </c:spPr>
          <c:invertIfNegative val="0"/>
          <c:dLbls>
            <c:numFmt formatCode="0.0&quot; %&quot;" sourceLinked="0"/>
            <c:txPr>
              <a:bodyPr/>
              <a:lstStyle/>
              <a:p>
                <a:pPr>
                  <a:defRPr b="1" i="0" strike="noStrike" sz="1800" u="none">
                    <a:solidFill>
                      <a:srgbClr val="111827"/>
                    </a:solidFill>
                    <a:latin typeface="Arial"/>
                  </a:defRPr>
                </a:pPr>
              </a:p>
            </c:txPr>
            <c:showLegendKey val="0"/>
            <c:showVal val="1"/>
            <c:showCatName val="0"/>
            <c:showSerName val="0"/>
            <c:showPercent val="0"/>
            <c:showBubbleSize val="0"/>
            <c:showLeaderLines val="0"/>
          </c:dLbls>
          <c:dPt>
            <c:idx val="0"/>
            <c:invertIfNegative val="0"/>
            <c:bubble3D val="0"/>
            <c:spPr>
              <a:solidFill>
                <a:srgbClr val="E4572E"/>
              </a:solidFill>
              <a:effectLst/>
            </c:spPr>
          </c:dPt>
          <c:dPt>
            <c:idx val="1"/>
            <c:invertIfNegative val="0"/>
            <c:bubble3D val="0"/>
            <c:spPr>
              <a:solidFill>
                <a:srgbClr val="2F4B7C"/>
              </a:solidFill>
              <a:effectLst/>
            </c:spPr>
          </c:dPt>
          <c:cat>
            <c:multiLvlStrRef>
              <c:f>Sheet1!$A$2:$A$3</c:f>
              <c:multiLvlStrCache>
                <c:ptCount val="2"/>
                <c:lvl>
                  <c:pt idx="0">
                    <c:v>Frauen</c:v>
                  </c:pt>
                  <c:pt idx="1">
                    <c:v>Männer</c:v>
                  </c:pt>
                </c:lvl>
              </c:multiLvlStrCache>
            </c:multiLvlStrRef>
          </c:cat>
          <c:val>
            <c:numRef>
              <c:f>Sheet1!$B$2:$B$3</c:f>
              <c:numCache>
                <c:formatCode>General</c:formatCode>
                <c:ptCount val="2"/>
                <c:pt idx="0">
                  <c:v>30.4</c:v>
                </c:pt>
                <c:pt idx="1">
                  <c:v>44.5</c:v>
                </c:pt>
              </c:numCache>
            </c:numRef>
          </c:val>
        </c:ser>
        <c:dLbls>
          <c:numFmt formatCode="0.0&quot; %&quot;" sourceLinked="0"/>
          <c:txPr>
            <a:bodyPr/>
            <a:lstStyle/>
            <a:p>
              <a:pPr>
                <a:defRPr b="1" i="0" strike="noStrike" sz="1800" u="none">
                  <a:solidFill>
                    <a:srgbClr val="111827"/>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11827"/>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Bei gleicher Fachbereichswahl</c:v>
                </c:pt>
              </c:strCache>
            </c:strRef>
          </c:tx>
          <c:spPr>
            <a:solidFill>
              <a:srgbClr val="E4572E"/>
            </a:solidFill>
            <a:effectLst/>
          </c:spPr>
          <c:invertIfNegative val="0"/>
          <c:dLbls>
            <c:numFmt formatCode="0.0&quot; %&quot;" sourceLinked="0"/>
            <c:txPr>
              <a:bodyPr/>
              <a:lstStyle/>
              <a:p>
                <a:pPr>
                  <a:defRPr b="1" i="0" strike="noStrike" sz="1800" u="none">
                    <a:solidFill>
                      <a:srgbClr val="111827"/>
                    </a:solidFill>
                    <a:latin typeface="Arial"/>
                  </a:defRPr>
                </a:pPr>
              </a:p>
            </c:txPr>
            <c:showLegendKey val="0"/>
            <c:showVal val="1"/>
            <c:showCatName val="0"/>
            <c:showSerName val="0"/>
            <c:showPercent val="0"/>
            <c:showBubbleSize val="0"/>
            <c:showLeaderLines val="0"/>
          </c:dLbls>
          <c:dPt>
            <c:idx val="0"/>
            <c:invertIfNegative val="0"/>
            <c:bubble3D val="0"/>
            <c:spPr>
              <a:solidFill>
                <a:srgbClr val="E4572E"/>
              </a:solidFill>
              <a:effectLst/>
            </c:spPr>
          </c:dPt>
          <c:dPt>
            <c:idx val="1"/>
            <c:invertIfNegative val="0"/>
            <c:bubble3D val="0"/>
            <c:spPr>
              <a:solidFill>
                <a:srgbClr val="2F4B7C"/>
              </a:solidFill>
              <a:effectLst/>
            </c:spPr>
          </c:dPt>
          <c:cat>
            <c:multiLvlStrRef>
              <c:f>Sheet1!$A$2:$A$3</c:f>
              <c:multiLvlStrCache>
                <c:ptCount val="2"/>
                <c:lvl>
                  <c:pt idx="0">
                    <c:v>Frauen</c:v>
                  </c:pt>
                  <c:pt idx="1">
                    <c:v>Männer</c:v>
                  </c:pt>
                </c:lvl>
              </c:multiLvlStrCache>
            </c:multiLvlStrRef>
          </c:cat>
          <c:val>
            <c:numRef>
              <c:f>Sheet1!$B$2:$B$3</c:f>
              <c:numCache>
                <c:formatCode>General</c:formatCode>
                <c:ptCount val="2"/>
                <c:pt idx="0">
                  <c:v>43</c:v>
                </c:pt>
                <c:pt idx="1">
                  <c:v>38.7</c:v>
                </c:pt>
              </c:numCache>
            </c:numRef>
          </c:val>
        </c:ser>
        <c:dLbls>
          <c:numFmt formatCode="0.0&quot; %&quot;" sourceLinked="0"/>
          <c:txPr>
            <a:bodyPr/>
            <a:lstStyle/>
            <a:p>
              <a:pPr>
                <a:defRPr b="1" i="0" strike="noStrike" sz="1800" u="none">
                  <a:solidFill>
                    <a:srgbClr val="111827"/>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11827"/>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Differenz</c:v>
                </c:pt>
              </c:strCache>
            </c:strRef>
          </c:tx>
          <c:spPr>
            <a:solidFill>
              <a:srgbClr val="2F4B7C"/>
            </a:solidFill>
            <a:effectLst/>
          </c:spPr>
          <c:invertIfNegative val="0"/>
          <c:dLbls>
            <c:numFmt formatCode="+0.0;-0.0" sourceLinked="0"/>
            <c:txPr>
              <a:bodyPr/>
              <a:lstStyle/>
              <a:p>
                <a:pPr>
                  <a:defRPr b="1" i="0" strike="noStrike" sz="1300" u="none">
                    <a:solidFill>
                      <a:srgbClr val="111827"/>
                    </a:solidFill>
                    <a:latin typeface="Arial"/>
                  </a:defRPr>
                </a:pPr>
              </a:p>
            </c:txPr>
            <c:showLegendKey val="0"/>
            <c:showVal val="1"/>
            <c:showCatName val="0"/>
            <c:showSerName val="0"/>
            <c:showPercent val="0"/>
            <c:showBubbleSize val="0"/>
            <c:showLeaderLines val="0"/>
          </c:dLbls>
          <c:dPt>
            <c:idx val="0"/>
            <c:invertIfNegative val="0"/>
            <c:bubble3D val="0"/>
            <c:spPr>
              <a:solidFill>
                <a:srgbClr val="2F4B7C"/>
              </a:solidFill>
              <a:effectLst/>
            </c:spPr>
          </c:dPt>
          <c:dPt>
            <c:idx val="1"/>
            <c:invertIfNegative val="0"/>
            <c:bubble3D val="0"/>
            <c:spPr>
              <a:solidFill>
                <a:srgbClr val="E4572E"/>
              </a:solidFill>
              <a:effectLst/>
            </c:spPr>
          </c:dPt>
          <c:dPt>
            <c:idx val="2"/>
            <c:invertIfNegative val="0"/>
            <c:bubble3D val="0"/>
            <c:spPr>
              <a:solidFill>
                <a:srgbClr val="E4572E"/>
              </a:solidFill>
              <a:effectLst/>
            </c:spPr>
          </c:dPt>
          <c:dPt>
            <c:idx val="3"/>
            <c:invertIfNegative val="0"/>
            <c:bubble3D val="0"/>
            <c:spPr>
              <a:solidFill>
                <a:srgbClr val="2F4B7C"/>
              </a:solidFill>
              <a:effectLst/>
            </c:spPr>
          </c:dPt>
          <c:dPt>
            <c:idx val="4"/>
            <c:invertIfNegative val="0"/>
            <c:bubble3D val="0"/>
            <c:spPr>
              <a:solidFill>
                <a:srgbClr val="E4572E"/>
              </a:solidFill>
              <a:effectLst/>
            </c:spPr>
          </c:dPt>
          <c:dPt>
            <c:idx val="5"/>
            <c:invertIfNegative val="0"/>
            <c:bubble3D val="0"/>
            <c:spPr>
              <a:solidFill>
                <a:srgbClr val="2F4B7C"/>
              </a:solidFill>
              <a:effectLst/>
            </c:spPr>
          </c:dPt>
          <c:dPt>
            <c:idx val="6"/>
            <c:invertIfNegative val="0"/>
            <c:bubble3D val="0"/>
            <c:spPr>
              <a:solidFill>
                <a:srgbClr val="E4572E"/>
              </a:solidFill>
              <a:effectLst/>
            </c:spPr>
          </c:dPt>
          <c:cat>
            <c:multiLvlStrRef>
              <c:f>Sheet1!$A$2:$A$8</c:f>
              <c:multiLvlStrCache>
                <c:ptCount val="7"/>
                <c:lvl>
                  <c:pt idx="0">
                    <c:v>Gesamt</c:v>
                  </c:pt>
                  <c:pt idx="1">
                    <c:v>FB A</c:v>
                  </c:pt>
                  <c:pt idx="2">
                    <c:v>FB B*</c:v>
                  </c:pt>
                  <c:pt idx="3">
                    <c:v>FB C</c:v>
                  </c:pt>
                  <c:pt idx="4">
                    <c:v>FB D</c:v>
                  </c:pt>
                  <c:pt idx="5">
                    <c:v>FB E</c:v>
                  </c:pt>
                  <c:pt idx="6">
                    <c:v>FB F</c:v>
                  </c:pt>
                </c:lvl>
              </c:multiLvlStrCache>
            </c:multiLvlStrRef>
          </c:cat>
          <c:val>
            <c:numRef>
              <c:f>Sheet1!$B$2:$B$8</c:f>
              <c:numCache>
                <c:formatCode>General</c:formatCode>
                <c:ptCount val="7"/>
                <c:pt idx="0">
                  <c:v>-14.2</c:v>
                </c:pt>
                <c:pt idx="1">
                  <c:v>20.3</c:v>
                </c:pt>
                <c:pt idx="2">
                  <c:v>5</c:v>
                </c:pt>
                <c:pt idx="3">
                  <c:v>-2.9</c:v>
                </c:pt>
                <c:pt idx="4">
                  <c:v>1.8</c:v>
                </c:pt>
                <c:pt idx="5">
                  <c:v>-3.8</c:v>
                </c:pt>
                <c:pt idx="6">
                  <c:v>1.1</c:v>
                </c:pt>
              </c:numCache>
            </c:numRef>
          </c:val>
        </c:ser>
        <c:dLbls>
          <c:numFmt formatCode="+0.0;-0.0" sourceLinked="0"/>
          <c:txPr>
            <a:bodyPr/>
            <a:lstStyle/>
            <a:p>
              <a:pPr>
                <a:defRPr b="1" i="0" strike="noStrike" sz="1300" u="none">
                  <a:solidFill>
                    <a:srgbClr val="11182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none"/>
        <c:minorTickMark val="none"/>
        <c:tickLblPos val="low"/>
        <c:spPr>
          <a:ln w="12700" cap="flat">
            <a:solidFill>
              <a:srgbClr val="111827"/>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26"/>
          <c:min val="-2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drei. Begrüssung und kurze Vorstellung der Gruppe. Ablauf: Leorat zeigt die Ausgangslage und Aufgabe (a), Funktionen in Python. Teoman zeigt unsere Vorüberlegungen, Aufgabe (b) und den ersten Teil von (c). Filip erklärt die totale Wahrscheinlichkeit, die stochastische Unabhängigkeit und das Fazit. Dauer ca. 15 Minuten.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Leorat Krasniqi. 1973 gingen an den sechs grössten Fachbereichen der UC Berkeley 4 526 Bewerbungen ein. Von den Männern wurden 44.5 Prozent zugelassen, von den Frauen nur 30.4 Prozent. Die naheliegende Frage: Werden Frauen benachteiligt? Bickel und Kollegen haben genau das 1975 untersucht. Wir schauen uns die Daten mit Python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Leorat Krasniqi. Unsere Aufgabe hat drei Teile. In (a) erklären wir Funktionen in Python nach McKinney, Abschnitt 3.2, und zeigen, wo wir sie im eigenen Code verwenden. In (b) stellen wir die Zahlen so dar, dass man die Ungerechtigkeit sofort sieht. In (c) schauen wir genauer hin, vergleichen die Verteilungen und prüfen die stochastische Unabhängigkeit.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Leorat Krasniqi. Wir beginnen mit Aufgabe (a): Funktionen in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Leorat Krasniqi. McKinney nennt Funktionen die wichtigste Methode, um Code zu organisieren und wiederzuverwenden. Faustregel: Was man mehr als einmal braucht, gehört in eine Funktion. Funktionen werden mit def deklariert und mit return verlassen. Positionsargumente werden über die Reihenfolge zugeordnet, Keyword-Argumente über den Namen, oft mit Standardwert. Rechts unser Beispiel: kreuztabelle hat das Keyword-Argument fachbereich mit Standardwert None, ohne Angabe gilt die Tabelle für alle Fachbereiche. Variablen in einer Funktion leben nur während des Aufrufs, global vermeiden wir. Mehrere Rückgabewerte sind eigentlich ein Tupel, das wir direkt entpacken, wie bei kennzahlen.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Leorat Krasniqi. Weil Funktionen in Python Objekte sind, können wir sie in eine Liste packen: So bereinigen wir die Prozentangaben aus Tabelle 4, Schritt für Schritt, genau wie McKinneys clean_strings. Lambda-Funktionen sind Einzeiler, die wir zum Beispiel für die Achsenbeschriftung übergeben. Mit partial leiten wir aus der allgemeinen Funktion bedingte_quote die Zulassungsquote der Frauen ab. Der Generator mit yield liefert die Ergebnisse Fachbereich für Fachbereich. Und bei der Fehlerbehandlung fangen wir nur den ValueError ab, damit ein Tippfehler in der Tabelle auffällt. Damit übergebe ich an Teoman.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Teoman-Doganay Lam. Weiter mit unseren Vorüberlegungen und Aufgabe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Teoman-Doganay Lam. Bevor wir programmiert haben, haben wir uns überlegt, was vorliegt. Tabelle 4 enthält nur Prozente. Wir erfassen sie wortgetreu als Text und bereinigen sie mit einer Liste von Funktionen. Für die Unabhängigkeit brauchen wir aber Anzahlen. Die nehmen wir aus dem Originaldatensatz, den es in R als UCBAdmissions gibt, und prüfen per Code, dass sie alle 24 Prozentwerte der Tabelle ergeben: null Abweichungen. Dann bilden wir Kreuztabellen, gesamt und je Fachbereich, und zeichnen die Diagramme, die wir im Kurs kennengelernt haben. Libraries: pandas für Tabellen, numpy zum Rechnen, matplotlib für Diagramme, alle in Anaconda enthalten.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Teoman-Doganay Lam. Für Aufgabe (b) soll man auf einen Blick sehen, warum das Verfahren ungerecht wirkt. Dafür reicht ein einziger Vergleich: die Zulassungsquote aller Frauen gegen die aller Männer. Ein Balkendiagramm mit Nullachse, Werte direkt an den Balken, keine Ablenkung. 30.4 gegen 44.5 Prozent, also 14.2 Prozentpunkte weniger für Frauen; exakt gerechnet 44.52 minus 30.35. Anders gesagt: Mit der Männerquote wären 817 statt 557 Frauen zugelassen worden. Die Frage ist: Ist das Diskriminierung?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Teoman-Doganay Lam. Jetzt Aufgabe (c): Wir schauen genauer 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Teoman-Doganay Lam. Jetzt schauen wir in die einzelnen Fachbereiche, denn dort wird über die Zulassung entschieden. Das Bild dreht sich: In vier von sechs Fachbereichen haben Frauen die höhere Quote, in A sogar um 20 Prozentpunkte. Nur in C und E liegen die Männer leicht vorne, mit knapp 3 und knapp 4 Prozentpunkten. Wie kann das sein, wenn die Gesamtquote der Frauen so viel tiefer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Teoman-Doganay Lam. Die Antwort liegt darin, wo sich Frauen und Männer beworben haben. Dunkel sind die Fachbereiche A und B, dort werden knapp zwei Drittel zugelassen. Grau sind C bis F, dort nur 6 bis 35 Prozent. Die Hälfte der Männer hat sich in A oder B beworben, von den Frauen nur 7 Prozent. Fast alle Frauen haben sich in den schwierigen Fachbereichen beworben. Die Korrelation zwischen Frauenanteil und Zulassungsquote je Fachbereich beträgt minus 0.79. Damit übergebe ich an Filip.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Filip Lazic. Warum passt das zusammen? Wegen des Satzes der totalen Wahrscheinlichkeit, im Kurs als «alle Wege im Baumdiagramm addieren». Die Gesamtquote eines Geschlechts ist ein gewichteter Mittelwert der Quoten in den Fachbereichen, gewichtet mit der Verteilung der Bewerbungen. Frauen haben ihre grossen Gewichte genau bei den tiefen Quoten. Wir haben deshalb für beide Geschlechter dieselben Gewichte eingesetzt, nämlich die Verteilung aller Bewerbungen. Ergebnis: Frauen 43.0 Prozent, Männer 38.7 Prozent. Der Unterschied kehrt sich um. Im Code ist das dieselbe Funktion gesamtquote, nur mit anderen Gewichten.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Filip Lazic. Jetzt zur stochastischen Unabhängigkeit, wie im Folienskript Teil 3. Z heisst zugelassen, W heisst Bewerbung einer Frau. Unabhängig wären die beiden, wenn P von Z geschnitten W gleich P von Z mal P von W ist, genau wie im Beispiel mit Navi und Klimaanlage. Aus der Kreuztabelle: P von Z ist 0.388, P von W 0.405, das Produkt 0.157. Beobachtet ist aber nur 0.123, rund 22 Prozent weniger. Über alle Fachbereiche zusammen sind Zulassung und Geschlecht also stochastisch abhängig.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Filip Lazic. Dieselbe Prüfung machen wir in jedem Fachbereich, im Code mit dem Generator, der Fachbereich für Fachbereich liefert. Links die Differenz der Quoten: In B bis F sind es höchstens 5 Prozentpunkte, und die Richtung wechselt. Rechts liegen P von Z geschnitten W und das Produkt nahe beieinander. Bei B beruht das auf nur 25 Bewerbungen von Frauen. Innerhalb der Fachbereiche sind Zulassung und Geschlecht also annähernd unabhängig. Die einzige deutliche Abweichung ist Fachbereich A, und die geht zugunsten der Frauen. Ob die kleinen Abweichungen zufällig sind, liesse sich mit einem Hypothesentest prüfen, der kommt im Kurs später.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Filip Lazic. Das ist die Kernaussage unserer Analyse. Nicht die Zulassungsentscheide innerhalb der Fachbereiche erzeugen den Unterschied, sondern die Drittvariable Fachbereich. Frauen bewarben sich häufiger dort, wo es schwer ist. Wenn man die Fachbereiche zusammenfasst, kehrt sich der Zusammenhang um. Dieses Phänomen heisst Simpson-Paradoxon, und die Berkeley-Daten werden häufig verwendet, um es zu veranschaulichen.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Filip Lazic. Drei Punkte zum Mitnehmen. Erstens: Über alle Fachbereiche zusammen sind Zulassung und Geschlecht abhängig. Zweitens: Innerhalb der Fachbereiche gibt es keinen systematischen Nachteil für Frauen, in Fachbereich A liegen sie sogar deutlich vorne. Drittens: Die Ursache ist die Wahl des Fachbereichs. Bei gleicher Wahl läge die Quote der Frauen sogar höher. Grenzen: Es sind Beobachtungsdaten eines Jahres, und warum Frauen die selektiveren Fachbereiche wählten, sagen die Daten nicht. Und programmtechnisch: Dank Funktionen konnten wir denselben Code für alle Teilanalysen verwenden. Vielen Dank, wir freuen uns auf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Hier unsere Quellen nach APA 7. Danach Fragen aus dem Publikum.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852160" y="45720"/>
            <a:ext cx="5852160" cy="1874520"/>
          </a:xfrm>
          <a:prstGeom prst="rect">
            <a:avLst/>
          </a:prstGeom>
          <a:noFill/>
          <a:ln/>
        </p:spPr>
        <p:txBody>
          <a:bodyPr wrap="square" lIns="0" tIns="0" rIns="0" bIns="0" rtlCol="0" anchor="t"/>
          <a:lstStyle/>
          <a:p>
            <a:pPr algn="r" indent="0" marL="0">
              <a:buNone/>
            </a:pPr>
            <a:r>
              <a:rPr lang="en-US" sz="15000" b="1" dirty="0">
                <a:solidFill>
                  <a:srgbClr val="1A2436"/>
                </a:solidFill>
                <a:latin typeface="Arial" pitchFamily="34" charset="0"/>
                <a:ea typeface="Arial" pitchFamily="34" charset="-122"/>
                <a:cs typeface="Arial" pitchFamily="34" charset="-120"/>
              </a:rPr>
              <a:t>1973</a:t>
            </a:r>
            <a:endParaRPr lang="en-US" sz="15000" dirty="0"/>
          </a:p>
        </p:txBody>
      </p:sp>
      <p:sp>
        <p:nvSpPr>
          <p:cNvPr id="3" name="Text 1"/>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8C97A8"/>
                </a:solidFill>
                <a:latin typeface="Arial" pitchFamily="34" charset="0"/>
                <a:ea typeface="Arial" pitchFamily="34" charset="-122"/>
                <a:cs typeface="Arial" pitchFamily="34" charset="-120"/>
              </a:rPr>
              <a:t>STATISTIK · VORTRAG 4 · KLEINKLASSE HS 2026</a:t>
            </a:r>
            <a:endParaRPr lang="en-US" sz="1050" dirty="0"/>
          </a:p>
        </p:txBody>
      </p:sp>
      <p:sp>
        <p:nvSpPr>
          <p:cNvPr id="4" name="Text 2"/>
          <p:cNvSpPr txBox="1"/>
          <p:nvPr/>
        </p:nvSpPr>
        <p:spPr>
          <a:xfrm>
            <a:off x="594360" y="1874520"/>
            <a:ext cx="10515600" cy="1828800"/>
          </a:xfrm>
          <a:prstGeom prst="rect">
            <a:avLst/>
          </a:prstGeom>
          <a:noFill/>
          <a:ln/>
        </p:spPr>
        <p:txBody>
          <a:bodyPr wrap="square" lIns="0" tIns="0" rIns="0" bIns="0" rtlCol="0" anchor="t"/>
          <a:lstStyle/>
          <a:p>
            <a:pPr indent="0" marL="0">
              <a:lnSpc>
                <a:spcPct val="95000"/>
              </a:lnSpc>
              <a:buNone/>
            </a:pPr>
            <a:r>
              <a:rPr lang="en-US" sz="5800" b="1" dirty="0">
                <a:solidFill>
                  <a:srgbClr val="FFFFFF"/>
                </a:solidFill>
                <a:latin typeface="Arial" pitchFamily="34" charset="0"/>
                <a:ea typeface="Arial" pitchFamily="34" charset="-122"/>
                <a:cs typeface="Arial" pitchFamily="34" charset="-120"/>
              </a:rPr>
              <a:t>Das Simpson-Paradoxon</a:t>
            </a:r>
            <a:endParaRPr lang="en-US" sz="5800" dirty="0"/>
          </a:p>
          <a:p>
            <a:pPr indent="0" marL="0">
              <a:lnSpc>
                <a:spcPct val="95000"/>
              </a:lnSpc>
              <a:buNone/>
            </a:pPr>
            <a:r>
              <a:rPr lang="en-US" sz="5800" b="1" dirty="0">
                <a:solidFill>
                  <a:srgbClr val="E4572E"/>
                </a:solidFill>
                <a:latin typeface="Arial" pitchFamily="34" charset="0"/>
                <a:ea typeface="Arial" pitchFamily="34" charset="-122"/>
                <a:cs typeface="Arial" pitchFamily="34" charset="-120"/>
              </a:rPr>
              <a:t>an der UC Berkeley</a:t>
            </a:r>
            <a:endParaRPr lang="en-US" sz="5800" dirty="0"/>
          </a:p>
        </p:txBody>
      </p:sp>
      <p:sp>
        <p:nvSpPr>
          <p:cNvPr id="5" name="Text 3"/>
          <p:cNvSpPr txBox="1"/>
          <p:nvPr/>
        </p:nvSpPr>
        <p:spPr>
          <a:xfrm>
            <a:off x="594360" y="3886200"/>
            <a:ext cx="6949440" cy="731520"/>
          </a:xfrm>
          <a:prstGeom prst="rect">
            <a:avLst/>
          </a:prstGeom>
          <a:noFill/>
          <a:ln/>
        </p:spPr>
        <p:txBody>
          <a:bodyPr wrap="square" lIns="0" tIns="0" rIns="0" bIns="0" rtlCol="0" anchor="t"/>
          <a:lstStyle/>
          <a:p>
            <a:pPr indent="0" marL="0">
              <a:lnSpc>
                <a:spcPct val="110000"/>
              </a:lnSpc>
              <a:buNone/>
            </a:pPr>
            <a:r>
              <a:rPr lang="en-US" sz="2000" dirty="0">
                <a:solidFill>
                  <a:srgbClr val="C9D1DC"/>
                </a:solidFill>
                <a:latin typeface="Arial" pitchFamily="34" charset="0"/>
                <a:ea typeface="Arial" pitchFamily="34" charset="-122"/>
                <a:cs typeface="Arial" pitchFamily="34" charset="-120"/>
              </a:rPr>
              <a:t>Zulassungen 1973: Funktionen in Python, Visualisierung und stochastische Unabhängigkeit</a:t>
            </a:r>
            <a:endParaRPr lang="en-US" sz="2000" dirty="0"/>
          </a:p>
        </p:txBody>
      </p:sp>
      <p:sp>
        <p:nvSpPr>
          <p:cNvPr id="6" name="Text 4"/>
          <p:cNvSpPr txBox="1"/>
          <p:nvPr/>
        </p:nvSpPr>
        <p:spPr>
          <a:xfrm>
            <a:off x="594360" y="5669280"/>
            <a:ext cx="8229600" cy="292608"/>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Leorat Krasniqi · Teoman-Doganay Lam · Filip Lazic</a:t>
            </a:r>
            <a:endParaRPr lang="en-US" sz="1500" dirty="0"/>
          </a:p>
        </p:txBody>
      </p:sp>
      <p:sp>
        <p:nvSpPr>
          <p:cNvPr id="7" name="Text 5"/>
          <p:cNvSpPr txBox="1"/>
          <p:nvPr/>
        </p:nvSpPr>
        <p:spPr>
          <a:xfrm>
            <a:off x="594360" y="6016752"/>
            <a:ext cx="8229600" cy="256032"/>
          </a:xfrm>
          <a:prstGeom prst="rect">
            <a:avLst/>
          </a:prstGeom>
          <a:noFill/>
          <a:ln/>
        </p:spPr>
        <p:txBody>
          <a:bodyPr wrap="square" lIns="0" tIns="0" rIns="0" bIns="0" rtlCol="0" anchor="t"/>
          <a:lstStyle/>
          <a:p>
            <a:pPr indent="0" marL="0">
              <a:buNone/>
            </a:pPr>
            <a:r>
              <a:rPr lang="en-US" sz="1200" dirty="0">
                <a:solidFill>
                  <a:srgbClr val="C9D1DC"/>
                </a:solidFill>
                <a:latin typeface="Arial" pitchFamily="34" charset="0"/>
                <a:ea typeface="Arial" pitchFamily="34" charset="-122"/>
                <a:cs typeface="Arial" pitchFamily="34" charset="-120"/>
              </a:rPr>
              <a:t>ZHAW School of Management and Law · Wirtschaftsinformatik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02 — AUSGANGSLAGE</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02 / 18</a:t>
            </a:r>
            <a:endParaRPr lang="en-US" sz="1050" dirty="0"/>
          </a:p>
        </p:txBody>
      </p:sp>
      <p:sp>
        <p:nvSpPr>
          <p:cNvPr id="4" name="Text 2"/>
          <p:cNvSpPr txBox="1"/>
          <p:nvPr/>
        </p:nvSpPr>
        <p:spPr>
          <a:xfrm>
            <a:off x="594360" y="777240"/>
            <a:ext cx="11002975" cy="320040"/>
          </a:xfrm>
          <a:prstGeom prst="rect">
            <a:avLst/>
          </a:prstGeom>
          <a:noFill/>
          <a:ln/>
        </p:spPr>
        <p:txBody>
          <a:bodyPr wrap="square" lIns="0" tIns="0" rIns="0" bIns="0" rtlCol="0" anchor="t"/>
          <a:lstStyle/>
          <a:p>
            <a:pPr indent="0" marL="0">
              <a:buNone/>
            </a:pPr>
            <a:r>
              <a:rPr lang="en-US" sz="1600" dirty="0">
                <a:solidFill>
                  <a:srgbClr val="5B6472"/>
                </a:solidFill>
                <a:latin typeface="Arial" pitchFamily="34" charset="0"/>
                <a:ea typeface="Arial" pitchFamily="34" charset="-122"/>
                <a:cs typeface="Arial" pitchFamily="34" charset="-120"/>
              </a:rPr>
              <a:t>UC Berkeley, 1973 · 4 526 Bewerbungen für ein Graduate-Studium · sechs grösste Fachbereiche</a:t>
            </a:r>
            <a:endParaRPr lang="en-US" sz="1600" dirty="0"/>
          </a:p>
        </p:txBody>
      </p:sp>
      <p:sp>
        <p:nvSpPr>
          <p:cNvPr id="5" name="Text 3"/>
          <p:cNvSpPr txBox="1"/>
          <p:nvPr/>
        </p:nvSpPr>
        <p:spPr>
          <a:xfrm>
            <a:off x="594360" y="1417320"/>
            <a:ext cx="5486400" cy="320040"/>
          </a:xfrm>
          <a:prstGeom prst="rect">
            <a:avLst/>
          </a:prstGeom>
          <a:noFill/>
          <a:ln/>
        </p:spPr>
        <p:txBody>
          <a:bodyPr wrap="square" lIns="0" tIns="0" rIns="0" bIns="0" rtlCol="0" anchor="t"/>
          <a:lstStyle/>
          <a:p>
            <a:pPr indent="0" marL="0">
              <a:buNone/>
            </a:pPr>
            <a:r>
              <a:rPr lang="en-US" sz="1600" b="1" dirty="0">
                <a:solidFill>
                  <a:srgbClr val="111827"/>
                </a:solidFill>
                <a:latin typeface="Arial" pitchFamily="34" charset="0"/>
                <a:ea typeface="Arial" pitchFamily="34" charset="-122"/>
                <a:cs typeface="Arial" pitchFamily="34" charset="-120"/>
              </a:rPr>
              <a:t>Zugelassen wurden</a:t>
            </a:r>
            <a:endParaRPr lang="en-US" sz="1600" dirty="0"/>
          </a:p>
        </p:txBody>
      </p:sp>
      <p:sp>
        <p:nvSpPr>
          <p:cNvPr id="6" name="Text 4"/>
          <p:cNvSpPr txBox="1"/>
          <p:nvPr/>
        </p:nvSpPr>
        <p:spPr>
          <a:xfrm>
            <a:off x="594360" y="1874520"/>
            <a:ext cx="5303520" cy="1554480"/>
          </a:xfrm>
          <a:prstGeom prst="rect">
            <a:avLst/>
          </a:prstGeom>
          <a:noFill/>
          <a:ln/>
        </p:spPr>
        <p:txBody>
          <a:bodyPr wrap="square" lIns="0" tIns="0" rIns="0" bIns="0" rtlCol="0" anchor="ctr"/>
          <a:lstStyle/>
          <a:p>
            <a:pPr indent="0" marL="0">
              <a:buNone/>
            </a:pPr>
            <a:r>
              <a:rPr lang="en-US" sz="11000" b="1" dirty="0">
                <a:solidFill>
                  <a:srgbClr val="2F4B7C"/>
                </a:solidFill>
                <a:latin typeface="Arial" pitchFamily="34" charset="0"/>
                <a:ea typeface="Arial" pitchFamily="34" charset="-122"/>
                <a:cs typeface="Arial" pitchFamily="34" charset="-120"/>
              </a:rPr>
              <a:t>44.5 %</a:t>
            </a:r>
            <a:endParaRPr lang="en-US" sz="11000" dirty="0"/>
          </a:p>
        </p:txBody>
      </p:sp>
      <p:sp>
        <p:nvSpPr>
          <p:cNvPr id="7" name="Text 5"/>
          <p:cNvSpPr txBox="1"/>
          <p:nvPr/>
        </p:nvSpPr>
        <p:spPr>
          <a:xfrm>
            <a:off x="594360" y="3520440"/>
            <a:ext cx="5029200" cy="365760"/>
          </a:xfrm>
          <a:prstGeom prst="rect">
            <a:avLst/>
          </a:prstGeom>
          <a:noFill/>
          <a:ln/>
        </p:spPr>
        <p:txBody>
          <a:bodyPr wrap="square" lIns="0" tIns="0" rIns="0" bIns="0" rtlCol="0" anchor="t"/>
          <a:lstStyle/>
          <a:p>
            <a:pPr indent="0" marL="0">
              <a:buNone/>
            </a:pPr>
            <a:r>
              <a:rPr lang="en-US" sz="2200" b="1" dirty="0">
                <a:solidFill>
                  <a:srgbClr val="111827"/>
                </a:solidFill>
                <a:latin typeface="Arial" pitchFamily="34" charset="0"/>
                <a:ea typeface="Arial" pitchFamily="34" charset="-122"/>
                <a:cs typeface="Arial" pitchFamily="34" charset="-120"/>
              </a:rPr>
              <a:t>der Männer</a:t>
            </a:r>
            <a:endParaRPr lang="en-US" sz="2200" dirty="0"/>
          </a:p>
        </p:txBody>
      </p:sp>
      <p:sp>
        <p:nvSpPr>
          <p:cNvPr id="8" name="Text 6"/>
          <p:cNvSpPr txBox="1"/>
          <p:nvPr/>
        </p:nvSpPr>
        <p:spPr>
          <a:xfrm>
            <a:off x="594360" y="3931920"/>
            <a:ext cx="5029200" cy="274320"/>
          </a:xfrm>
          <a:prstGeom prst="rect">
            <a:avLst/>
          </a:prstGeom>
          <a:noFill/>
          <a:ln/>
        </p:spPr>
        <p:txBody>
          <a:bodyPr wrap="square" lIns="0" tIns="0" rIns="0" bIns="0" rtlCol="0" anchor="t"/>
          <a:lstStyle/>
          <a:p>
            <a:pPr indent="0" marL="0">
              <a:buNone/>
            </a:pPr>
            <a:r>
              <a:rPr lang="en-US" sz="1400" dirty="0">
                <a:solidFill>
                  <a:srgbClr val="5B6472"/>
                </a:solidFill>
                <a:latin typeface="Arial" pitchFamily="34" charset="0"/>
                <a:ea typeface="Arial" pitchFamily="34" charset="-122"/>
                <a:cs typeface="Arial" pitchFamily="34" charset="-120"/>
              </a:rPr>
              <a:t>1 198 von 2 691 Bewerbungen</a:t>
            </a:r>
            <a:endParaRPr lang="en-US" sz="1400" dirty="0"/>
          </a:p>
        </p:txBody>
      </p:sp>
      <p:sp>
        <p:nvSpPr>
          <p:cNvPr id="9" name="Text 7"/>
          <p:cNvSpPr txBox="1"/>
          <p:nvPr/>
        </p:nvSpPr>
        <p:spPr>
          <a:xfrm>
            <a:off x="6355080" y="1874520"/>
            <a:ext cx="5303520" cy="1554480"/>
          </a:xfrm>
          <a:prstGeom prst="rect">
            <a:avLst/>
          </a:prstGeom>
          <a:noFill/>
          <a:ln/>
        </p:spPr>
        <p:txBody>
          <a:bodyPr wrap="square" lIns="0" tIns="0" rIns="0" bIns="0" rtlCol="0" anchor="ctr"/>
          <a:lstStyle/>
          <a:p>
            <a:pPr indent="0" marL="0">
              <a:buNone/>
            </a:pPr>
            <a:r>
              <a:rPr lang="en-US" sz="11000" b="1" dirty="0">
                <a:solidFill>
                  <a:srgbClr val="E4572E"/>
                </a:solidFill>
                <a:latin typeface="Arial" pitchFamily="34" charset="0"/>
                <a:ea typeface="Arial" pitchFamily="34" charset="-122"/>
                <a:cs typeface="Arial" pitchFamily="34" charset="-120"/>
              </a:rPr>
              <a:t>30.4 %</a:t>
            </a:r>
            <a:endParaRPr lang="en-US" sz="11000" dirty="0"/>
          </a:p>
        </p:txBody>
      </p:sp>
      <p:sp>
        <p:nvSpPr>
          <p:cNvPr id="10" name="Text 8"/>
          <p:cNvSpPr txBox="1"/>
          <p:nvPr/>
        </p:nvSpPr>
        <p:spPr>
          <a:xfrm>
            <a:off x="6355080" y="3520440"/>
            <a:ext cx="5029200" cy="365760"/>
          </a:xfrm>
          <a:prstGeom prst="rect">
            <a:avLst/>
          </a:prstGeom>
          <a:noFill/>
          <a:ln/>
        </p:spPr>
        <p:txBody>
          <a:bodyPr wrap="square" lIns="0" tIns="0" rIns="0" bIns="0" rtlCol="0" anchor="t"/>
          <a:lstStyle/>
          <a:p>
            <a:pPr indent="0" marL="0">
              <a:buNone/>
            </a:pPr>
            <a:r>
              <a:rPr lang="en-US" sz="2200" b="1" dirty="0">
                <a:solidFill>
                  <a:srgbClr val="111827"/>
                </a:solidFill>
                <a:latin typeface="Arial" pitchFamily="34" charset="0"/>
                <a:ea typeface="Arial" pitchFamily="34" charset="-122"/>
                <a:cs typeface="Arial" pitchFamily="34" charset="-120"/>
              </a:rPr>
              <a:t>der Frauen</a:t>
            </a:r>
            <a:endParaRPr lang="en-US" sz="2200" dirty="0"/>
          </a:p>
        </p:txBody>
      </p:sp>
      <p:sp>
        <p:nvSpPr>
          <p:cNvPr id="11" name="Text 9"/>
          <p:cNvSpPr txBox="1"/>
          <p:nvPr/>
        </p:nvSpPr>
        <p:spPr>
          <a:xfrm>
            <a:off x="6355080" y="3931920"/>
            <a:ext cx="5029200" cy="274320"/>
          </a:xfrm>
          <a:prstGeom prst="rect">
            <a:avLst/>
          </a:prstGeom>
          <a:noFill/>
          <a:ln/>
        </p:spPr>
        <p:txBody>
          <a:bodyPr wrap="square" lIns="0" tIns="0" rIns="0" bIns="0" rtlCol="0" anchor="t"/>
          <a:lstStyle/>
          <a:p>
            <a:pPr indent="0" marL="0">
              <a:buNone/>
            </a:pPr>
            <a:r>
              <a:rPr lang="en-US" sz="1400" dirty="0">
                <a:solidFill>
                  <a:srgbClr val="5B6472"/>
                </a:solidFill>
                <a:latin typeface="Arial" pitchFamily="34" charset="0"/>
                <a:ea typeface="Arial" pitchFamily="34" charset="-122"/>
                <a:cs typeface="Arial" pitchFamily="34" charset="-120"/>
              </a:rPr>
              <a:t>557 von 1 835 Bewerbungen</a:t>
            </a:r>
            <a:endParaRPr lang="en-US" sz="1400" dirty="0"/>
          </a:p>
        </p:txBody>
      </p:sp>
      <p:sp>
        <p:nvSpPr>
          <p:cNvPr id="12" name="Shape 10"/>
          <p:cNvSpPr/>
          <p:nvPr/>
        </p:nvSpPr>
        <p:spPr>
          <a:xfrm>
            <a:off x="5989320" y="1965960"/>
            <a:ext cx="0" cy="2240280"/>
          </a:xfrm>
          <a:prstGeom prst="line">
            <a:avLst/>
          </a:prstGeom>
          <a:noFill/>
          <a:ln w="9525">
            <a:solidFill>
              <a:srgbClr val="D5DAE1"/>
            </a:solidFill>
            <a:prstDash val="solid"/>
          </a:ln>
        </p:spPr>
      </p:sp>
      <p:sp>
        <p:nvSpPr>
          <p:cNvPr id="13" name="Text 11"/>
          <p:cNvSpPr txBox="1"/>
          <p:nvPr/>
        </p:nvSpPr>
        <p:spPr>
          <a:xfrm>
            <a:off x="594360" y="4983480"/>
            <a:ext cx="11002975" cy="548640"/>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Werden Frauen im Zulassungsverfahren benachteiligt?</a:t>
            </a:r>
            <a:endParaRPr lang="en-US" sz="3000" dirty="0"/>
          </a:p>
        </p:txBody>
      </p:sp>
      <p:sp>
        <p:nvSpPr>
          <p:cNvPr id="14" name="Text 12"/>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Daten: Bickel et al. (1975); R Core Team (o. J.)</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03 — ABLAUF</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03 / 18</a:t>
            </a:r>
            <a:endParaRPr lang="en-US" sz="1050" dirty="0"/>
          </a:p>
        </p:txBody>
      </p:sp>
      <p:sp>
        <p:nvSpPr>
          <p:cNvPr id="4" name="Text 2"/>
          <p:cNvSpPr txBox="1"/>
          <p:nvPr/>
        </p:nvSpPr>
        <p:spPr>
          <a:xfrm>
            <a:off x="594360" y="868680"/>
            <a:ext cx="3291840" cy="1645920"/>
          </a:xfrm>
          <a:prstGeom prst="rect">
            <a:avLst/>
          </a:prstGeom>
          <a:noFill/>
          <a:ln/>
        </p:spPr>
        <p:txBody>
          <a:bodyPr wrap="square" lIns="0" tIns="0" rIns="0" bIns="0" rtlCol="0" anchor="t"/>
          <a:lstStyle/>
          <a:p>
            <a:pPr indent="0" marL="0">
              <a:lnSpc>
                <a:spcPct val="100000"/>
              </a:lnSpc>
              <a:buNone/>
            </a:pPr>
            <a:r>
              <a:rPr lang="en-US" sz="3400" b="1" dirty="0">
                <a:solidFill>
                  <a:srgbClr val="111827"/>
                </a:solidFill>
                <a:latin typeface="Arial" pitchFamily="34" charset="0"/>
                <a:ea typeface="Arial" pitchFamily="34" charset="-122"/>
                <a:cs typeface="Arial" pitchFamily="34" charset="-120"/>
              </a:rPr>
              <a:t>Drei Aufgaben, ein Datensatz</a:t>
            </a:r>
            <a:endParaRPr lang="en-US" sz="3400" dirty="0"/>
          </a:p>
        </p:txBody>
      </p:sp>
      <p:sp>
        <p:nvSpPr>
          <p:cNvPr id="5" name="Text 3"/>
          <p:cNvSpPr txBox="1"/>
          <p:nvPr/>
        </p:nvSpPr>
        <p:spPr>
          <a:xfrm>
            <a:off x="594360" y="2697480"/>
            <a:ext cx="3291840" cy="274320"/>
          </a:xfrm>
          <a:prstGeom prst="rect">
            <a:avLst/>
          </a:prstGeom>
          <a:noFill/>
          <a:ln/>
        </p:spPr>
        <p:txBody>
          <a:bodyPr wrap="square" lIns="0" tIns="0" rIns="0" bIns="0" rtlCol="0" anchor="t"/>
          <a:lstStyle/>
          <a:p>
            <a:pPr indent="0" marL="0">
              <a:buNone/>
            </a:pPr>
            <a:r>
              <a:rPr lang="en-US" sz="1400" dirty="0">
                <a:solidFill>
                  <a:srgbClr val="5B6472"/>
                </a:solidFill>
                <a:latin typeface="Arial" pitchFamily="34" charset="0"/>
                <a:ea typeface="Arial" pitchFamily="34" charset="-122"/>
                <a:cs typeface="Arial" pitchFamily="34" charset="-120"/>
              </a:rPr>
              <a:t>15 Minuten · drei Vortragende</a:t>
            </a:r>
            <a:endParaRPr lang="en-US" sz="1400" dirty="0"/>
          </a:p>
        </p:txBody>
      </p:sp>
      <p:sp>
        <p:nvSpPr>
          <p:cNvPr id="6" name="Shape 4"/>
          <p:cNvSpPr/>
          <p:nvPr/>
        </p:nvSpPr>
        <p:spPr>
          <a:xfrm>
            <a:off x="4389120" y="914400"/>
            <a:ext cx="7205472" cy="0"/>
          </a:xfrm>
          <a:prstGeom prst="line">
            <a:avLst/>
          </a:prstGeom>
          <a:noFill/>
          <a:ln w="15875">
            <a:solidFill>
              <a:srgbClr val="111827"/>
            </a:solidFill>
            <a:prstDash val="solid"/>
          </a:ln>
        </p:spPr>
      </p:sp>
      <p:sp>
        <p:nvSpPr>
          <p:cNvPr id="7" name="Text 5"/>
          <p:cNvSpPr txBox="1"/>
          <p:nvPr/>
        </p:nvSpPr>
        <p:spPr>
          <a:xfrm>
            <a:off x="4389120" y="1097280"/>
            <a:ext cx="822960" cy="914400"/>
          </a:xfrm>
          <a:prstGeom prst="rect">
            <a:avLst/>
          </a:prstGeom>
          <a:noFill/>
          <a:ln/>
        </p:spPr>
        <p:txBody>
          <a:bodyPr wrap="square" lIns="0" tIns="0" rIns="0" bIns="0" rtlCol="0" anchor="t"/>
          <a:lstStyle/>
          <a:p>
            <a:pPr indent="0" marL="0">
              <a:buNone/>
            </a:pPr>
            <a:r>
              <a:rPr lang="en-US" sz="5400" b="1" dirty="0">
                <a:solidFill>
                  <a:srgbClr val="E4572E"/>
                </a:solidFill>
                <a:latin typeface="Arial" pitchFamily="34" charset="0"/>
                <a:ea typeface="Arial" pitchFamily="34" charset="-122"/>
                <a:cs typeface="Arial" pitchFamily="34" charset="-120"/>
              </a:rPr>
              <a:t>a</a:t>
            </a:r>
            <a:endParaRPr lang="en-US" sz="5400" dirty="0"/>
          </a:p>
        </p:txBody>
      </p:sp>
      <p:sp>
        <p:nvSpPr>
          <p:cNvPr id="8" name="Text 6"/>
          <p:cNvSpPr txBox="1"/>
          <p:nvPr/>
        </p:nvSpPr>
        <p:spPr>
          <a:xfrm>
            <a:off x="5349240" y="1170432"/>
            <a:ext cx="4206240" cy="384048"/>
          </a:xfrm>
          <a:prstGeom prst="rect">
            <a:avLst/>
          </a:prstGeom>
          <a:noFill/>
          <a:ln/>
        </p:spPr>
        <p:txBody>
          <a:bodyPr wrap="square" lIns="0" tIns="0" rIns="0" bIns="0" rtlCol="0" anchor="t"/>
          <a:lstStyle/>
          <a:p>
            <a:pPr indent="0" marL="0">
              <a:buNone/>
            </a:pPr>
            <a:r>
              <a:rPr lang="en-US" sz="2200" b="1" dirty="0">
                <a:solidFill>
                  <a:srgbClr val="111827"/>
                </a:solidFill>
                <a:latin typeface="Arial" pitchFamily="34" charset="0"/>
                <a:ea typeface="Arial" pitchFamily="34" charset="-122"/>
                <a:cs typeface="Arial" pitchFamily="34" charset="-120"/>
              </a:rPr>
              <a:t>Funktionen in Python</a:t>
            </a:r>
            <a:endParaRPr lang="en-US" sz="2200" dirty="0"/>
          </a:p>
        </p:txBody>
      </p:sp>
      <p:sp>
        <p:nvSpPr>
          <p:cNvPr id="9" name="Text 7"/>
          <p:cNvSpPr txBox="1"/>
          <p:nvPr/>
        </p:nvSpPr>
        <p:spPr>
          <a:xfrm>
            <a:off x="5349240" y="1627632"/>
            <a:ext cx="4206240" cy="640080"/>
          </a:xfrm>
          <a:prstGeom prst="rect">
            <a:avLst/>
          </a:prstGeom>
          <a:noFill/>
          <a:ln/>
        </p:spPr>
        <p:txBody>
          <a:bodyPr wrap="square" lIns="0" tIns="0" rIns="0" bIns="0" rtlCol="0" anchor="t"/>
          <a:lstStyle/>
          <a:p>
            <a:pPr indent="0" marL="0">
              <a:lnSpc>
                <a:spcPct val="110000"/>
              </a:lnSpc>
              <a:buNone/>
            </a:pPr>
            <a:r>
              <a:rPr lang="en-US" sz="1500" dirty="0">
                <a:solidFill>
                  <a:srgbClr val="5B6472"/>
                </a:solidFill>
                <a:latin typeface="Arial" pitchFamily="34" charset="0"/>
                <a:ea typeface="Arial" pitchFamily="34" charset="-122"/>
                <a:cs typeface="Arial" pitchFamily="34" charset="-120"/>
              </a:rPr>
              <a:t>Theorie nach McKinney (2018), Abschnitt 3.2, und wie wir sie im Code anwenden</a:t>
            </a:r>
            <a:endParaRPr lang="en-US" sz="1500" dirty="0"/>
          </a:p>
        </p:txBody>
      </p:sp>
      <p:sp>
        <p:nvSpPr>
          <p:cNvPr id="10" name="Text 8"/>
          <p:cNvSpPr txBox="1"/>
          <p:nvPr/>
        </p:nvSpPr>
        <p:spPr>
          <a:xfrm>
            <a:off x="9646920" y="1225296"/>
            <a:ext cx="1947672" cy="54864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Leorat Krasniqi</a:t>
            </a:r>
            <a:endParaRPr lang="en-US" sz="1200" dirty="0"/>
          </a:p>
        </p:txBody>
      </p:sp>
      <p:sp>
        <p:nvSpPr>
          <p:cNvPr id="11" name="Shape 9"/>
          <p:cNvSpPr/>
          <p:nvPr/>
        </p:nvSpPr>
        <p:spPr>
          <a:xfrm>
            <a:off x="4389120" y="2606040"/>
            <a:ext cx="7205472" cy="0"/>
          </a:xfrm>
          <a:prstGeom prst="line">
            <a:avLst/>
          </a:prstGeom>
          <a:noFill/>
          <a:ln w="9525">
            <a:solidFill>
              <a:srgbClr val="D5DAE1"/>
            </a:solidFill>
            <a:prstDash val="solid"/>
          </a:ln>
        </p:spPr>
      </p:sp>
      <p:sp>
        <p:nvSpPr>
          <p:cNvPr id="12" name="Text 10"/>
          <p:cNvSpPr txBox="1"/>
          <p:nvPr/>
        </p:nvSpPr>
        <p:spPr>
          <a:xfrm>
            <a:off x="4389120" y="2788920"/>
            <a:ext cx="822960" cy="914400"/>
          </a:xfrm>
          <a:prstGeom prst="rect">
            <a:avLst/>
          </a:prstGeom>
          <a:noFill/>
          <a:ln/>
        </p:spPr>
        <p:txBody>
          <a:bodyPr wrap="square" lIns="0" tIns="0" rIns="0" bIns="0" rtlCol="0" anchor="t"/>
          <a:lstStyle/>
          <a:p>
            <a:pPr indent="0" marL="0">
              <a:buNone/>
            </a:pPr>
            <a:r>
              <a:rPr lang="en-US" sz="5400" b="1" dirty="0">
                <a:solidFill>
                  <a:srgbClr val="E4572E"/>
                </a:solidFill>
                <a:latin typeface="Arial" pitchFamily="34" charset="0"/>
                <a:ea typeface="Arial" pitchFamily="34" charset="-122"/>
                <a:cs typeface="Arial" pitchFamily="34" charset="-120"/>
              </a:rPr>
              <a:t>b</a:t>
            </a:r>
            <a:endParaRPr lang="en-US" sz="5400" dirty="0"/>
          </a:p>
        </p:txBody>
      </p:sp>
      <p:sp>
        <p:nvSpPr>
          <p:cNvPr id="13" name="Text 11"/>
          <p:cNvSpPr txBox="1"/>
          <p:nvPr/>
        </p:nvSpPr>
        <p:spPr>
          <a:xfrm>
            <a:off x="5349240" y="2862072"/>
            <a:ext cx="4206240" cy="384048"/>
          </a:xfrm>
          <a:prstGeom prst="rect">
            <a:avLst/>
          </a:prstGeom>
          <a:noFill/>
          <a:ln/>
        </p:spPr>
        <p:txBody>
          <a:bodyPr wrap="square" lIns="0" tIns="0" rIns="0" bIns="0" rtlCol="0" anchor="t"/>
          <a:lstStyle/>
          <a:p>
            <a:pPr indent="0" marL="0">
              <a:buNone/>
            </a:pPr>
            <a:r>
              <a:rPr lang="en-US" sz="2200" b="1" dirty="0">
                <a:solidFill>
                  <a:srgbClr val="111827"/>
                </a:solidFill>
                <a:latin typeface="Arial" pitchFamily="34" charset="0"/>
                <a:ea typeface="Arial" pitchFamily="34" charset="-122"/>
                <a:cs typeface="Arial" pitchFamily="34" charset="-120"/>
              </a:rPr>
              <a:t>Die Ungerechtigkeit zeigen</a:t>
            </a:r>
            <a:endParaRPr lang="en-US" sz="2200" dirty="0"/>
          </a:p>
        </p:txBody>
      </p:sp>
      <p:sp>
        <p:nvSpPr>
          <p:cNvPr id="14" name="Text 12"/>
          <p:cNvSpPr txBox="1"/>
          <p:nvPr/>
        </p:nvSpPr>
        <p:spPr>
          <a:xfrm>
            <a:off x="5349240" y="3319272"/>
            <a:ext cx="4206240" cy="640080"/>
          </a:xfrm>
          <a:prstGeom prst="rect">
            <a:avLst/>
          </a:prstGeom>
          <a:noFill/>
          <a:ln/>
        </p:spPr>
        <p:txBody>
          <a:bodyPr wrap="square" lIns="0" tIns="0" rIns="0" bIns="0" rtlCol="0" anchor="t"/>
          <a:lstStyle/>
          <a:p>
            <a:pPr indent="0" marL="0">
              <a:lnSpc>
                <a:spcPct val="110000"/>
              </a:lnSpc>
              <a:buNone/>
            </a:pPr>
            <a:r>
              <a:rPr lang="en-US" sz="1500" dirty="0">
                <a:solidFill>
                  <a:srgbClr val="5B6472"/>
                </a:solidFill>
                <a:latin typeface="Arial" pitchFamily="34" charset="0"/>
                <a:ea typeface="Arial" pitchFamily="34" charset="-122"/>
                <a:cs typeface="Arial" pitchFamily="34" charset="-120"/>
              </a:rPr>
              <a:t>Vorüberlegungen zur Umsetzung und ein Diagramm mit einer klaren Botschaft</a:t>
            </a:r>
            <a:endParaRPr lang="en-US" sz="1500" dirty="0"/>
          </a:p>
        </p:txBody>
      </p:sp>
      <p:sp>
        <p:nvSpPr>
          <p:cNvPr id="15" name="Text 13"/>
          <p:cNvSpPr txBox="1"/>
          <p:nvPr/>
        </p:nvSpPr>
        <p:spPr>
          <a:xfrm>
            <a:off x="9646920" y="2916936"/>
            <a:ext cx="1947672" cy="54864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Teoman-Doganay Lam</a:t>
            </a:r>
            <a:endParaRPr lang="en-US" sz="1200" dirty="0"/>
          </a:p>
        </p:txBody>
      </p:sp>
      <p:sp>
        <p:nvSpPr>
          <p:cNvPr id="16" name="Shape 14"/>
          <p:cNvSpPr/>
          <p:nvPr/>
        </p:nvSpPr>
        <p:spPr>
          <a:xfrm>
            <a:off x="4389120" y="4297680"/>
            <a:ext cx="7205472" cy="0"/>
          </a:xfrm>
          <a:prstGeom prst="line">
            <a:avLst/>
          </a:prstGeom>
          <a:noFill/>
          <a:ln w="9525">
            <a:solidFill>
              <a:srgbClr val="D5DAE1"/>
            </a:solidFill>
            <a:prstDash val="solid"/>
          </a:ln>
        </p:spPr>
      </p:sp>
      <p:sp>
        <p:nvSpPr>
          <p:cNvPr id="17" name="Text 15"/>
          <p:cNvSpPr txBox="1"/>
          <p:nvPr/>
        </p:nvSpPr>
        <p:spPr>
          <a:xfrm>
            <a:off x="4389120" y="4480560"/>
            <a:ext cx="822960" cy="914400"/>
          </a:xfrm>
          <a:prstGeom prst="rect">
            <a:avLst/>
          </a:prstGeom>
          <a:noFill/>
          <a:ln/>
        </p:spPr>
        <p:txBody>
          <a:bodyPr wrap="square" lIns="0" tIns="0" rIns="0" bIns="0" rtlCol="0" anchor="t"/>
          <a:lstStyle/>
          <a:p>
            <a:pPr indent="0" marL="0">
              <a:buNone/>
            </a:pPr>
            <a:r>
              <a:rPr lang="en-US" sz="5400" b="1" dirty="0">
                <a:solidFill>
                  <a:srgbClr val="E4572E"/>
                </a:solidFill>
                <a:latin typeface="Arial" pitchFamily="34" charset="0"/>
                <a:ea typeface="Arial" pitchFamily="34" charset="-122"/>
                <a:cs typeface="Arial" pitchFamily="34" charset="-120"/>
              </a:rPr>
              <a:t>c</a:t>
            </a:r>
            <a:endParaRPr lang="en-US" sz="5400" dirty="0"/>
          </a:p>
        </p:txBody>
      </p:sp>
      <p:sp>
        <p:nvSpPr>
          <p:cNvPr id="18" name="Text 16"/>
          <p:cNvSpPr txBox="1"/>
          <p:nvPr/>
        </p:nvSpPr>
        <p:spPr>
          <a:xfrm>
            <a:off x="5349240" y="4553712"/>
            <a:ext cx="4206240" cy="384048"/>
          </a:xfrm>
          <a:prstGeom prst="rect">
            <a:avLst/>
          </a:prstGeom>
          <a:noFill/>
          <a:ln/>
        </p:spPr>
        <p:txBody>
          <a:bodyPr wrap="square" lIns="0" tIns="0" rIns="0" bIns="0" rtlCol="0" anchor="t"/>
          <a:lstStyle/>
          <a:p>
            <a:pPr indent="0" marL="0">
              <a:buNone/>
            </a:pPr>
            <a:r>
              <a:rPr lang="en-US" sz="2200" b="1" dirty="0">
                <a:solidFill>
                  <a:srgbClr val="111827"/>
                </a:solidFill>
                <a:latin typeface="Arial" pitchFamily="34" charset="0"/>
                <a:ea typeface="Arial" pitchFamily="34" charset="-122"/>
                <a:cs typeface="Arial" pitchFamily="34" charset="-120"/>
              </a:rPr>
              <a:t>Genauer hinschauen</a:t>
            </a:r>
            <a:endParaRPr lang="en-US" sz="2200" dirty="0"/>
          </a:p>
        </p:txBody>
      </p:sp>
      <p:sp>
        <p:nvSpPr>
          <p:cNvPr id="19" name="Text 17"/>
          <p:cNvSpPr txBox="1"/>
          <p:nvPr/>
        </p:nvSpPr>
        <p:spPr>
          <a:xfrm>
            <a:off x="5349240" y="5010912"/>
            <a:ext cx="4206240" cy="640080"/>
          </a:xfrm>
          <a:prstGeom prst="rect">
            <a:avLst/>
          </a:prstGeom>
          <a:noFill/>
          <a:ln/>
        </p:spPr>
        <p:txBody>
          <a:bodyPr wrap="square" lIns="0" tIns="0" rIns="0" bIns="0" rtlCol="0" anchor="t"/>
          <a:lstStyle/>
          <a:p>
            <a:pPr indent="0" marL="0">
              <a:lnSpc>
                <a:spcPct val="110000"/>
              </a:lnSpc>
              <a:buNone/>
            </a:pPr>
            <a:r>
              <a:rPr lang="en-US" sz="1500" dirty="0">
                <a:solidFill>
                  <a:srgbClr val="5B6472"/>
                </a:solidFill>
                <a:latin typeface="Arial" pitchFamily="34" charset="0"/>
                <a:ea typeface="Arial" pitchFamily="34" charset="-122"/>
                <a:cs typeface="Arial" pitchFamily="34" charset="-120"/>
              </a:rPr>
              <a:t>Verteilungen vergleichen und die stochastische Unabhängigkeit prüfen</a:t>
            </a:r>
            <a:endParaRPr lang="en-US" sz="1500" dirty="0"/>
          </a:p>
        </p:txBody>
      </p:sp>
      <p:sp>
        <p:nvSpPr>
          <p:cNvPr id="20" name="Text 18"/>
          <p:cNvSpPr txBox="1"/>
          <p:nvPr/>
        </p:nvSpPr>
        <p:spPr>
          <a:xfrm>
            <a:off x="9646920" y="4608576"/>
            <a:ext cx="1947672" cy="54864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Teoman-Doganay Lam · Filip Lazic</a:t>
            </a:r>
            <a:endParaRPr lang="en-US" sz="1200" dirty="0"/>
          </a:p>
        </p:txBody>
      </p:sp>
      <p:sp>
        <p:nvSpPr>
          <p:cNvPr id="21" name="Text 19"/>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Aufgabenstellung: ZHAW SML (2026), Aufgabe 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4F7"/>
        </a:solidFill>
      </p:bgPr>
    </p:bg>
    <p:spTree>
      <p:nvGrpSpPr>
        <p:cNvPr id="1" name=""/>
        <p:cNvGrpSpPr/>
        <p:nvPr/>
      </p:nvGrpSpPr>
      <p:grpSpPr>
        <a:xfrm>
          <a:off x="0" y="0"/>
          <a:ext cx="0" cy="0"/>
          <a:chOff x="0" y="0"/>
          <a:chExt cx="0" cy="0"/>
        </a:xfrm>
      </p:grpSpPr>
      <p:sp>
        <p:nvSpPr>
          <p:cNvPr id="2" name="Text 0"/>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04 / 18</a:t>
            </a:r>
            <a:endParaRPr lang="en-US" sz="1050" dirty="0"/>
          </a:p>
        </p:txBody>
      </p:sp>
      <p:sp>
        <p:nvSpPr>
          <p:cNvPr id="3" name="Text 1"/>
          <p:cNvSpPr txBox="1"/>
          <p:nvPr/>
        </p:nvSpPr>
        <p:spPr>
          <a:xfrm>
            <a:off x="320040" y="502920"/>
            <a:ext cx="4023360" cy="5120640"/>
          </a:xfrm>
          <a:prstGeom prst="rect">
            <a:avLst/>
          </a:prstGeom>
          <a:noFill/>
          <a:ln/>
        </p:spPr>
        <p:txBody>
          <a:bodyPr wrap="square" lIns="0" tIns="0" rIns="0" bIns="0" rtlCol="0" anchor="ctr"/>
          <a:lstStyle/>
          <a:p>
            <a:pPr indent="0" marL="0">
              <a:buNone/>
            </a:pPr>
            <a:r>
              <a:rPr lang="en-US" sz="30000" b="1" dirty="0">
                <a:solidFill>
                  <a:srgbClr val="E4572E"/>
                </a:solidFill>
                <a:latin typeface="Arial" pitchFamily="34" charset="0"/>
                <a:ea typeface="Arial" pitchFamily="34" charset="-122"/>
                <a:cs typeface="Arial" pitchFamily="34" charset="-120"/>
              </a:rPr>
              <a:t>a</a:t>
            </a:r>
            <a:endParaRPr lang="en-US" sz="30000" dirty="0"/>
          </a:p>
        </p:txBody>
      </p:sp>
      <p:sp>
        <p:nvSpPr>
          <p:cNvPr id="4" name="Text 2"/>
          <p:cNvSpPr txBox="1"/>
          <p:nvPr/>
        </p:nvSpPr>
        <p:spPr>
          <a:xfrm>
            <a:off x="4754880" y="2148840"/>
            <a:ext cx="5486400" cy="274320"/>
          </a:xfrm>
          <a:prstGeom prst="rect">
            <a:avLst/>
          </a:prstGeom>
          <a:noFill/>
          <a:ln/>
        </p:spPr>
        <p:txBody>
          <a:bodyPr wrap="square" lIns="0" tIns="0" rIns="0" bIns="0" rtlCol="0" anchor="t"/>
          <a:lstStyle/>
          <a:p>
            <a:pPr indent="0" marL="0">
              <a:buNone/>
            </a:pPr>
            <a:r>
              <a:rPr lang="en-US" sz="1100" b="1" spc="150" kern="0" dirty="0">
                <a:solidFill>
                  <a:srgbClr val="5B6472"/>
                </a:solidFill>
                <a:latin typeface="Arial" pitchFamily="34" charset="0"/>
                <a:ea typeface="Arial" pitchFamily="34" charset="-122"/>
                <a:cs typeface="Arial" pitchFamily="34" charset="-120"/>
              </a:rPr>
              <a:t>AUFGABE A</a:t>
            </a:r>
            <a:endParaRPr lang="en-US" sz="1100" dirty="0"/>
          </a:p>
        </p:txBody>
      </p:sp>
      <p:sp>
        <p:nvSpPr>
          <p:cNvPr id="5" name="Text 3"/>
          <p:cNvSpPr txBox="1"/>
          <p:nvPr/>
        </p:nvSpPr>
        <p:spPr>
          <a:xfrm>
            <a:off x="4754880" y="2514600"/>
            <a:ext cx="6766560" cy="731520"/>
          </a:xfrm>
          <a:prstGeom prst="rect">
            <a:avLst/>
          </a:prstGeom>
          <a:noFill/>
          <a:ln/>
        </p:spPr>
        <p:txBody>
          <a:bodyPr wrap="square" lIns="0" tIns="0" rIns="0" bIns="0" rtlCol="0" anchor="t"/>
          <a:lstStyle/>
          <a:p>
            <a:pPr indent="0" marL="0">
              <a:buNone/>
            </a:pPr>
            <a:r>
              <a:rPr lang="en-US" sz="4000" b="1" dirty="0">
                <a:solidFill>
                  <a:srgbClr val="111827"/>
                </a:solidFill>
                <a:latin typeface="Arial" pitchFamily="34" charset="0"/>
                <a:ea typeface="Arial" pitchFamily="34" charset="-122"/>
                <a:cs typeface="Arial" pitchFamily="34" charset="-120"/>
              </a:rPr>
              <a:t>Funktionen in Python</a:t>
            </a:r>
            <a:endParaRPr lang="en-US" sz="4000" dirty="0"/>
          </a:p>
        </p:txBody>
      </p:sp>
      <p:sp>
        <p:nvSpPr>
          <p:cNvPr id="6" name="Text 4"/>
          <p:cNvSpPr txBox="1"/>
          <p:nvPr/>
        </p:nvSpPr>
        <p:spPr>
          <a:xfrm>
            <a:off x="4754880" y="3337560"/>
            <a:ext cx="6035040" cy="914400"/>
          </a:xfrm>
          <a:prstGeom prst="rect">
            <a:avLst/>
          </a:prstGeom>
          <a:noFill/>
          <a:ln/>
        </p:spPr>
        <p:txBody>
          <a:bodyPr wrap="square" lIns="0" tIns="0" rIns="0" bIns="0" rtlCol="0" anchor="t"/>
          <a:lstStyle/>
          <a:p>
            <a:pPr indent="0" marL="0">
              <a:lnSpc>
                <a:spcPct val="115000"/>
              </a:lnSpc>
              <a:buNone/>
            </a:pPr>
            <a:r>
              <a:rPr lang="en-US" sz="1800" dirty="0">
                <a:solidFill>
                  <a:srgbClr val="5B6472"/>
                </a:solidFill>
                <a:latin typeface="Arial" pitchFamily="34" charset="0"/>
                <a:ea typeface="Arial" pitchFamily="34" charset="-122"/>
                <a:cs typeface="Arial" pitchFamily="34" charset="-120"/>
              </a:rPr>
              <a:t>Grundlagen und fünf weitere Konzepte nach McKinney (2018), Abschnitt 3.2 – angewendet in unserem Code</a:t>
            </a:r>
            <a:endParaRPr lang="en-US" sz="1800" dirty="0"/>
          </a:p>
        </p:txBody>
      </p:sp>
      <p:sp>
        <p:nvSpPr>
          <p:cNvPr id="7" name="Text 5"/>
          <p:cNvSpPr txBox="1"/>
          <p:nvPr/>
        </p:nvSpPr>
        <p:spPr>
          <a:xfrm>
            <a:off x="4754880" y="4480560"/>
            <a:ext cx="6035040" cy="320040"/>
          </a:xfrm>
          <a:prstGeom prst="rect">
            <a:avLst/>
          </a:prstGeom>
          <a:noFill/>
          <a:ln/>
        </p:spPr>
        <p:txBody>
          <a:bodyPr wrap="square" lIns="0" tIns="0" rIns="0" bIns="0" rtlCol="0" anchor="t"/>
          <a:lstStyle/>
          <a:p>
            <a:pPr indent="0" marL="0">
              <a:buNone/>
            </a:pPr>
            <a:r>
              <a:rPr lang="en-US" sz="1400" b="1" dirty="0">
                <a:solidFill>
                  <a:srgbClr val="111827"/>
                </a:solidFill>
                <a:latin typeface="Arial" pitchFamily="34" charset="0"/>
                <a:ea typeface="Arial" pitchFamily="34" charset="-122"/>
                <a:cs typeface="Arial" pitchFamily="34" charset="-120"/>
              </a:rPr>
              <a:t>Leorat Krasniqi</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035040" y="0"/>
            <a:ext cx="6156655" cy="6858000"/>
          </a:xfrm>
          <a:prstGeom prst="rect">
            <a:avLst/>
          </a:prstGeom>
          <a:solidFill>
            <a:srgbClr val="111827"/>
          </a:solidFill>
          <a:ln w="12700">
            <a:solidFill>
              <a:srgbClr val="111827"/>
            </a:solidFill>
            <a:prstDash val="solid"/>
          </a:ln>
        </p:spPr>
      </p:sp>
      <p:sp>
        <p:nvSpPr>
          <p:cNvPr id="3" name="Text 1"/>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05 — AUFGABE A · FUNKTIONEN</a:t>
            </a:r>
            <a:endParaRPr lang="en-US" sz="1050" dirty="0"/>
          </a:p>
        </p:txBody>
      </p:sp>
      <p:sp>
        <p:nvSpPr>
          <p:cNvPr id="4" name="Text 2"/>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8C97A8"/>
                </a:solidFill>
                <a:latin typeface="Arial" pitchFamily="34" charset="0"/>
                <a:ea typeface="Arial" pitchFamily="34" charset="-122"/>
                <a:cs typeface="Arial" pitchFamily="34" charset="-120"/>
              </a:rPr>
              <a:t>05 / 18</a:t>
            </a:r>
            <a:endParaRPr lang="en-US" sz="1050" dirty="0"/>
          </a:p>
        </p:txBody>
      </p:sp>
      <p:sp>
        <p:nvSpPr>
          <p:cNvPr id="5" name="Text 3"/>
          <p:cNvSpPr txBox="1"/>
          <p:nvPr/>
        </p:nvSpPr>
        <p:spPr>
          <a:xfrm>
            <a:off x="594360" y="749808"/>
            <a:ext cx="5120640"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Funktionen: die Grundlagen</a:t>
            </a:r>
            <a:endParaRPr lang="en-US" sz="3000" dirty="0"/>
          </a:p>
        </p:txBody>
      </p:sp>
      <p:sp>
        <p:nvSpPr>
          <p:cNvPr id="6" name="Text 4"/>
          <p:cNvSpPr txBox="1"/>
          <p:nvPr/>
        </p:nvSpPr>
        <p:spPr>
          <a:xfrm>
            <a:off x="594360" y="1709928"/>
            <a:ext cx="457200" cy="274320"/>
          </a:xfrm>
          <a:prstGeom prst="rect">
            <a:avLst/>
          </a:prstGeom>
          <a:noFill/>
          <a:ln/>
        </p:spPr>
        <p:txBody>
          <a:bodyPr wrap="square" lIns="0" tIns="0" rIns="0" bIns="0" rtlCol="0" anchor="t"/>
          <a:lstStyle/>
          <a:p>
            <a:pPr indent="0" marL="0">
              <a:buNone/>
            </a:pPr>
            <a:r>
              <a:rPr lang="en-US" sz="1200" b="1" dirty="0">
                <a:solidFill>
                  <a:srgbClr val="B93C17"/>
                </a:solidFill>
                <a:latin typeface="Arial" pitchFamily="34" charset="0"/>
                <a:ea typeface="Arial" pitchFamily="34" charset="-122"/>
                <a:cs typeface="Arial" pitchFamily="34" charset="-120"/>
              </a:rPr>
              <a:t>01</a:t>
            </a:r>
            <a:endParaRPr lang="en-US" sz="1200" dirty="0"/>
          </a:p>
        </p:txBody>
      </p:sp>
      <p:sp>
        <p:nvSpPr>
          <p:cNvPr id="7" name="Text 5"/>
          <p:cNvSpPr txBox="1"/>
          <p:nvPr/>
        </p:nvSpPr>
        <p:spPr>
          <a:xfrm>
            <a:off x="1097280" y="1691640"/>
            <a:ext cx="4572000" cy="320040"/>
          </a:xfrm>
          <a:prstGeom prst="rect">
            <a:avLst/>
          </a:prstGeom>
          <a:noFill/>
          <a:ln/>
        </p:spPr>
        <p:txBody>
          <a:bodyPr wrap="square" lIns="0" tIns="0" rIns="0" bIns="0" rtlCol="0" anchor="t"/>
          <a:lstStyle/>
          <a:p>
            <a:pPr indent="0" marL="0">
              <a:buNone/>
            </a:pPr>
            <a:r>
              <a:rPr lang="en-US" sz="1800" b="1" dirty="0">
                <a:solidFill>
                  <a:srgbClr val="111827"/>
                </a:solidFill>
                <a:latin typeface="Arial" pitchFamily="34" charset="0"/>
                <a:ea typeface="Arial" pitchFamily="34" charset="-122"/>
                <a:cs typeface="Arial" pitchFamily="34" charset="-120"/>
              </a:rPr>
              <a:t>def und return</a:t>
            </a:r>
            <a:endParaRPr lang="en-US" sz="1800" dirty="0"/>
          </a:p>
        </p:txBody>
      </p:sp>
      <p:sp>
        <p:nvSpPr>
          <p:cNvPr id="8" name="Text 6"/>
          <p:cNvSpPr txBox="1"/>
          <p:nvPr/>
        </p:nvSpPr>
        <p:spPr>
          <a:xfrm>
            <a:off x="1097280" y="2057400"/>
            <a:ext cx="4572000" cy="54864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Deklarieren und verlassen; ohne return liefert Python None  </a:t>
            </a:r>
            <a:pPr indent="0" marL="0">
              <a:lnSpc>
                <a:spcPct val="110000"/>
              </a:lnSpc>
              <a:buNone/>
            </a:pPr>
            <a:r>
              <a:rPr lang="en-US" sz="1400" b="1" dirty="0">
                <a:solidFill>
                  <a:srgbClr val="5B6472"/>
                </a:solidFill>
                <a:latin typeface="Arial" pitchFamily="34" charset="0"/>
                <a:ea typeface="Arial" pitchFamily="34" charset="-122"/>
                <a:cs typeface="Arial" pitchFamily="34" charset="-120"/>
              </a:rPr>
              <a:t>S. 71–72</a:t>
            </a:r>
            <a:endParaRPr lang="en-US" sz="1400" dirty="0"/>
          </a:p>
        </p:txBody>
      </p:sp>
      <p:sp>
        <p:nvSpPr>
          <p:cNvPr id="9" name="Text 7"/>
          <p:cNvSpPr txBox="1"/>
          <p:nvPr/>
        </p:nvSpPr>
        <p:spPr>
          <a:xfrm>
            <a:off x="594360" y="2788920"/>
            <a:ext cx="457200" cy="274320"/>
          </a:xfrm>
          <a:prstGeom prst="rect">
            <a:avLst/>
          </a:prstGeom>
          <a:noFill/>
          <a:ln/>
        </p:spPr>
        <p:txBody>
          <a:bodyPr wrap="square" lIns="0" tIns="0" rIns="0" bIns="0" rtlCol="0" anchor="t"/>
          <a:lstStyle/>
          <a:p>
            <a:pPr indent="0" marL="0">
              <a:buNone/>
            </a:pPr>
            <a:r>
              <a:rPr lang="en-US" sz="1200" b="1" dirty="0">
                <a:solidFill>
                  <a:srgbClr val="B93C17"/>
                </a:solidFill>
                <a:latin typeface="Arial" pitchFamily="34" charset="0"/>
                <a:ea typeface="Arial" pitchFamily="34" charset="-122"/>
                <a:cs typeface="Arial" pitchFamily="34" charset="-120"/>
              </a:rPr>
              <a:t>02</a:t>
            </a:r>
            <a:endParaRPr lang="en-US" sz="1200" dirty="0"/>
          </a:p>
        </p:txBody>
      </p:sp>
      <p:sp>
        <p:nvSpPr>
          <p:cNvPr id="10" name="Text 8"/>
          <p:cNvSpPr txBox="1"/>
          <p:nvPr/>
        </p:nvSpPr>
        <p:spPr>
          <a:xfrm>
            <a:off x="1097280" y="2770632"/>
            <a:ext cx="4572000" cy="320040"/>
          </a:xfrm>
          <a:prstGeom prst="rect">
            <a:avLst/>
          </a:prstGeom>
          <a:noFill/>
          <a:ln/>
        </p:spPr>
        <p:txBody>
          <a:bodyPr wrap="square" lIns="0" tIns="0" rIns="0" bIns="0" rtlCol="0" anchor="t"/>
          <a:lstStyle/>
          <a:p>
            <a:pPr indent="0" marL="0">
              <a:buNone/>
            </a:pPr>
            <a:r>
              <a:rPr lang="en-US" sz="1800" b="1" dirty="0">
                <a:solidFill>
                  <a:srgbClr val="111827"/>
                </a:solidFill>
                <a:latin typeface="Arial" pitchFamily="34" charset="0"/>
                <a:ea typeface="Arial" pitchFamily="34" charset="-122"/>
                <a:cs typeface="Arial" pitchFamily="34" charset="-120"/>
              </a:rPr>
              <a:t>Positions- und Keyword-Argumente</a:t>
            </a:r>
            <a:endParaRPr lang="en-US" sz="1800" dirty="0"/>
          </a:p>
        </p:txBody>
      </p:sp>
      <p:sp>
        <p:nvSpPr>
          <p:cNvPr id="11" name="Text 9"/>
          <p:cNvSpPr txBox="1"/>
          <p:nvPr/>
        </p:nvSpPr>
        <p:spPr>
          <a:xfrm>
            <a:off x="1097280" y="3136392"/>
            <a:ext cx="4572000" cy="54864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Keyword-Argumente tragen Standardwerte und stehen hinten  </a:t>
            </a:r>
            <a:pPr indent="0" marL="0">
              <a:lnSpc>
                <a:spcPct val="110000"/>
              </a:lnSpc>
              <a:buNone/>
            </a:pPr>
            <a:r>
              <a:rPr lang="en-US" sz="1400" b="1" dirty="0">
                <a:solidFill>
                  <a:srgbClr val="5B6472"/>
                </a:solidFill>
                <a:latin typeface="Arial" pitchFamily="34" charset="0"/>
                <a:ea typeface="Arial" pitchFamily="34" charset="-122"/>
                <a:cs typeface="Arial" pitchFamily="34" charset="-120"/>
              </a:rPr>
              <a:t>S. 72</a:t>
            </a:r>
            <a:endParaRPr lang="en-US" sz="1400" dirty="0"/>
          </a:p>
        </p:txBody>
      </p:sp>
      <p:sp>
        <p:nvSpPr>
          <p:cNvPr id="12" name="Text 10"/>
          <p:cNvSpPr txBox="1"/>
          <p:nvPr/>
        </p:nvSpPr>
        <p:spPr>
          <a:xfrm>
            <a:off x="594360" y="3867912"/>
            <a:ext cx="457200" cy="274320"/>
          </a:xfrm>
          <a:prstGeom prst="rect">
            <a:avLst/>
          </a:prstGeom>
          <a:noFill/>
          <a:ln/>
        </p:spPr>
        <p:txBody>
          <a:bodyPr wrap="square" lIns="0" tIns="0" rIns="0" bIns="0" rtlCol="0" anchor="t"/>
          <a:lstStyle/>
          <a:p>
            <a:pPr indent="0" marL="0">
              <a:buNone/>
            </a:pPr>
            <a:r>
              <a:rPr lang="en-US" sz="1200" b="1" dirty="0">
                <a:solidFill>
                  <a:srgbClr val="B93C17"/>
                </a:solidFill>
                <a:latin typeface="Arial" pitchFamily="34" charset="0"/>
                <a:ea typeface="Arial" pitchFamily="34" charset="-122"/>
                <a:cs typeface="Arial" pitchFamily="34" charset="-120"/>
              </a:rPr>
              <a:t>03</a:t>
            </a:r>
            <a:endParaRPr lang="en-US" sz="1200" dirty="0"/>
          </a:p>
        </p:txBody>
      </p:sp>
      <p:sp>
        <p:nvSpPr>
          <p:cNvPr id="13" name="Text 11"/>
          <p:cNvSpPr txBox="1"/>
          <p:nvPr/>
        </p:nvSpPr>
        <p:spPr>
          <a:xfrm>
            <a:off x="1097280" y="3849624"/>
            <a:ext cx="4572000" cy="320040"/>
          </a:xfrm>
          <a:prstGeom prst="rect">
            <a:avLst/>
          </a:prstGeom>
          <a:noFill/>
          <a:ln/>
        </p:spPr>
        <p:txBody>
          <a:bodyPr wrap="square" lIns="0" tIns="0" rIns="0" bIns="0" rtlCol="0" anchor="t"/>
          <a:lstStyle/>
          <a:p>
            <a:pPr indent="0" marL="0">
              <a:buNone/>
            </a:pPr>
            <a:r>
              <a:rPr lang="en-US" sz="1800" b="1" dirty="0">
                <a:solidFill>
                  <a:srgbClr val="111827"/>
                </a:solidFill>
                <a:latin typeface="Arial" pitchFamily="34" charset="0"/>
                <a:ea typeface="Arial" pitchFamily="34" charset="-122"/>
                <a:cs typeface="Arial" pitchFamily="34" charset="-120"/>
              </a:rPr>
              <a:t>Lokaler Namensraum</a:t>
            </a:r>
            <a:endParaRPr lang="en-US" sz="1800" dirty="0"/>
          </a:p>
        </p:txBody>
      </p:sp>
      <p:sp>
        <p:nvSpPr>
          <p:cNvPr id="14" name="Text 12"/>
          <p:cNvSpPr txBox="1"/>
          <p:nvPr/>
        </p:nvSpPr>
        <p:spPr>
          <a:xfrm>
            <a:off x="1097280" y="4215384"/>
            <a:ext cx="4572000" cy="54864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Variablen leben nur während des Aufrufs; global vermeiden  </a:t>
            </a:r>
            <a:pPr indent="0" marL="0">
              <a:lnSpc>
                <a:spcPct val="110000"/>
              </a:lnSpc>
              <a:buNone/>
            </a:pPr>
            <a:r>
              <a:rPr lang="en-US" sz="1400" b="1" dirty="0">
                <a:solidFill>
                  <a:srgbClr val="5B6472"/>
                </a:solidFill>
                <a:latin typeface="Arial" pitchFamily="34" charset="0"/>
                <a:ea typeface="Arial" pitchFamily="34" charset="-122"/>
                <a:cs typeface="Arial" pitchFamily="34" charset="-120"/>
              </a:rPr>
              <a:t>S. 72–73</a:t>
            </a:r>
            <a:endParaRPr lang="en-US" sz="1400" dirty="0"/>
          </a:p>
        </p:txBody>
      </p:sp>
      <p:sp>
        <p:nvSpPr>
          <p:cNvPr id="15" name="Text 13"/>
          <p:cNvSpPr txBox="1"/>
          <p:nvPr/>
        </p:nvSpPr>
        <p:spPr>
          <a:xfrm>
            <a:off x="594360" y="4946904"/>
            <a:ext cx="457200" cy="274320"/>
          </a:xfrm>
          <a:prstGeom prst="rect">
            <a:avLst/>
          </a:prstGeom>
          <a:noFill/>
          <a:ln/>
        </p:spPr>
        <p:txBody>
          <a:bodyPr wrap="square" lIns="0" tIns="0" rIns="0" bIns="0" rtlCol="0" anchor="t"/>
          <a:lstStyle/>
          <a:p>
            <a:pPr indent="0" marL="0">
              <a:buNone/>
            </a:pPr>
            <a:r>
              <a:rPr lang="en-US" sz="1200" b="1" dirty="0">
                <a:solidFill>
                  <a:srgbClr val="B93C17"/>
                </a:solidFill>
                <a:latin typeface="Arial" pitchFamily="34" charset="0"/>
                <a:ea typeface="Arial" pitchFamily="34" charset="-122"/>
                <a:cs typeface="Arial" pitchFamily="34" charset="-120"/>
              </a:rPr>
              <a:t>04</a:t>
            </a:r>
            <a:endParaRPr lang="en-US" sz="1200" dirty="0"/>
          </a:p>
        </p:txBody>
      </p:sp>
      <p:sp>
        <p:nvSpPr>
          <p:cNvPr id="16" name="Text 14"/>
          <p:cNvSpPr txBox="1"/>
          <p:nvPr/>
        </p:nvSpPr>
        <p:spPr>
          <a:xfrm>
            <a:off x="1097280" y="4928616"/>
            <a:ext cx="4572000" cy="320040"/>
          </a:xfrm>
          <a:prstGeom prst="rect">
            <a:avLst/>
          </a:prstGeom>
          <a:noFill/>
          <a:ln/>
        </p:spPr>
        <p:txBody>
          <a:bodyPr wrap="square" lIns="0" tIns="0" rIns="0" bIns="0" rtlCol="0" anchor="t"/>
          <a:lstStyle/>
          <a:p>
            <a:pPr indent="0" marL="0">
              <a:buNone/>
            </a:pPr>
            <a:r>
              <a:rPr lang="en-US" sz="1800" b="1" dirty="0">
                <a:solidFill>
                  <a:srgbClr val="111827"/>
                </a:solidFill>
                <a:latin typeface="Arial" pitchFamily="34" charset="0"/>
                <a:ea typeface="Arial" pitchFamily="34" charset="-122"/>
                <a:cs typeface="Arial" pitchFamily="34" charset="-120"/>
              </a:rPr>
              <a:t>Mehrere Rückgabewerte</a:t>
            </a:r>
            <a:endParaRPr lang="en-US" sz="1800" dirty="0"/>
          </a:p>
        </p:txBody>
      </p:sp>
      <p:sp>
        <p:nvSpPr>
          <p:cNvPr id="17" name="Text 15"/>
          <p:cNvSpPr txBox="1"/>
          <p:nvPr/>
        </p:nvSpPr>
        <p:spPr>
          <a:xfrm>
            <a:off x="1097280" y="5294376"/>
            <a:ext cx="4572000" cy="54864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Eigentlich ein Tupel, alternativ ein Dictionary  </a:t>
            </a:r>
            <a:pPr indent="0" marL="0">
              <a:lnSpc>
                <a:spcPct val="110000"/>
              </a:lnSpc>
              <a:buNone/>
            </a:pPr>
            <a:r>
              <a:rPr lang="en-US" sz="1400" b="1" dirty="0">
                <a:solidFill>
                  <a:srgbClr val="5B6472"/>
                </a:solidFill>
                <a:latin typeface="Arial" pitchFamily="34" charset="0"/>
                <a:ea typeface="Arial" pitchFamily="34" charset="-122"/>
                <a:cs typeface="Arial" pitchFamily="34" charset="-120"/>
              </a:rPr>
              <a:t>S. 73–74</a:t>
            </a:r>
            <a:endParaRPr lang="en-US" sz="1400" dirty="0"/>
          </a:p>
        </p:txBody>
      </p:sp>
      <p:sp>
        <p:nvSpPr>
          <p:cNvPr id="18" name="Text 16"/>
          <p:cNvSpPr txBox="1"/>
          <p:nvPr/>
        </p:nvSpPr>
        <p:spPr>
          <a:xfrm>
            <a:off x="6446520" y="914400"/>
            <a:ext cx="5120640" cy="256032"/>
          </a:xfrm>
          <a:prstGeom prst="rect">
            <a:avLst/>
          </a:prstGeom>
          <a:noFill/>
          <a:ln/>
        </p:spPr>
        <p:txBody>
          <a:bodyPr wrap="square" lIns="0" tIns="0" rIns="0" bIns="0" rtlCol="0" anchor="t"/>
          <a:lstStyle/>
          <a:p>
            <a:pPr indent="0" marL="0">
              <a:buNone/>
            </a:pPr>
            <a:r>
              <a:rPr lang="en-US" sz="1050" b="1" spc="150" kern="0" dirty="0">
                <a:solidFill>
                  <a:srgbClr val="8C97A8"/>
                </a:solidFill>
                <a:latin typeface="Arial" pitchFamily="34" charset="0"/>
                <a:ea typeface="Arial" pitchFamily="34" charset="-122"/>
                <a:cs typeface="Arial" pitchFamily="34" charset="-120"/>
              </a:rPr>
              <a:t>BEISPIEL AUS UNSEREM NOTEBOOK</a:t>
            </a:r>
            <a:endParaRPr lang="en-US" sz="1050" dirty="0"/>
          </a:p>
        </p:txBody>
      </p:sp>
      <p:sp>
        <p:nvSpPr>
          <p:cNvPr id="19" name="Text 17"/>
          <p:cNvSpPr txBox="1"/>
          <p:nvPr/>
        </p:nvSpPr>
        <p:spPr>
          <a:xfrm>
            <a:off x="6446520" y="1371600"/>
            <a:ext cx="5394960" cy="3566160"/>
          </a:xfrm>
          <a:prstGeom prst="rect">
            <a:avLst/>
          </a:prstGeom>
          <a:noFill/>
          <a:ln/>
        </p:spPr>
        <p:txBody>
          <a:bodyPr wrap="square" lIns="0" tIns="0" rIns="0" bIns="0" rtlCol="0" anchor="t"/>
          <a:lstStyle/>
          <a:p>
            <a:pPr indent="0" marL="0">
              <a:lnSpc>
                <a:spcPct val="115000"/>
              </a:lnSpc>
              <a:buNone/>
            </a:pPr>
            <a:r>
              <a:rPr lang="en-US" sz="1200" b="1" dirty="0">
                <a:solidFill>
                  <a:srgbClr val="F4A285"/>
                </a:solidFill>
                <a:latin typeface="Courier New" pitchFamily="34" charset="0"/>
                <a:ea typeface="Courier New" pitchFamily="34" charset="-122"/>
                <a:cs typeface="Courier New" pitchFamily="34" charset="-120"/>
              </a:rPr>
              <a:t>def </a:t>
            </a:r>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kreuztabelle(daten, fachbereich=None):</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a:t>
            </a:r>
            <a:pPr indent="0" marL="0">
              <a:lnSpc>
                <a:spcPct val="115000"/>
              </a:lnSpc>
              <a:buNone/>
            </a:pPr>
            <a:r>
              <a:rPr lang="en-US" sz="1200" b="1" dirty="0">
                <a:solidFill>
                  <a:srgbClr val="F4A285"/>
                </a:solidFill>
                <a:latin typeface="Courier New" pitchFamily="34" charset="0"/>
                <a:ea typeface="Courier New" pitchFamily="34" charset="-122"/>
                <a:cs typeface="Courier New" pitchFamily="34" charset="-120"/>
              </a:rPr>
              <a:t>if </a:t>
            </a:r>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fachbereich </a:t>
            </a:r>
            <a:pPr indent="0" marL="0">
              <a:lnSpc>
                <a:spcPct val="115000"/>
              </a:lnSpc>
              <a:buNone/>
            </a:pPr>
            <a:r>
              <a:rPr lang="en-US" sz="1200" b="1" dirty="0">
                <a:solidFill>
                  <a:srgbClr val="F4A285"/>
                </a:solidFill>
                <a:latin typeface="Courier New" pitchFamily="34" charset="0"/>
                <a:ea typeface="Courier New" pitchFamily="34" charset="-122"/>
                <a:cs typeface="Courier New" pitchFamily="34" charset="-120"/>
              </a:rPr>
              <a:t>is not </a:t>
            </a:r>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None:</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daten = daten[daten.Fachbereich == fachbereich]</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a:t>
            </a:r>
            <a:pPr indent="0" marL="0">
              <a:lnSpc>
                <a:spcPct val="115000"/>
              </a:lnSpc>
              <a:buNone/>
            </a:pPr>
            <a:r>
              <a:rPr lang="en-US" sz="1200" b="1" dirty="0">
                <a:solidFill>
                  <a:srgbClr val="F4A285"/>
                </a:solidFill>
                <a:latin typeface="Courier New" pitchFamily="34" charset="0"/>
                <a:ea typeface="Courier New" pitchFamily="34" charset="-122"/>
                <a:cs typeface="Courier New" pitchFamily="34" charset="-120"/>
              </a:rPr>
              <a:t>return </a:t>
            </a:r>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daten.pivot_table(...)</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kreuztabelle(daten)                    </a:t>
            </a:r>
            <a:pPr indent="0" marL="0">
              <a:lnSpc>
                <a:spcPct val="115000"/>
              </a:lnSpc>
              <a:buNone/>
            </a:pPr>
            <a:r>
              <a:rPr lang="en-US" sz="1200" dirty="0">
                <a:solidFill>
                  <a:srgbClr val="8C97A8"/>
                </a:solidFill>
                <a:latin typeface="Courier New" pitchFamily="34" charset="0"/>
                <a:ea typeface="Courier New" pitchFamily="34" charset="-122"/>
                <a:cs typeface="Courier New" pitchFamily="34" charset="-120"/>
              </a:rPr>
              <a:t># alle</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kreuztabelle(daten, fachbereich="A")   </a:t>
            </a:r>
            <a:pPr indent="0" marL="0">
              <a:lnSpc>
                <a:spcPct val="115000"/>
              </a:lnSpc>
              <a:buNone/>
            </a:pPr>
            <a:r>
              <a:rPr lang="en-US" sz="1200" dirty="0">
                <a:solidFill>
                  <a:srgbClr val="8C97A8"/>
                </a:solidFill>
                <a:latin typeface="Courier New" pitchFamily="34" charset="0"/>
                <a:ea typeface="Courier New" pitchFamily="34" charset="-122"/>
                <a:cs typeface="Courier New" pitchFamily="34" charset="-120"/>
              </a:rPr>
              <a:t># nur A</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a:t>
            </a:r>
            <a:endParaRPr lang="en-US" sz="1200" dirty="0"/>
          </a:p>
          <a:p>
            <a:pPr indent="0" marL="0">
              <a:lnSpc>
                <a:spcPct val="115000"/>
              </a:lnSpc>
              <a:buNone/>
            </a:pPr>
            <a:r>
              <a:rPr lang="en-US" sz="1200" b="1" dirty="0">
                <a:solidFill>
                  <a:srgbClr val="F4A285"/>
                </a:solidFill>
                <a:latin typeface="Courier New" pitchFamily="34" charset="0"/>
                <a:ea typeface="Courier New" pitchFamily="34" charset="-122"/>
                <a:cs typeface="Courier New" pitchFamily="34" charset="-120"/>
              </a:rPr>
              <a:t>def </a:t>
            </a:r>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kennzahlen(zugelassen, abgelehnt, total):</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bewerbungen = zugelassen + abgelehnt</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a:t>
            </a:r>
            <a:pPr indent="0" marL="0">
              <a:lnSpc>
                <a:spcPct val="115000"/>
              </a:lnSpc>
              <a:buNone/>
            </a:pPr>
            <a:r>
              <a:rPr lang="en-US" sz="1200" b="1" dirty="0">
                <a:solidFill>
                  <a:srgbClr val="F4A285"/>
                </a:solidFill>
                <a:latin typeface="Courier New" pitchFamily="34" charset="0"/>
                <a:ea typeface="Courier New" pitchFamily="34" charset="-122"/>
                <a:cs typeface="Courier New" pitchFamily="34" charset="-120"/>
              </a:rPr>
              <a:t>return </a:t>
            </a:r>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zugelassen / bewerbungen, bewerbungen / total</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quote, anteil = kennzahlen(89, 19, 1835)   </a:t>
            </a:r>
            <a:pPr indent="0" marL="0">
              <a:lnSpc>
                <a:spcPct val="115000"/>
              </a:lnSpc>
              <a:buNone/>
            </a:pPr>
            <a:r>
              <a:rPr lang="en-US" sz="1200" dirty="0">
                <a:solidFill>
                  <a:srgbClr val="8C97A8"/>
                </a:solidFill>
                <a:latin typeface="Courier New" pitchFamily="34" charset="0"/>
                <a:ea typeface="Courier New" pitchFamily="34" charset="-122"/>
                <a:cs typeface="Courier New" pitchFamily="34" charset="-120"/>
              </a:rPr>
              <a:t># Tupel</a:t>
            </a:r>
            <a:endParaRPr lang="en-US" sz="1200" dirty="0"/>
          </a:p>
        </p:txBody>
      </p:sp>
      <p:sp>
        <p:nvSpPr>
          <p:cNvPr id="20" name="Text 18"/>
          <p:cNvSpPr txBox="1"/>
          <p:nvPr/>
        </p:nvSpPr>
        <p:spPr>
          <a:xfrm>
            <a:off x="6446520" y="5212080"/>
            <a:ext cx="5120640" cy="640080"/>
          </a:xfrm>
          <a:prstGeom prst="rect">
            <a:avLst/>
          </a:prstGeom>
          <a:noFill/>
          <a:ln/>
        </p:spPr>
        <p:txBody>
          <a:bodyPr wrap="square" lIns="0" tIns="0" rIns="0" bIns="0" rtlCol="0" anchor="t"/>
          <a:lstStyle/>
          <a:p>
            <a:pPr indent="0" marL="0">
              <a:lnSpc>
                <a:spcPct val="130000"/>
              </a:lnSpc>
              <a:buNone/>
            </a:pPr>
            <a:r>
              <a:rPr lang="en-US" sz="1300" b="1" dirty="0">
                <a:solidFill>
                  <a:srgbClr val="FFFFFF"/>
                </a:solidFill>
                <a:latin typeface="Arial" pitchFamily="34" charset="0"/>
                <a:ea typeface="Arial" pitchFamily="34" charset="-122"/>
                <a:cs typeface="Arial" pitchFamily="34" charset="-120"/>
              </a:rPr>
              <a:t>fachbereich=None</a:t>
            </a:r>
            <a:pPr indent="0" marL="0">
              <a:lnSpc>
                <a:spcPct val="130000"/>
              </a:lnSpc>
              <a:buNone/>
            </a:pPr>
            <a:r>
              <a:rPr lang="en-US" sz="1300" dirty="0">
                <a:solidFill>
                  <a:srgbClr val="C9D1DC"/>
                </a:solidFill>
                <a:latin typeface="Arial" pitchFamily="34" charset="0"/>
                <a:ea typeface="Arial" pitchFamily="34" charset="-122"/>
                <a:cs typeface="Arial" pitchFamily="34" charset="-120"/>
              </a:rPr>
              <a:t>  Keyword-Argument mit Standardwert</a:t>
            </a:r>
            <a:endParaRPr lang="en-US" sz="1300" dirty="0"/>
          </a:p>
          <a:p>
            <a:pPr indent="0" marL="0">
              <a:lnSpc>
                <a:spcPct val="130000"/>
              </a:lnSpc>
              <a:buNone/>
            </a:pPr>
            <a:r>
              <a:rPr lang="en-US" sz="1300" b="1" dirty="0">
                <a:solidFill>
                  <a:srgbClr val="FFFFFF"/>
                </a:solidFill>
                <a:latin typeface="Arial" pitchFamily="34" charset="0"/>
                <a:ea typeface="Arial" pitchFamily="34" charset="-122"/>
                <a:cs typeface="Arial" pitchFamily="34" charset="-120"/>
              </a:rPr>
              <a:t>return a, b</a:t>
            </a:r>
            <a:pPr indent="0" marL="0">
              <a:lnSpc>
                <a:spcPct val="130000"/>
              </a:lnSpc>
              <a:buNone/>
            </a:pPr>
            <a:r>
              <a:rPr lang="en-US" sz="1300" dirty="0">
                <a:solidFill>
                  <a:srgbClr val="C9D1DC"/>
                </a:solidFill>
                <a:latin typeface="Arial" pitchFamily="34" charset="0"/>
                <a:ea typeface="Arial" pitchFamily="34" charset="-122"/>
                <a:cs typeface="Arial" pitchFamily="34" charset="-120"/>
              </a:rPr>
              <a:t>  ein Tupel, direkt entpackt</a:t>
            </a:r>
            <a:endParaRPr lang="en-US" sz="1300" dirty="0"/>
          </a:p>
        </p:txBody>
      </p:sp>
      <p:sp>
        <p:nvSpPr>
          <p:cNvPr id="21" name="Text 19"/>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Quelle: McKinney (2018, S. 71–74); Code: eigenes Notebook</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06 — AUFGABE A · FUNKTIONEN</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06 / 18</a:t>
            </a:r>
            <a:endParaRPr lang="en-US" sz="1050" dirty="0"/>
          </a:p>
        </p:txBody>
      </p:sp>
      <p:sp>
        <p:nvSpPr>
          <p:cNvPr id="4" name="Text 2"/>
          <p:cNvSpPr txBox="1"/>
          <p:nvPr/>
        </p:nvSpPr>
        <p:spPr>
          <a:xfrm>
            <a:off x="594360" y="868680"/>
            <a:ext cx="3566160" cy="1188720"/>
          </a:xfrm>
          <a:prstGeom prst="rect">
            <a:avLst/>
          </a:prstGeom>
          <a:noFill/>
          <a:ln/>
        </p:spPr>
        <p:txBody>
          <a:bodyPr wrap="square" lIns="0" tIns="0" rIns="0" bIns="0" rtlCol="0" anchor="t"/>
          <a:lstStyle/>
          <a:p>
            <a:pPr indent="0" marL="0">
              <a:lnSpc>
                <a:spcPct val="100000"/>
              </a:lnSpc>
              <a:buNone/>
            </a:pPr>
            <a:r>
              <a:rPr lang="en-US" sz="3000" b="1" dirty="0">
                <a:solidFill>
                  <a:srgbClr val="111827"/>
                </a:solidFill>
                <a:latin typeface="Arial" pitchFamily="34" charset="0"/>
                <a:ea typeface="Arial" pitchFamily="34" charset="-122"/>
                <a:cs typeface="Arial" pitchFamily="34" charset="-120"/>
              </a:rPr>
              <a:t>Fünf weitere Konzepte im Code</a:t>
            </a:r>
            <a:endParaRPr lang="en-US" sz="3000" dirty="0"/>
          </a:p>
        </p:txBody>
      </p:sp>
      <p:sp>
        <p:nvSpPr>
          <p:cNvPr id="5" name="Text 3"/>
          <p:cNvSpPr txBox="1"/>
          <p:nvPr/>
        </p:nvSpPr>
        <p:spPr>
          <a:xfrm>
            <a:off x="594360" y="3383280"/>
            <a:ext cx="3474720" cy="1463040"/>
          </a:xfrm>
          <a:prstGeom prst="rect">
            <a:avLst/>
          </a:prstGeom>
          <a:noFill/>
          <a:ln/>
        </p:spPr>
        <p:txBody>
          <a:bodyPr wrap="square" lIns="0" tIns="0" rIns="0" bIns="0" rtlCol="0" anchor="t"/>
          <a:lstStyle/>
          <a:p>
            <a:pPr indent="0" marL="0">
              <a:lnSpc>
                <a:spcPct val="110000"/>
              </a:lnSpc>
              <a:buNone/>
            </a:pPr>
            <a:r>
              <a:rPr lang="en-US" sz="2400" i="1" dirty="0">
                <a:solidFill>
                  <a:srgbClr val="111827"/>
                </a:solidFill>
                <a:latin typeface="Arial" pitchFamily="34" charset="0"/>
                <a:ea typeface="Arial" pitchFamily="34" charset="-122"/>
                <a:cs typeface="Arial" pitchFamily="34" charset="-120"/>
              </a:rPr>
              <a:t>«Code, den man mehr als einmal braucht, gehört in eine Funktion.»</a:t>
            </a:r>
            <a:endParaRPr lang="en-US" sz="2400" dirty="0"/>
          </a:p>
        </p:txBody>
      </p:sp>
      <p:sp>
        <p:nvSpPr>
          <p:cNvPr id="6" name="Text 4"/>
          <p:cNvSpPr txBox="1"/>
          <p:nvPr/>
        </p:nvSpPr>
        <p:spPr>
          <a:xfrm>
            <a:off x="594360" y="4983480"/>
            <a:ext cx="3474720" cy="256032"/>
          </a:xfrm>
          <a:prstGeom prst="rect">
            <a:avLst/>
          </a:prstGeom>
          <a:noFill/>
          <a:ln/>
        </p:spPr>
        <p:txBody>
          <a:bodyPr wrap="square" lIns="0" tIns="0" rIns="0" bIns="0" rtlCol="0" anchor="t"/>
          <a:lstStyle/>
          <a:p>
            <a:pPr indent="0" marL="0">
              <a:buNone/>
            </a:pPr>
            <a:r>
              <a:rPr lang="en-US" sz="1050" b="1" spc="120" kern="0" dirty="0">
                <a:solidFill>
                  <a:srgbClr val="5B6472"/>
                </a:solidFill>
                <a:latin typeface="Arial" pitchFamily="34" charset="0"/>
                <a:ea typeface="Arial" pitchFamily="34" charset="-122"/>
                <a:cs typeface="Arial" pitchFamily="34" charset="-120"/>
              </a:rPr>
              <a:t>FAUSTREGEL · McKINNEY (2018, S. 71)</a:t>
            </a:r>
            <a:endParaRPr lang="en-US" sz="1050" dirty="0"/>
          </a:p>
        </p:txBody>
      </p:sp>
      <p:sp>
        <p:nvSpPr>
          <p:cNvPr id="7" name="Shape 5"/>
          <p:cNvSpPr/>
          <p:nvPr/>
        </p:nvSpPr>
        <p:spPr>
          <a:xfrm>
            <a:off x="4572000" y="868680"/>
            <a:ext cx="7022592" cy="0"/>
          </a:xfrm>
          <a:prstGeom prst="line">
            <a:avLst/>
          </a:prstGeom>
          <a:noFill/>
          <a:ln w="15875">
            <a:solidFill>
              <a:srgbClr val="111827"/>
            </a:solidFill>
            <a:prstDash val="solid"/>
          </a:ln>
        </p:spPr>
      </p:sp>
      <p:sp>
        <p:nvSpPr>
          <p:cNvPr id="8" name="Text 6"/>
          <p:cNvSpPr txBox="1"/>
          <p:nvPr/>
        </p:nvSpPr>
        <p:spPr>
          <a:xfrm>
            <a:off x="4572000" y="1033272"/>
            <a:ext cx="1783080" cy="640080"/>
          </a:xfrm>
          <a:prstGeom prst="rect">
            <a:avLst/>
          </a:prstGeom>
          <a:noFill/>
          <a:ln/>
        </p:spPr>
        <p:txBody>
          <a:bodyPr wrap="square" lIns="0" tIns="0" rIns="0" bIns="0" rtlCol="0" anchor="t"/>
          <a:lstStyle/>
          <a:p>
            <a:pPr indent="0" marL="0">
              <a:lnSpc>
                <a:spcPct val="105000"/>
              </a:lnSpc>
              <a:buNone/>
            </a:pPr>
            <a:r>
              <a:rPr lang="en-US" sz="1500" b="1" dirty="0">
                <a:solidFill>
                  <a:srgbClr val="111827"/>
                </a:solidFill>
                <a:latin typeface="Arial" pitchFamily="34" charset="0"/>
                <a:ea typeface="Arial" pitchFamily="34" charset="-122"/>
                <a:cs typeface="Arial" pitchFamily="34" charset="-120"/>
              </a:rPr>
              <a:t>Funktionen als Objekte</a:t>
            </a:r>
            <a:endParaRPr lang="en-US" sz="1500" dirty="0"/>
          </a:p>
        </p:txBody>
      </p:sp>
      <p:sp>
        <p:nvSpPr>
          <p:cNvPr id="9" name="Text 7"/>
          <p:cNvSpPr txBox="1"/>
          <p:nvPr/>
        </p:nvSpPr>
        <p:spPr>
          <a:xfrm>
            <a:off x="6446520" y="1033272"/>
            <a:ext cx="4160520" cy="274320"/>
          </a:xfrm>
          <a:prstGeom prst="rect">
            <a:avLst/>
          </a:prstGeom>
          <a:noFill/>
          <a:ln/>
        </p:spPr>
        <p:txBody>
          <a:bodyPr wrap="square" lIns="0" tIns="0" rIns="0" bIns="0" rtlCol="0" anchor="t"/>
          <a:lstStyle/>
          <a:p>
            <a:pPr indent="0" marL="0">
              <a:buNone/>
            </a:pPr>
            <a:r>
              <a:rPr lang="en-US" sz="1100" b="1" dirty="0">
                <a:solidFill>
                  <a:srgbClr val="B93C17"/>
                </a:solidFill>
                <a:latin typeface="Courier New" pitchFamily="34" charset="0"/>
                <a:ea typeface="Courier New" pitchFamily="34" charset="-122"/>
                <a:cs typeface="Courier New" pitchFamily="34" charset="-120"/>
              </a:rPr>
              <a:t>[str.strip, entferne_prozentzeichen, in_anteil]</a:t>
            </a:r>
            <a:endParaRPr lang="en-US" sz="1100" dirty="0"/>
          </a:p>
        </p:txBody>
      </p:sp>
      <p:sp>
        <p:nvSpPr>
          <p:cNvPr id="10" name="Text 8"/>
          <p:cNvSpPr txBox="1"/>
          <p:nvPr/>
        </p:nvSpPr>
        <p:spPr>
          <a:xfrm>
            <a:off x="6446520" y="1325880"/>
            <a:ext cx="4160520" cy="457200"/>
          </a:xfrm>
          <a:prstGeom prst="rect">
            <a:avLst/>
          </a:prstGeom>
          <a:noFill/>
          <a:ln/>
        </p:spPr>
        <p:txBody>
          <a:bodyPr wrap="square" lIns="0" tIns="0" rIns="0" bIns="0" rtlCol="0" anchor="t"/>
          <a:lstStyle/>
          <a:p>
            <a:pPr indent="0" marL="0">
              <a:buNone/>
            </a:pPr>
            <a:r>
              <a:rPr lang="en-US" sz="1300" dirty="0">
                <a:solidFill>
                  <a:srgbClr val="5B6472"/>
                </a:solidFill>
                <a:latin typeface="Arial" pitchFamily="34" charset="0"/>
                <a:ea typeface="Arial" pitchFamily="34" charset="-122"/>
                <a:cs typeface="Arial" pitchFamily="34" charset="-120"/>
              </a:rPr>
              <a:t>Bereinigungsschritte als Liste, nacheinander angewendet</a:t>
            </a:r>
            <a:endParaRPr lang="en-US" sz="1300" dirty="0"/>
          </a:p>
        </p:txBody>
      </p:sp>
      <p:sp>
        <p:nvSpPr>
          <p:cNvPr id="11" name="Text 9"/>
          <p:cNvSpPr txBox="1"/>
          <p:nvPr/>
        </p:nvSpPr>
        <p:spPr>
          <a:xfrm>
            <a:off x="10607040" y="1033272"/>
            <a:ext cx="987552" cy="27432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S. 74–75</a:t>
            </a:r>
            <a:endParaRPr lang="en-US" sz="1200" dirty="0"/>
          </a:p>
        </p:txBody>
      </p:sp>
      <p:sp>
        <p:nvSpPr>
          <p:cNvPr id="12" name="Shape 10"/>
          <p:cNvSpPr/>
          <p:nvPr/>
        </p:nvSpPr>
        <p:spPr>
          <a:xfrm>
            <a:off x="4572000" y="1874520"/>
            <a:ext cx="7022592" cy="0"/>
          </a:xfrm>
          <a:prstGeom prst="line">
            <a:avLst/>
          </a:prstGeom>
          <a:noFill/>
          <a:ln w="9525">
            <a:solidFill>
              <a:srgbClr val="D5DAE1"/>
            </a:solidFill>
            <a:prstDash val="solid"/>
          </a:ln>
        </p:spPr>
      </p:sp>
      <p:sp>
        <p:nvSpPr>
          <p:cNvPr id="13" name="Text 11"/>
          <p:cNvSpPr txBox="1"/>
          <p:nvPr/>
        </p:nvSpPr>
        <p:spPr>
          <a:xfrm>
            <a:off x="4572000" y="2039112"/>
            <a:ext cx="1783080" cy="640080"/>
          </a:xfrm>
          <a:prstGeom prst="rect">
            <a:avLst/>
          </a:prstGeom>
          <a:noFill/>
          <a:ln/>
        </p:spPr>
        <p:txBody>
          <a:bodyPr wrap="square" lIns="0" tIns="0" rIns="0" bIns="0" rtlCol="0" anchor="t"/>
          <a:lstStyle/>
          <a:p>
            <a:pPr indent="0" marL="0">
              <a:lnSpc>
                <a:spcPct val="105000"/>
              </a:lnSpc>
              <a:buNone/>
            </a:pPr>
            <a:r>
              <a:rPr lang="en-US" sz="1500" b="1" dirty="0">
                <a:solidFill>
                  <a:srgbClr val="111827"/>
                </a:solidFill>
                <a:latin typeface="Arial" pitchFamily="34" charset="0"/>
                <a:ea typeface="Arial" pitchFamily="34" charset="-122"/>
                <a:cs typeface="Arial" pitchFamily="34" charset="-120"/>
              </a:rPr>
              <a:t>Lambda-Funktionen</a:t>
            </a:r>
            <a:endParaRPr lang="en-US" sz="1500" dirty="0"/>
          </a:p>
        </p:txBody>
      </p:sp>
      <p:sp>
        <p:nvSpPr>
          <p:cNvPr id="14" name="Text 12"/>
          <p:cNvSpPr txBox="1"/>
          <p:nvPr/>
        </p:nvSpPr>
        <p:spPr>
          <a:xfrm>
            <a:off x="6446520" y="2039112"/>
            <a:ext cx="4160520" cy="274320"/>
          </a:xfrm>
          <a:prstGeom prst="rect">
            <a:avLst/>
          </a:prstGeom>
          <a:noFill/>
          <a:ln/>
        </p:spPr>
        <p:txBody>
          <a:bodyPr wrap="square" lIns="0" tIns="0" rIns="0" bIns="0" rtlCol="0" anchor="t"/>
          <a:lstStyle/>
          <a:p>
            <a:pPr indent="0" marL="0">
              <a:buNone/>
            </a:pPr>
            <a:r>
              <a:rPr lang="en-US" sz="1100" b="1" dirty="0">
                <a:solidFill>
                  <a:srgbClr val="B93C17"/>
                </a:solidFill>
                <a:latin typeface="Courier New" pitchFamily="34" charset="0"/>
                <a:ea typeface="Courier New" pitchFamily="34" charset="-122"/>
                <a:cs typeface="Courier New" pitchFamily="34" charset="-120"/>
              </a:rPr>
              <a:t>prozent = lambda x: f"{x:.1%}"</a:t>
            </a:r>
            <a:endParaRPr lang="en-US" sz="1100" dirty="0"/>
          </a:p>
        </p:txBody>
      </p:sp>
      <p:sp>
        <p:nvSpPr>
          <p:cNvPr id="15" name="Text 13"/>
          <p:cNvSpPr txBox="1"/>
          <p:nvPr/>
        </p:nvSpPr>
        <p:spPr>
          <a:xfrm>
            <a:off x="6446520" y="2331720"/>
            <a:ext cx="4160520" cy="457200"/>
          </a:xfrm>
          <a:prstGeom prst="rect">
            <a:avLst/>
          </a:prstGeom>
          <a:noFill/>
          <a:ln/>
        </p:spPr>
        <p:txBody>
          <a:bodyPr wrap="square" lIns="0" tIns="0" rIns="0" bIns="0" rtlCol="0" anchor="t"/>
          <a:lstStyle/>
          <a:p>
            <a:pPr indent="0" marL="0">
              <a:buNone/>
            </a:pPr>
            <a:r>
              <a:rPr lang="en-US" sz="1300" dirty="0">
                <a:solidFill>
                  <a:srgbClr val="5B6472"/>
                </a:solidFill>
                <a:latin typeface="Arial" pitchFamily="34" charset="0"/>
                <a:ea typeface="Arial" pitchFamily="34" charset="-122"/>
                <a:cs typeface="Arial" pitchFamily="34" charset="-120"/>
              </a:rPr>
              <a:t>Einzeiler als Argument, z. B. für Beschriftungen</a:t>
            </a:r>
            <a:endParaRPr lang="en-US" sz="1300" dirty="0"/>
          </a:p>
        </p:txBody>
      </p:sp>
      <p:sp>
        <p:nvSpPr>
          <p:cNvPr id="16" name="Text 14"/>
          <p:cNvSpPr txBox="1"/>
          <p:nvPr/>
        </p:nvSpPr>
        <p:spPr>
          <a:xfrm>
            <a:off x="10607040" y="2039112"/>
            <a:ext cx="987552" cy="27432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S. 75–76</a:t>
            </a:r>
            <a:endParaRPr lang="en-US" sz="1200" dirty="0"/>
          </a:p>
        </p:txBody>
      </p:sp>
      <p:sp>
        <p:nvSpPr>
          <p:cNvPr id="17" name="Shape 15"/>
          <p:cNvSpPr/>
          <p:nvPr/>
        </p:nvSpPr>
        <p:spPr>
          <a:xfrm>
            <a:off x="4572000" y="2880360"/>
            <a:ext cx="7022592" cy="0"/>
          </a:xfrm>
          <a:prstGeom prst="line">
            <a:avLst/>
          </a:prstGeom>
          <a:noFill/>
          <a:ln w="9525">
            <a:solidFill>
              <a:srgbClr val="D5DAE1"/>
            </a:solidFill>
            <a:prstDash val="solid"/>
          </a:ln>
        </p:spPr>
      </p:sp>
      <p:sp>
        <p:nvSpPr>
          <p:cNvPr id="18" name="Text 16"/>
          <p:cNvSpPr txBox="1"/>
          <p:nvPr/>
        </p:nvSpPr>
        <p:spPr>
          <a:xfrm>
            <a:off x="4572000" y="3044952"/>
            <a:ext cx="1783080" cy="640080"/>
          </a:xfrm>
          <a:prstGeom prst="rect">
            <a:avLst/>
          </a:prstGeom>
          <a:noFill/>
          <a:ln/>
        </p:spPr>
        <p:txBody>
          <a:bodyPr wrap="square" lIns="0" tIns="0" rIns="0" bIns="0" rtlCol="0" anchor="t"/>
          <a:lstStyle/>
          <a:p>
            <a:pPr indent="0" marL="0">
              <a:lnSpc>
                <a:spcPct val="105000"/>
              </a:lnSpc>
              <a:buNone/>
            </a:pPr>
            <a:r>
              <a:rPr lang="en-US" sz="1500" b="1" dirty="0">
                <a:solidFill>
                  <a:srgbClr val="111827"/>
                </a:solidFill>
                <a:latin typeface="Arial" pitchFamily="34" charset="0"/>
                <a:ea typeface="Arial" pitchFamily="34" charset="-122"/>
                <a:cs typeface="Arial" pitchFamily="34" charset="-120"/>
              </a:rPr>
              <a:t>Currying mit partial</a:t>
            </a:r>
            <a:endParaRPr lang="en-US" sz="1500" dirty="0"/>
          </a:p>
        </p:txBody>
      </p:sp>
      <p:sp>
        <p:nvSpPr>
          <p:cNvPr id="19" name="Text 17"/>
          <p:cNvSpPr txBox="1"/>
          <p:nvPr/>
        </p:nvSpPr>
        <p:spPr>
          <a:xfrm>
            <a:off x="6446520" y="3044952"/>
            <a:ext cx="4160520" cy="274320"/>
          </a:xfrm>
          <a:prstGeom prst="rect">
            <a:avLst/>
          </a:prstGeom>
          <a:noFill/>
          <a:ln/>
        </p:spPr>
        <p:txBody>
          <a:bodyPr wrap="square" lIns="0" tIns="0" rIns="0" bIns="0" rtlCol="0" anchor="t"/>
          <a:lstStyle/>
          <a:p>
            <a:pPr indent="0" marL="0">
              <a:buNone/>
            </a:pPr>
            <a:r>
              <a:rPr lang="en-US" sz="1100" b="1" dirty="0">
                <a:solidFill>
                  <a:srgbClr val="B93C17"/>
                </a:solidFill>
                <a:latin typeface="Courier New" pitchFamily="34" charset="0"/>
                <a:ea typeface="Courier New" pitchFamily="34" charset="-122"/>
                <a:cs typeface="Courier New" pitchFamily="34" charset="-120"/>
              </a:rPr>
              <a:t>partial(bedingte_quote, geschlecht="Frauen")</a:t>
            </a:r>
            <a:endParaRPr lang="en-US" sz="1100" dirty="0"/>
          </a:p>
        </p:txBody>
      </p:sp>
      <p:sp>
        <p:nvSpPr>
          <p:cNvPr id="20" name="Text 18"/>
          <p:cNvSpPr txBox="1"/>
          <p:nvPr/>
        </p:nvSpPr>
        <p:spPr>
          <a:xfrm>
            <a:off x="6446520" y="3337560"/>
            <a:ext cx="4160520" cy="457200"/>
          </a:xfrm>
          <a:prstGeom prst="rect">
            <a:avLst/>
          </a:prstGeom>
          <a:noFill/>
          <a:ln/>
        </p:spPr>
        <p:txBody>
          <a:bodyPr wrap="square" lIns="0" tIns="0" rIns="0" bIns="0" rtlCol="0" anchor="t"/>
          <a:lstStyle/>
          <a:p>
            <a:pPr indent="0" marL="0">
              <a:buNone/>
            </a:pPr>
            <a:r>
              <a:rPr lang="en-US" sz="1300" dirty="0">
                <a:solidFill>
                  <a:srgbClr val="5B6472"/>
                </a:solidFill>
                <a:latin typeface="Arial" pitchFamily="34" charset="0"/>
                <a:ea typeface="Arial" pitchFamily="34" charset="-122"/>
                <a:cs typeface="Arial" pitchFamily="34" charset="-120"/>
              </a:rPr>
              <a:t>Aus einer allgemeinen Funktion wird P(Z | W)</a:t>
            </a:r>
            <a:endParaRPr lang="en-US" sz="1300" dirty="0"/>
          </a:p>
        </p:txBody>
      </p:sp>
      <p:sp>
        <p:nvSpPr>
          <p:cNvPr id="21" name="Text 19"/>
          <p:cNvSpPr txBox="1"/>
          <p:nvPr/>
        </p:nvSpPr>
        <p:spPr>
          <a:xfrm>
            <a:off x="10607040" y="3044952"/>
            <a:ext cx="987552" cy="27432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S. 76–77</a:t>
            </a:r>
            <a:endParaRPr lang="en-US" sz="1200" dirty="0"/>
          </a:p>
        </p:txBody>
      </p:sp>
      <p:sp>
        <p:nvSpPr>
          <p:cNvPr id="22" name="Shape 20"/>
          <p:cNvSpPr/>
          <p:nvPr/>
        </p:nvSpPr>
        <p:spPr>
          <a:xfrm>
            <a:off x="4572000" y="3886200"/>
            <a:ext cx="7022592" cy="0"/>
          </a:xfrm>
          <a:prstGeom prst="line">
            <a:avLst/>
          </a:prstGeom>
          <a:noFill/>
          <a:ln w="9525">
            <a:solidFill>
              <a:srgbClr val="D5DAE1"/>
            </a:solidFill>
            <a:prstDash val="solid"/>
          </a:ln>
        </p:spPr>
      </p:sp>
      <p:sp>
        <p:nvSpPr>
          <p:cNvPr id="23" name="Text 21"/>
          <p:cNvSpPr txBox="1"/>
          <p:nvPr/>
        </p:nvSpPr>
        <p:spPr>
          <a:xfrm>
            <a:off x="4572000" y="4050792"/>
            <a:ext cx="1783080" cy="640080"/>
          </a:xfrm>
          <a:prstGeom prst="rect">
            <a:avLst/>
          </a:prstGeom>
          <a:noFill/>
          <a:ln/>
        </p:spPr>
        <p:txBody>
          <a:bodyPr wrap="square" lIns="0" tIns="0" rIns="0" bIns="0" rtlCol="0" anchor="t"/>
          <a:lstStyle/>
          <a:p>
            <a:pPr indent="0" marL="0">
              <a:lnSpc>
                <a:spcPct val="105000"/>
              </a:lnSpc>
              <a:buNone/>
            </a:pPr>
            <a:r>
              <a:rPr lang="en-US" sz="1500" b="1" dirty="0">
                <a:solidFill>
                  <a:srgbClr val="111827"/>
                </a:solidFill>
                <a:latin typeface="Arial" pitchFamily="34" charset="0"/>
                <a:ea typeface="Arial" pitchFamily="34" charset="-122"/>
                <a:cs typeface="Arial" pitchFamily="34" charset="-120"/>
              </a:rPr>
              <a:t>Generator mit yield</a:t>
            </a:r>
            <a:endParaRPr lang="en-US" sz="1500" dirty="0"/>
          </a:p>
        </p:txBody>
      </p:sp>
      <p:sp>
        <p:nvSpPr>
          <p:cNvPr id="24" name="Text 22"/>
          <p:cNvSpPr txBox="1"/>
          <p:nvPr/>
        </p:nvSpPr>
        <p:spPr>
          <a:xfrm>
            <a:off x="6446520" y="4050792"/>
            <a:ext cx="4160520" cy="274320"/>
          </a:xfrm>
          <a:prstGeom prst="rect">
            <a:avLst/>
          </a:prstGeom>
          <a:noFill/>
          <a:ln/>
        </p:spPr>
        <p:txBody>
          <a:bodyPr wrap="square" lIns="0" tIns="0" rIns="0" bIns="0" rtlCol="0" anchor="t"/>
          <a:lstStyle/>
          <a:p>
            <a:pPr indent="0" marL="0">
              <a:buNone/>
            </a:pPr>
            <a:r>
              <a:rPr lang="en-US" sz="1100" b="1" dirty="0">
                <a:solidFill>
                  <a:srgbClr val="B93C17"/>
                </a:solidFill>
                <a:latin typeface="Courier New" pitchFamily="34" charset="0"/>
                <a:ea typeface="Courier New" pitchFamily="34" charset="-122"/>
                <a:cs typeface="Courier New" pitchFamily="34" charset="-120"/>
              </a:rPr>
              <a:t>yield fb, pruefe_unabhaengigkeit(...)</a:t>
            </a:r>
            <a:endParaRPr lang="en-US" sz="1100" dirty="0"/>
          </a:p>
        </p:txBody>
      </p:sp>
      <p:sp>
        <p:nvSpPr>
          <p:cNvPr id="25" name="Text 23"/>
          <p:cNvSpPr txBox="1"/>
          <p:nvPr/>
        </p:nvSpPr>
        <p:spPr>
          <a:xfrm>
            <a:off x="6446520" y="4343400"/>
            <a:ext cx="4160520" cy="457200"/>
          </a:xfrm>
          <a:prstGeom prst="rect">
            <a:avLst/>
          </a:prstGeom>
          <a:noFill/>
          <a:ln/>
        </p:spPr>
        <p:txBody>
          <a:bodyPr wrap="square" lIns="0" tIns="0" rIns="0" bIns="0" rtlCol="0" anchor="t"/>
          <a:lstStyle/>
          <a:p>
            <a:pPr indent="0" marL="0">
              <a:buNone/>
            </a:pPr>
            <a:r>
              <a:rPr lang="en-US" sz="1300" dirty="0">
                <a:solidFill>
                  <a:srgbClr val="5B6472"/>
                </a:solidFill>
                <a:latin typeface="Arial" pitchFamily="34" charset="0"/>
                <a:ea typeface="Arial" pitchFamily="34" charset="-122"/>
                <a:cs typeface="Arial" pitchFamily="34" charset="-120"/>
              </a:rPr>
              <a:t>Liefert Fachbereich für Fachbereich, erst auf Anfrage</a:t>
            </a:r>
            <a:endParaRPr lang="en-US" sz="1300" dirty="0"/>
          </a:p>
        </p:txBody>
      </p:sp>
      <p:sp>
        <p:nvSpPr>
          <p:cNvPr id="26" name="Text 24"/>
          <p:cNvSpPr txBox="1"/>
          <p:nvPr/>
        </p:nvSpPr>
        <p:spPr>
          <a:xfrm>
            <a:off x="10607040" y="4050792"/>
            <a:ext cx="987552" cy="27432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S. 77–78</a:t>
            </a:r>
            <a:endParaRPr lang="en-US" sz="1200" dirty="0"/>
          </a:p>
        </p:txBody>
      </p:sp>
      <p:sp>
        <p:nvSpPr>
          <p:cNvPr id="27" name="Shape 25"/>
          <p:cNvSpPr/>
          <p:nvPr/>
        </p:nvSpPr>
        <p:spPr>
          <a:xfrm>
            <a:off x="4572000" y="4892040"/>
            <a:ext cx="7022592" cy="0"/>
          </a:xfrm>
          <a:prstGeom prst="line">
            <a:avLst/>
          </a:prstGeom>
          <a:noFill/>
          <a:ln w="9525">
            <a:solidFill>
              <a:srgbClr val="D5DAE1"/>
            </a:solidFill>
            <a:prstDash val="solid"/>
          </a:ln>
        </p:spPr>
      </p:sp>
      <p:sp>
        <p:nvSpPr>
          <p:cNvPr id="28" name="Text 26"/>
          <p:cNvSpPr txBox="1"/>
          <p:nvPr/>
        </p:nvSpPr>
        <p:spPr>
          <a:xfrm>
            <a:off x="4572000" y="5056632"/>
            <a:ext cx="1783080" cy="640080"/>
          </a:xfrm>
          <a:prstGeom prst="rect">
            <a:avLst/>
          </a:prstGeom>
          <a:noFill/>
          <a:ln/>
        </p:spPr>
        <p:txBody>
          <a:bodyPr wrap="square" lIns="0" tIns="0" rIns="0" bIns="0" rtlCol="0" anchor="t"/>
          <a:lstStyle/>
          <a:p>
            <a:pPr indent="0" marL="0">
              <a:lnSpc>
                <a:spcPct val="105000"/>
              </a:lnSpc>
              <a:buNone/>
            </a:pPr>
            <a:r>
              <a:rPr lang="en-US" sz="1500" b="1" dirty="0">
                <a:solidFill>
                  <a:srgbClr val="111827"/>
                </a:solidFill>
                <a:latin typeface="Arial" pitchFamily="34" charset="0"/>
                <a:ea typeface="Arial" pitchFamily="34" charset="-122"/>
                <a:cs typeface="Arial" pitchFamily="34" charset="-120"/>
              </a:rPr>
              <a:t>Fehlerbehandlung</a:t>
            </a:r>
            <a:endParaRPr lang="en-US" sz="1500" dirty="0"/>
          </a:p>
        </p:txBody>
      </p:sp>
      <p:sp>
        <p:nvSpPr>
          <p:cNvPr id="29" name="Text 27"/>
          <p:cNvSpPr txBox="1"/>
          <p:nvPr/>
        </p:nvSpPr>
        <p:spPr>
          <a:xfrm>
            <a:off x="6446520" y="5056632"/>
            <a:ext cx="4160520" cy="274320"/>
          </a:xfrm>
          <a:prstGeom prst="rect">
            <a:avLst/>
          </a:prstGeom>
          <a:noFill/>
          <a:ln/>
        </p:spPr>
        <p:txBody>
          <a:bodyPr wrap="square" lIns="0" tIns="0" rIns="0" bIns="0" rtlCol="0" anchor="t"/>
          <a:lstStyle/>
          <a:p>
            <a:pPr indent="0" marL="0">
              <a:buNone/>
            </a:pPr>
            <a:r>
              <a:rPr lang="en-US" sz="1100" b="1" dirty="0">
                <a:solidFill>
                  <a:srgbClr val="B93C17"/>
                </a:solidFill>
                <a:latin typeface="Courier New" pitchFamily="34" charset="0"/>
                <a:ea typeface="Courier New" pitchFamily="34" charset="-122"/>
                <a:cs typeface="Courier New" pitchFamily="34" charset="-120"/>
              </a:rPr>
              <a:t>except ValueError:</a:t>
            </a:r>
            <a:endParaRPr lang="en-US" sz="1100" dirty="0"/>
          </a:p>
        </p:txBody>
      </p:sp>
      <p:sp>
        <p:nvSpPr>
          <p:cNvPr id="30" name="Text 28"/>
          <p:cNvSpPr txBox="1"/>
          <p:nvPr/>
        </p:nvSpPr>
        <p:spPr>
          <a:xfrm>
            <a:off x="6446520" y="5349240"/>
            <a:ext cx="4160520" cy="457200"/>
          </a:xfrm>
          <a:prstGeom prst="rect">
            <a:avLst/>
          </a:prstGeom>
          <a:noFill/>
          <a:ln/>
        </p:spPr>
        <p:txBody>
          <a:bodyPr wrap="square" lIns="0" tIns="0" rIns="0" bIns="0" rtlCol="0" anchor="t"/>
          <a:lstStyle/>
          <a:p>
            <a:pPr indent="0" marL="0">
              <a:buNone/>
            </a:pPr>
            <a:r>
              <a:rPr lang="en-US" sz="1300" dirty="0">
                <a:solidFill>
                  <a:srgbClr val="5B6472"/>
                </a:solidFill>
                <a:latin typeface="Arial" pitchFamily="34" charset="0"/>
                <a:ea typeface="Arial" pitchFamily="34" charset="-122"/>
                <a:cs typeface="Arial" pitchFamily="34" charset="-120"/>
              </a:rPr>
              <a:t>Nur den erwarteten Fehler abfangen: Tippfehler in Tabelle 4 fallen auf</a:t>
            </a:r>
            <a:endParaRPr lang="en-US" sz="1300" dirty="0"/>
          </a:p>
        </p:txBody>
      </p:sp>
      <p:sp>
        <p:nvSpPr>
          <p:cNvPr id="31" name="Text 29"/>
          <p:cNvSpPr txBox="1"/>
          <p:nvPr/>
        </p:nvSpPr>
        <p:spPr>
          <a:xfrm>
            <a:off x="10607040" y="5056632"/>
            <a:ext cx="987552" cy="27432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S. 79–81</a:t>
            </a:r>
            <a:endParaRPr lang="en-US" sz="1200" dirty="0"/>
          </a:p>
        </p:txBody>
      </p:sp>
      <p:sp>
        <p:nvSpPr>
          <p:cNvPr id="32" name="Shape 30"/>
          <p:cNvSpPr/>
          <p:nvPr/>
        </p:nvSpPr>
        <p:spPr>
          <a:xfrm>
            <a:off x="4572000" y="5897880"/>
            <a:ext cx="7022592" cy="0"/>
          </a:xfrm>
          <a:prstGeom prst="line">
            <a:avLst/>
          </a:prstGeom>
          <a:noFill/>
          <a:ln w="9525">
            <a:solidFill>
              <a:srgbClr val="D5DAE1"/>
            </a:solidFill>
            <a:prstDash val="solid"/>
          </a:ln>
        </p:spPr>
      </p:sp>
      <p:sp>
        <p:nvSpPr>
          <p:cNvPr id="33" name="Text 31"/>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Quelle: McKinney (2018, S. 71–81); Code: eigenes Notebook</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4F7"/>
        </a:solidFill>
      </p:bgPr>
    </p:bg>
    <p:spTree>
      <p:nvGrpSpPr>
        <p:cNvPr id="1" name=""/>
        <p:cNvGrpSpPr/>
        <p:nvPr/>
      </p:nvGrpSpPr>
      <p:grpSpPr>
        <a:xfrm>
          <a:off x="0" y="0"/>
          <a:ext cx="0" cy="0"/>
          <a:chOff x="0" y="0"/>
          <a:chExt cx="0" cy="0"/>
        </a:xfrm>
      </p:grpSpPr>
      <p:sp>
        <p:nvSpPr>
          <p:cNvPr id="2" name="Text 0"/>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07 / 18</a:t>
            </a:r>
            <a:endParaRPr lang="en-US" sz="1050" dirty="0"/>
          </a:p>
        </p:txBody>
      </p:sp>
      <p:sp>
        <p:nvSpPr>
          <p:cNvPr id="3" name="Text 1"/>
          <p:cNvSpPr txBox="1"/>
          <p:nvPr/>
        </p:nvSpPr>
        <p:spPr>
          <a:xfrm>
            <a:off x="320040" y="502920"/>
            <a:ext cx="4023360" cy="5120640"/>
          </a:xfrm>
          <a:prstGeom prst="rect">
            <a:avLst/>
          </a:prstGeom>
          <a:noFill/>
          <a:ln/>
        </p:spPr>
        <p:txBody>
          <a:bodyPr wrap="square" lIns="0" tIns="0" rIns="0" bIns="0" rtlCol="0" anchor="ctr"/>
          <a:lstStyle/>
          <a:p>
            <a:pPr indent="0" marL="0">
              <a:buNone/>
            </a:pPr>
            <a:r>
              <a:rPr lang="en-US" sz="30000" b="1" dirty="0">
                <a:solidFill>
                  <a:srgbClr val="E4572E"/>
                </a:solidFill>
                <a:latin typeface="Arial" pitchFamily="34" charset="0"/>
                <a:ea typeface="Arial" pitchFamily="34" charset="-122"/>
                <a:cs typeface="Arial" pitchFamily="34" charset="-120"/>
              </a:rPr>
              <a:t>b</a:t>
            </a:r>
            <a:endParaRPr lang="en-US" sz="30000" dirty="0"/>
          </a:p>
        </p:txBody>
      </p:sp>
      <p:sp>
        <p:nvSpPr>
          <p:cNvPr id="4" name="Text 2"/>
          <p:cNvSpPr txBox="1"/>
          <p:nvPr/>
        </p:nvSpPr>
        <p:spPr>
          <a:xfrm>
            <a:off x="4754880" y="2148840"/>
            <a:ext cx="5486400" cy="274320"/>
          </a:xfrm>
          <a:prstGeom prst="rect">
            <a:avLst/>
          </a:prstGeom>
          <a:noFill/>
          <a:ln/>
        </p:spPr>
        <p:txBody>
          <a:bodyPr wrap="square" lIns="0" tIns="0" rIns="0" bIns="0" rtlCol="0" anchor="t"/>
          <a:lstStyle/>
          <a:p>
            <a:pPr indent="0" marL="0">
              <a:buNone/>
            </a:pPr>
            <a:r>
              <a:rPr lang="en-US" sz="1100" b="1" spc="150" kern="0" dirty="0">
                <a:solidFill>
                  <a:srgbClr val="5B6472"/>
                </a:solidFill>
                <a:latin typeface="Arial" pitchFamily="34" charset="0"/>
                <a:ea typeface="Arial" pitchFamily="34" charset="-122"/>
                <a:cs typeface="Arial" pitchFamily="34" charset="-120"/>
              </a:rPr>
              <a:t>AUFGABE B</a:t>
            </a:r>
            <a:endParaRPr lang="en-US" sz="1100" dirty="0"/>
          </a:p>
        </p:txBody>
      </p:sp>
      <p:sp>
        <p:nvSpPr>
          <p:cNvPr id="5" name="Text 3"/>
          <p:cNvSpPr txBox="1"/>
          <p:nvPr/>
        </p:nvSpPr>
        <p:spPr>
          <a:xfrm>
            <a:off x="4754880" y="2514600"/>
            <a:ext cx="6766560" cy="731520"/>
          </a:xfrm>
          <a:prstGeom prst="rect">
            <a:avLst/>
          </a:prstGeom>
          <a:noFill/>
          <a:ln/>
        </p:spPr>
        <p:txBody>
          <a:bodyPr wrap="square" lIns="0" tIns="0" rIns="0" bIns="0" rtlCol="0" anchor="t"/>
          <a:lstStyle/>
          <a:p>
            <a:pPr indent="0" marL="0">
              <a:buNone/>
            </a:pPr>
            <a:r>
              <a:rPr lang="en-US" sz="4000" b="1" dirty="0">
                <a:solidFill>
                  <a:srgbClr val="111827"/>
                </a:solidFill>
                <a:latin typeface="Arial" pitchFamily="34" charset="0"/>
                <a:ea typeface="Arial" pitchFamily="34" charset="-122"/>
                <a:cs typeface="Arial" pitchFamily="34" charset="-120"/>
              </a:rPr>
              <a:t>Von den Daten zur Darstellung</a:t>
            </a:r>
            <a:endParaRPr lang="en-US" sz="4000" dirty="0"/>
          </a:p>
        </p:txBody>
      </p:sp>
      <p:sp>
        <p:nvSpPr>
          <p:cNvPr id="6" name="Text 4"/>
          <p:cNvSpPr txBox="1"/>
          <p:nvPr/>
        </p:nvSpPr>
        <p:spPr>
          <a:xfrm>
            <a:off x="4754880" y="3337560"/>
            <a:ext cx="6035040" cy="914400"/>
          </a:xfrm>
          <a:prstGeom prst="rect">
            <a:avLst/>
          </a:prstGeom>
          <a:noFill/>
          <a:ln/>
        </p:spPr>
        <p:txBody>
          <a:bodyPr wrap="square" lIns="0" tIns="0" rIns="0" bIns="0" rtlCol="0" anchor="t"/>
          <a:lstStyle/>
          <a:p>
            <a:pPr indent="0" marL="0">
              <a:lnSpc>
                <a:spcPct val="115000"/>
              </a:lnSpc>
              <a:buNone/>
            </a:pPr>
            <a:r>
              <a:rPr lang="en-US" sz="1800" dirty="0">
                <a:solidFill>
                  <a:srgbClr val="5B6472"/>
                </a:solidFill>
                <a:latin typeface="Arial" pitchFamily="34" charset="0"/>
                <a:ea typeface="Arial" pitchFamily="34" charset="-122"/>
                <a:cs typeface="Arial" pitchFamily="34" charset="-120"/>
              </a:rPr>
              <a:t>Vorüberlegungen zur Umsetzung und die scheinbare Ungerechtigkeit</a:t>
            </a:r>
            <a:endParaRPr lang="en-US" sz="1800" dirty="0"/>
          </a:p>
        </p:txBody>
      </p:sp>
      <p:sp>
        <p:nvSpPr>
          <p:cNvPr id="7" name="Text 5"/>
          <p:cNvSpPr txBox="1"/>
          <p:nvPr/>
        </p:nvSpPr>
        <p:spPr>
          <a:xfrm>
            <a:off x="4754880" y="4480560"/>
            <a:ext cx="6035040" cy="320040"/>
          </a:xfrm>
          <a:prstGeom prst="rect">
            <a:avLst/>
          </a:prstGeom>
          <a:noFill/>
          <a:ln/>
        </p:spPr>
        <p:txBody>
          <a:bodyPr wrap="square" lIns="0" tIns="0" rIns="0" bIns="0" rtlCol="0" anchor="t"/>
          <a:lstStyle/>
          <a:p>
            <a:pPr indent="0" marL="0">
              <a:buNone/>
            </a:pPr>
            <a:r>
              <a:rPr lang="en-US" sz="1400" b="1" dirty="0">
                <a:solidFill>
                  <a:srgbClr val="111827"/>
                </a:solidFill>
                <a:latin typeface="Arial" pitchFamily="34" charset="0"/>
                <a:ea typeface="Arial" pitchFamily="34" charset="-122"/>
                <a:cs typeface="Arial" pitchFamily="34" charset="-120"/>
              </a:rPr>
              <a:t>Teoman-Doganay Lam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08 — VORÜBERLEGUNGEN ZUR UMSETZUNG</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08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Vom Aufgabenblatt zur Analyse in fünf Schritten</a:t>
            </a:r>
            <a:endParaRPr lang="en-US" sz="3000" dirty="0"/>
          </a:p>
        </p:txBody>
      </p:sp>
      <p:sp>
        <p:nvSpPr>
          <p:cNvPr id="5" name="Shape 3"/>
          <p:cNvSpPr/>
          <p:nvPr/>
        </p:nvSpPr>
        <p:spPr>
          <a:xfrm>
            <a:off x="841248" y="2148840"/>
            <a:ext cx="8961120" cy="0"/>
          </a:xfrm>
          <a:prstGeom prst="line">
            <a:avLst/>
          </a:prstGeom>
          <a:noFill/>
          <a:ln w="19050">
            <a:solidFill>
              <a:srgbClr val="D5DAE1"/>
            </a:solidFill>
            <a:prstDash val="solid"/>
          </a:ln>
        </p:spPr>
      </p:sp>
      <p:sp>
        <p:nvSpPr>
          <p:cNvPr id="6" name="Shape 4"/>
          <p:cNvSpPr/>
          <p:nvPr/>
        </p:nvSpPr>
        <p:spPr>
          <a:xfrm>
            <a:off x="594360" y="1901952"/>
            <a:ext cx="493776" cy="493776"/>
          </a:xfrm>
          <a:prstGeom prst="ellipse">
            <a:avLst/>
          </a:prstGeom>
          <a:solidFill>
            <a:srgbClr val="111827"/>
          </a:solidFill>
          <a:ln w="38100">
            <a:solidFill>
              <a:srgbClr val="FFFFFF"/>
            </a:solidFill>
            <a:prstDash val="solid"/>
          </a:ln>
        </p:spPr>
      </p:sp>
      <p:sp>
        <p:nvSpPr>
          <p:cNvPr id="7" name="Text 5"/>
          <p:cNvSpPr txBox="1"/>
          <p:nvPr/>
        </p:nvSpPr>
        <p:spPr>
          <a:xfrm>
            <a:off x="594360" y="1901952"/>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594360" y="2697480"/>
            <a:ext cx="2011680" cy="365760"/>
          </a:xfrm>
          <a:prstGeom prst="rect">
            <a:avLst/>
          </a:prstGeom>
          <a:noFill/>
          <a:ln/>
        </p:spPr>
        <p:txBody>
          <a:bodyPr wrap="square" lIns="0" tIns="0" rIns="0" bIns="0" rtlCol="0" anchor="t"/>
          <a:lstStyle/>
          <a:p>
            <a:pPr indent="0" marL="0">
              <a:buNone/>
            </a:pPr>
            <a:r>
              <a:rPr lang="en-US" sz="1900" b="1" dirty="0">
                <a:solidFill>
                  <a:srgbClr val="111827"/>
                </a:solidFill>
                <a:latin typeface="Arial" pitchFamily="34" charset="0"/>
                <a:ea typeface="Arial" pitchFamily="34" charset="-122"/>
                <a:cs typeface="Arial" pitchFamily="34" charset="-120"/>
              </a:rPr>
              <a:t>Erfassen</a:t>
            </a:r>
            <a:endParaRPr lang="en-US" sz="1900" dirty="0"/>
          </a:p>
        </p:txBody>
      </p:sp>
      <p:sp>
        <p:nvSpPr>
          <p:cNvPr id="9" name="Text 7"/>
          <p:cNvSpPr txBox="1"/>
          <p:nvPr/>
        </p:nvSpPr>
        <p:spPr>
          <a:xfrm>
            <a:off x="594360" y="3127248"/>
            <a:ext cx="196596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Tabelle 4 wortgetreu als Text, z. B. "82.4%"</a:t>
            </a:r>
            <a:endParaRPr lang="en-US" sz="1400" dirty="0"/>
          </a:p>
        </p:txBody>
      </p:sp>
      <p:sp>
        <p:nvSpPr>
          <p:cNvPr id="10" name="Shape 8"/>
          <p:cNvSpPr/>
          <p:nvPr/>
        </p:nvSpPr>
        <p:spPr>
          <a:xfrm>
            <a:off x="2834640" y="1901952"/>
            <a:ext cx="493776" cy="493776"/>
          </a:xfrm>
          <a:prstGeom prst="ellipse">
            <a:avLst/>
          </a:prstGeom>
          <a:solidFill>
            <a:srgbClr val="111827"/>
          </a:solidFill>
          <a:ln w="38100">
            <a:solidFill>
              <a:srgbClr val="FFFFFF"/>
            </a:solidFill>
            <a:prstDash val="solid"/>
          </a:ln>
        </p:spPr>
      </p:sp>
      <p:sp>
        <p:nvSpPr>
          <p:cNvPr id="11" name="Text 9"/>
          <p:cNvSpPr txBox="1"/>
          <p:nvPr/>
        </p:nvSpPr>
        <p:spPr>
          <a:xfrm>
            <a:off x="2834640" y="1901952"/>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2834640" y="2697480"/>
            <a:ext cx="2011680" cy="365760"/>
          </a:xfrm>
          <a:prstGeom prst="rect">
            <a:avLst/>
          </a:prstGeom>
          <a:noFill/>
          <a:ln/>
        </p:spPr>
        <p:txBody>
          <a:bodyPr wrap="square" lIns="0" tIns="0" rIns="0" bIns="0" rtlCol="0" anchor="t"/>
          <a:lstStyle/>
          <a:p>
            <a:pPr indent="0" marL="0">
              <a:buNone/>
            </a:pPr>
            <a:r>
              <a:rPr lang="en-US" sz="1900" b="1" dirty="0">
                <a:solidFill>
                  <a:srgbClr val="111827"/>
                </a:solidFill>
                <a:latin typeface="Arial" pitchFamily="34" charset="0"/>
                <a:ea typeface="Arial" pitchFamily="34" charset="-122"/>
                <a:cs typeface="Arial" pitchFamily="34" charset="-120"/>
              </a:rPr>
              <a:t>Bereinigen</a:t>
            </a:r>
            <a:endParaRPr lang="en-US" sz="1900" dirty="0"/>
          </a:p>
        </p:txBody>
      </p:sp>
      <p:sp>
        <p:nvSpPr>
          <p:cNvPr id="13" name="Text 11"/>
          <p:cNvSpPr txBox="1"/>
          <p:nvPr/>
        </p:nvSpPr>
        <p:spPr>
          <a:xfrm>
            <a:off x="2834640" y="3127248"/>
            <a:ext cx="196596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Eine Liste von Funktionen macht Zahlen daraus</a:t>
            </a:r>
            <a:endParaRPr lang="en-US" sz="1400" dirty="0"/>
          </a:p>
        </p:txBody>
      </p:sp>
      <p:sp>
        <p:nvSpPr>
          <p:cNvPr id="14" name="Shape 12"/>
          <p:cNvSpPr/>
          <p:nvPr/>
        </p:nvSpPr>
        <p:spPr>
          <a:xfrm>
            <a:off x="5074920" y="1901952"/>
            <a:ext cx="493776" cy="493776"/>
          </a:xfrm>
          <a:prstGeom prst="ellipse">
            <a:avLst/>
          </a:prstGeom>
          <a:solidFill>
            <a:srgbClr val="E4572E"/>
          </a:solidFill>
          <a:ln w="38100">
            <a:solidFill>
              <a:srgbClr val="FFFFFF"/>
            </a:solidFill>
            <a:prstDash val="solid"/>
          </a:ln>
        </p:spPr>
      </p:sp>
      <p:sp>
        <p:nvSpPr>
          <p:cNvPr id="15" name="Text 13"/>
          <p:cNvSpPr txBox="1"/>
          <p:nvPr/>
        </p:nvSpPr>
        <p:spPr>
          <a:xfrm>
            <a:off x="5074920" y="1901952"/>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txBox="1"/>
          <p:nvPr/>
        </p:nvSpPr>
        <p:spPr>
          <a:xfrm>
            <a:off x="5074920" y="2697480"/>
            <a:ext cx="2011680" cy="365760"/>
          </a:xfrm>
          <a:prstGeom prst="rect">
            <a:avLst/>
          </a:prstGeom>
          <a:noFill/>
          <a:ln/>
        </p:spPr>
        <p:txBody>
          <a:bodyPr wrap="square" lIns="0" tIns="0" rIns="0" bIns="0" rtlCol="0" anchor="t"/>
          <a:lstStyle/>
          <a:p>
            <a:pPr indent="0" marL="0">
              <a:buNone/>
            </a:pPr>
            <a:r>
              <a:rPr lang="en-US" sz="1900" b="1" dirty="0">
                <a:solidFill>
                  <a:srgbClr val="111827"/>
                </a:solidFill>
                <a:latin typeface="Arial" pitchFamily="34" charset="0"/>
                <a:ea typeface="Arial" pitchFamily="34" charset="-122"/>
                <a:cs typeface="Arial" pitchFamily="34" charset="-120"/>
              </a:rPr>
              <a:t>Prüfen</a:t>
            </a:r>
            <a:endParaRPr lang="en-US" sz="1900" dirty="0"/>
          </a:p>
        </p:txBody>
      </p:sp>
      <p:sp>
        <p:nvSpPr>
          <p:cNvPr id="17" name="Text 15"/>
          <p:cNvSpPr txBox="1"/>
          <p:nvPr/>
        </p:nvSpPr>
        <p:spPr>
          <a:xfrm>
            <a:off x="5074920" y="3127248"/>
            <a:ext cx="196596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Originaldaten gegen Tabelle 4: 0 Abweichungen</a:t>
            </a:r>
            <a:endParaRPr lang="en-US" sz="1400" dirty="0"/>
          </a:p>
        </p:txBody>
      </p:sp>
      <p:sp>
        <p:nvSpPr>
          <p:cNvPr id="18" name="Shape 16"/>
          <p:cNvSpPr/>
          <p:nvPr/>
        </p:nvSpPr>
        <p:spPr>
          <a:xfrm>
            <a:off x="7315200" y="1901952"/>
            <a:ext cx="493776" cy="493776"/>
          </a:xfrm>
          <a:prstGeom prst="ellipse">
            <a:avLst/>
          </a:prstGeom>
          <a:solidFill>
            <a:srgbClr val="111827"/>
          </a:solidFill>
          <a:ln w="38100">
            <a:solidFill>
              <a:srgbClr val="FFFFFF"/>
            </a:solidFill>
            <a:prstDash val="solid"/>
          </a:ln>
        </p:spPr>
      </p:sp>
      <p:sp>
        <p:nvSpPr>
          <p:cNvPr id="19" name="Text 17"/>
          <p:cNvSpPr txBox="1"/>
          <p:nvPr/>
        </p:nvSpPr>
        <p:spPr>
          <a:xfrm>
            <a:off x="7315200" y="1901952"/>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8"/>
          <p:cNvSpPr txBox="1"/>
          <p:nvPr/>
        </p:nvSpPr>
        <p:spPr>
          <a:xfrm>
            <a:off x="7315200" y="2697480"/>
            <a:ext cx="2011680" cy="365760"/>
          </a:xfrm>
          <a:prstGeom prst="rect">
            <a:avLst/>
          </a:prstGeom>
          <a:noFill/>
          <a:ln/>
        </p:spPr>
        <p:txBody>
          <a:bodyPr wrap="square" lIns="0" tIns="0" rIns="0" bIns="0" rtlCol="0" anchor="t"/>
          <a:lstStyle/>
          <a:p>
            <a:pPr indent="0" marL="0">
              <a:buNone/>
            </a:pPr>
            <a:r>
              <a:rPr lang="en-US" sz="1900" b="1" dirty="0">
                <a:solidFill>
                  <a:srgbClr val="111827"/>
                </a:solidFill>
                <a:latin typeface="Arial" pitchFamily="34" charset="0"/>
                <a:ea typeface="Arial" pitchFamily="34" charset="-122"/>
                <a:cs typeface="Arial" pitchFamily="34" charset="-120"/>
              </a:rPr>
              <a:t>Analysieren</a:t>
            </a:r>
            <a:endParaRPr lang="en-US" sz="1900" dirty="0"/>
          </a:p>
        </p:txBody>
      </p:sp>
      <p:sp>
        <p:nvSpPr>
          <p:cNvPr id="21" name="Text 19"/>
          <p:cNvSpPr txBox="1"/>
          <p:nvPr/>
        </p:nvSpPr>
        <p:spPr>
          <a:xfrm>
            <a:off x="7315200" y="3127248"/>
            <a:ext cx="196596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Kreuztabellen gesamt und je Fachbereich</a:t>
            </a:r>
            <a:endParaRPr lang="en-US" sz="1400" dirty="0"/>
          </a:p>
        </p:txBody>
      </p:sp>
      <p:sp>
        <p:nvSpPr>
          <p:cNvPr id="22" name="Shape 20"/>
          <p:cNvSpPr/>
          <p:nvPr/>
        </p:nvSpPr>
        <p:spPr>
          <a:xfrm>
            <a:off x="9555480" y="1901952"/>
            <a:ext cx="493776" cy="493776"/>
          </a:xfrm>
          <a:prstGeom prst="ellipse">
            <a:avLst/>
          </a:prstGeom>
          <a:solidFill>
            <a:srgbClr val="111827"/>
          </a:solidFill>
          <a:ln w="38100">
            <a:solidFill>
              <a:srgbClr val="FFFFFF"/>
            </a:solidFill>
            <a:prstDash val="solid"/>
          </a:ln>
        </p:spPr>
      </p:sp>
      <p:sp>
        <p:nvSpPr>
          <p:cNvPr id="23" name="Text 21"/>
          <p:cNvSpPr txBox="1"/>
          <p:nvPr/>
        </p:nvSpPr>
        <p:spPr>
          <a:xfrm>
            <a:off x="9555480" y="1901952"/>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4" name="Text 22"/>
          <p:cNvSpPr txBox="1"/>
          <p:nvPr/>
        </p:nvSpPr>
        <p:spPr>
          <a:xfrm>
            <a:off x="9555480" y="2697480"/>
            <a:ext cx="2011680" cy="365760"/>
          </a:xfrm>
          <a:prstGeom prst="rect">
            <a:avLst/>
          </a:prstGeom>
          <a:noFill/>
          <a:ln/>
        </p:spPr>
        <p:txBody>
          <a:bodyPr wrap="square" lIns="0" tIns="0" rIns="0" bIns="0" rtlCol="0" anchor="t"/>
          <a:lstStyle/>
          <a:p>
            <a:pPr indent="0" marL="0">
              <a:buNone/>
            </a:pPr>
            <a:r>
              <a:rPr lang="en-US" sz="1900" b="1" dirty="0">
                <a:solidFill>
                  <a:srgbClr val="111827"/>
                </a:solidFill>
                <a:latin typeface="Arial" pitchFamily="34" charset="0"/>
                <a:ea typeface="Arial" pitchFamily="34" charset="-122"/>
                <a:cs typeface="Arial" pitchFamily="34" charset="-120"/>
              </a:rPr>
              <a:t>Darstellen</a:t>
            </a:r>
            <a:endParaRPr lang="en-US" sz="1900" dirty="0"/>
          </a:p>
        </p:txBody>
      </p:sp>
      <p:sp>
        <p:nvSpPr>
          <p:cNvPr id="25" name="Text 23"/>
          <p:cNvSpPr txBox="1"/>
          <p:nvPr/>
        </p:nvSpPr>
        <p:spPr>
          <a:xfrm>
            <a:off x="9555480" y="3127248"/>
            <a:ext cx="196596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Säulen- und Streudiagramme wie im Kurs</a:t>
            </a:r>
            <a:endParaRPr lang="en-US" sz="1400" dirty="0"/>
          </a:p>
        </p:txBody>
      </p:sp>
      <p:sp>
        <p:nvSpPr>
          <p:cNvPr id="26" name="Shape 24"/>
          <p:cNvSpPr/>
          <p:nvPr/>
        </p:nvSpPr>
        <p:spPr>
          <a:xfrm>
            <a:off x="0" y="4434840"/>
            <a:ext cx="12191695" cy="1600200"/>
          </a:xfrm>
          <a:prstGeom prst="rect">
            <a:avLst/>
          </a:prstGeom>
          <a:solidFill>
            <a:srgbClr val="F2F4F7"/>
          </a:solidFill>
          <a:ln w="12700">
            <a:solidFill>
              <a:srgbClr val="F2F4F7"/>
            </a:solidFill>
            <a:prstDash val="solid"/>
          </a:ln>
        </p:spPr>
      </p:sp>
      <p:sp>
        <p:nvSpPr>
          <p:cNvPr id="27" name="Text 25"/>
          <p:cNvSpPr txBox="1"/>
          <p:nvPr/>
        </p:nvSpPr>
        <p:spPr>
          <a:xfrm>
            <a:off x="594360" y="4754880"/>
            <a:ext cx="1371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LIBRARIES</a:t>
            </a:r>
            <a:endParaRPr lang="en-US" sz="1050" dirty="0"/>
          </a:p>
        </p:txBody>
      </p:sp>
      <p:sp>
        <p:nvSpPr>
          <p:cNvPr id="28" name="Text 26"/>
          <p:cNvSpPr txBox="1"/>
          <p:nvPr/>
        </p:nvSpPr>
        <p:spPr>
          <a:xfrm>
            <a:off x="2194560" y="4709160"/>
            <a:ext cx="2194560" cy="320040"/>
          </a:xfrm>
          <a:prstGeom prst="rect">
            <a:avLst/>
          </a:prstGeom>
          <a:noFill/>
          <a:ln/>
        </p:spPr>
        <p:txBody>
          <a:bodyPr wrap="square" lIns="0" tIns="0" rIns="0" bIns="0" rtlCol="0" anchor="t"/>
          <a:lstStyle/>
          <a:p>
            <a:pPr indent="0" marL="0">
              <a:buNone/>
            </a:pPr>
            <a:r>
              <a:rPr lang="en-US" sz="1600" b="1" dirty="0">
                <a:solidFill>
                  <a:srgbClr val="111827"/>
                </a:solidFill>
                <a:latin typeface="Courier New" pitchFamily="34" charset="0"/>
                <a:ea typeface="Courier New" pitchFamily="34" charset="-122"/>
                <a:cs typeface="Courier New" pitchFamily="34" charset="-120"/>
              </a:rPr>
              <a:t>pandas</a:t>
            </a:r>
            <a:endParaRPr lang="en-US" sz="1600" dirty="0"/>
          </a:p>
        </p:txBody>
      </p:sp>
      <p:sp>
        <p:nvSpPr>
          <p:cNvPr id="29" name="Text 27"/>
          <p:cNvSpPr txBox="1"/>
          <p:nvPr/>
        </p:nvSpPr>
        <p:spPr>
          <a:xfrm>
            <a:off x="2194560" y="5120640"/>
            <a:ext cx="2148840" cy="640080"/>
          </a:xfrm>
          <a:prstGeom prst="rect">
            <a:avLst/>
          </a:prstGeom>
          <a:noFill/>
          <a:ln/>
        </p:spPr>
        <p:txBody>
          <a:bodyPr wrap="square" lIns="0" tIns="0" rIns="0" bIns="0" rtlCol="0" anchor="t"/>
          <a:lstStyle/>
          <a:p>
            <a:pPr indent="0" marL="0">
              <a:lnSpc>
                <a:spcPct val="110000"/>
              </a:lnSpc>
              <a:buNone/>
            </a:pPr>
            <a:r>
              <a:rPr lang="en-US" sz="1300" dirty="0">
                <a:solidFill>
                  <a:srgbClr val="5B6472"/>
                </a:solidFill>
                <a:latin typeface="Arial" pitchFamily="34" charset="0"/>
                <a:ea typeface="Arial" pitchFamily="34" charset="-122"/>
                <a:cs typeface="Arial" pitchFamily="34" charset="-120"/>
              </a:rPr>
              <a:t>Tabellen und Kreuztabellen in einer Zeile</a:t>
            </a:r>
            <a:endParaRPr lang="en-US" sz="1300" dirty="0"/>
          </a:p>
        </p:txBody>
      </p:sp>
      <p:sp>
        <p:nvSpPr>
          <p:cNvPr id="30" name="Text 28"/>
          <p:cNvSpPr txBox="1"/>
          <p:nvPr/>
        </p:nvSpPr>
        <p:spPr>
          <a:xfrm>
            <a:off x="4572000" y="4709160"/>
            <a:ext cx="2194560" cy="320040"/>
          </a:xfrm>
          <a:prstGeom prst="rect">
            <a:avLst/>
          </a:prstGeom>
          <a:noFill/>
          <a:ln/>
        </p:spPr>
        <p:txBody>
          <a:bodyPr wrap="square" lIns="0" tIns="0" rIns="0" bIns="0" rtlCol="0" anchor="t"/>
          <a:lstStyle/>
          <a:p>
            <a:pPr indent="0" marL="0">
              <a:buNone/>
            </a:pPr>
            <a:r>
              <a:rPr lang="en-US" sz="1600" b="1" dirty="0">
                <a:solidFill>
                  <a:srgbClr val="111827"/>
                </a:solidFill>
                <a:latin typeface="Courier New" pitchFamily="34" charset="0"/>
                <a:ea typeface="Courier New" pitchFamily="34" charset="-122"/>
                <a:cs typeface="Courier New" pitchFamily="34" charset="-120"/>
              </a:rPr>
              <a:t>numpy</a:t>
            </a:r>
            <a:endParaRPr lang="en-US" sz="1600" dirty="0"/>
          </a:p>
        </p:txBody>
      </p:sp>
      <p:sp>
        <p:nvSpPr>
          <p:cNvPr id="31" name="Text 29"/>
          <p:cNvSpPr txBox="1"/>
          <p:nvPr/>
        </p:nvSpPr>
        <p:spPr>
          <a:xfrm>
            <a:off x="4572000" y="5120640"/>
            <a:ext cx="2148840" cy="640080"/>
          </a:xfrm>
          <a:prstGeom prst="rect">
            <a:avLst/>
          </a:prstGeom>
          <a:noFill/>
          <a:ln/>
        </p:spPr>
        <p:txBody>
          <a:bodyPr wrap="square" lIns="0" tIns="0" rIns="0" bIns="0" rtlCol="0" anchor="t"/>
          <a:lstStyle/>
          <a:p>
            <a:pPr indent="0" marL="0">
              <a:lnSpc>
                <a:spcPct val="110000"/>
              </a:lnSpc>
              <a:buNone/>
            </a:pPr>
            <a:r>
              <a:rPr lang="en-US" sz="1300" dirty="0">
                <a:solidFill>
                  <a:srgbClr val="5B6472"/>
                </a:solidFill>
                <a:latin typeface="Arial" pitchFamily="34" charset="0"/>
                <a:ea typeface="Arial" pitchFamily="34" charset="-122"/>
                <a:cs typeface="Arial" pitchFamily="34" charset="-120"/>
              </a:rPr>
              <a:t>Rechnen auf ganzen Spalten, ohne Schleifen</a:t>
            </a:r>
            <a:endParaRPr lang="en-US" sz="1300" dirty="0"/>
          </a:p>
        </p:txBody>
      </p:sp>
      <p:sp>
        <p:nvSpPr>
          <p:cNvPr id="32" name="Text 30"/>
          <p:cNvSpPr txBox="1"/>
          <p:nvPr/>
        </p:nvSpPr>
        <p:spPr>
          <a:xfrm>
            <a:off x="6949440" y="4709160"/>
            <a:ext cx="2194560" cy="320040"/>
          </a:xfrm>
          <a:prstGeom prst="rect">
            <a:avLst/>
          </a:prstGeom>
          <a:noFill/>
          <a:ln/>
        </p:spPr>
        <p:txBody>
          <a:bodyPr wrap="square" lIns="0" tIns="0" rIns="0" bIns="0" rtlCol="0" anchor="t"/>
          <a:lstStyle/>
          <a:p>
            <a:pPr indent="0" marL="0">
              <a:buNone/>
            </a:pPr>
            <a:r>
              <a:rPr lang="en-US" sz="1600" b="1" dirty="0">
                <a:solidFill>
                  <a:srgbClr val="111827"/>
                </a:solidFill>
                <a:latin typeface="Courier New" pitchFamily="34" charset="0"/>
                <a:ea typeface="Courier New" pitchFamily="34" charset="-122"/>
                <a:cs typeface="Courier New" pitchFamily="34" charset="-120"/>
              </a:rPr>
              <a:t>matplotlib</a:t>
            </a:r>
            <a:endParaRPr lang="en-US" sz="1600" dirty="0"/>
          </a:p>
        </p:txBody>
      </p:sp>
      <p:sp>
        <p:nvSpPr>
          <p:cNvPr id="33" name="Text 31"/>
          <p:cNvSpPr txBox="1"/>
          <p:nvPr/>
        </p:nvSpPr>
        <p:spPr>
          <a:xfrm>
            <a:off x="6949440" y="5120640"/>
            <a:ext cx="2148840" cy="640080"/>
          </a:xfrm>
          <a:prstGeom prst="rect">
            <a:avLst/>
          </a:prstGeom>
          <a:noFill/>
          <a:ln/>
        </p:spPr>
        <p:txBody>
          <a:bodyPr wrap="square" lIns="0" tIns="0" rIns="0" bIns="0" rtlCol="0" anchor="t"/>
          <a:lstStyle/>
          <a:p>
            <a:pPr indent="0" marL="0">
              <a:lnSpc>
                <a:spcPct val="110000"/>
              </a:lnSpc>
              <a:buNone/>
            </a:pPr>
            <a:r>
              <a:rPr lang="en-US" sz="1300" dirty="0">
                <a:solidFill>
                  <a:srgbClr val="5B6472"/>
                </a:solidFill>
                <a:latin typeface="Arial" pitchFamily="34" charset="0"/>
                <a:ea typeface="Arial" pitchFamily="34" charset="-122"/>
                <a:cs typeface="Arial" pitchFamily="34" charset="-120"/>
              </a:rPr>
              <a:t>Volle Kontrolle über Diagramme und Export</a:t>
            </a:r>
            <a:endParaRPr lang="en-US" sz="1300" dirty="0"/>
          </a:p>
        </p:txBody>
      </p:sp>
      <p:sp>
        <p:nvSpPr>
          <p:cNvPr id="34" name="Text 32"/>
          <p:cNvSpPr txBox="1"/>
          <p:nvPr/>
        </p:nvSpPr>
        <p:spPr>
          <a:xfrm>
            <a:off x="9326880" y="4709160"/>
            <a:ext cx="2194560" cy="320040"/>
          </a:xfrm>
          <a:prstGeom prst="rect">
            <a:avLst/>
          </a:prstGeom>
          <a:noFill/>
          <a:ln/>
        </p:spPr>
        <p:txBody>
          <a:bodyPr wrap="square" lIns="0" tIns="0" rIns="0" bIns="0" rtlCol="0" anchor="t"/>
          <a:lstStyle/>
          <a:p>
            <a:pPr indent="0" marL="0">
              <a:buNone/>
            </a:pPr>
            <a:r>
              <a:rPr lang="en-US" sz="1600" b="1" dirty="0">
                <a:solidFill>
                  <a:srgbClr val="111827"/>
                </a:solidFill>
                <a:latin typeface="Courier New" pitchFamily="34" charset="0"/>
                <a:ea typeface="Courier New" pitchFamily="34" charset="-122"/>
                <a:cs typeface="Courier New" pitchFamily="34" charset="-120"/>
              </a:rPr>
              <a:t>re, functools</a:t>
            </a:r>
            <a:endParaRPr lang="en-US" sz="1600" dirty="0"/>
          </a:p>
        </p:txBody>
      </p:sp>
      <p:sp>
        <p:nvSpPr>
          <p:cNvPr id="35" name="Text 33"/>
          <p:cNvSpPr txBox="1"/>
          <p:nvPr/>
        </p:nvSpPr>
        <p:spPr>
          <a:xfrm>
            <a:off x="9326880" y="5120640"/>
            <a:ext cx="2148840" cy="640080"/>
          </a:xfrm>
          <a:prstGeom prst="rect">
            <a:avLst/>
          </a:prstGeom>
          <a:noFill/>
          <a:ln/>
        </p:spPr>
        <p:txBody>
          <a:bodyPr wrap="square" lIns="0" tIns="0" rIns="0" bIns="0" rtlCol="0" anchor="t"/>
          <a:lstStyle/>
          <a:p>
            <a:pPr indent="0" marL="0">
              <a:lnSpc>
                <a:spcPct val="110000"/>
              </a:lnSpc>
              <a:buNone/>
            </a:pPr>
            <a:r>
              <a:rPr lang="en-US" sz="1300" dirty="0">
                <a:solidFill>
                  <a:srgbClr val="5B6472"/>
                </a:solidFill>
                <a:latin typeface="Arial" pitchFamily="34" charset="0"/>
                <a:ea typeface="Arial" pitchFamily="34" charset="-122"/>
                <a:cs typeface="Arial" pitchFamily="34" charset="-120"/>
              </a:rPr>
              <a:t>Standardbibliothek, keine Installation nötig</a:t>
            </a:r>
            <a:endParaRPr lang="en-US" sz="1300" dirty="0"/>
          </a:p>
        </p:txBody>
      </p:sp>
      <p:sp>
        <p:nvSpPr>
          <p:cNvPr id="36" name="Text 34"/>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Quellen: R Core Team (o. J.); Schnauss (o. J.-a, Folien 16, 42, 45)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09 — AUFGABE B · DARSTELLUNG</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09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Die scheinbare Ungerechtigkeit</a:t>
            </a:r>
            <a:endParaRPr lang="en-US" sz="3000" dirty="0"/>
          </a:p>
        </p:txBody>
      </p:sp>
      <p:sp>
        <p:nvSpPr>
          <p:cNvPr id="5" name="Text 3"/>
          <p:cNvSpPr txBox="1"/>
          <p:nvPr/>
        </p:nvSpPr>
        <p:spPr>
          <a:xfrm>
            <a:off x="594360" y="1371600"/>
            <a:ext cx="6400800" cy="274320"/>
          </a:xfrm>
          <a:prstGeom prst="rect">
            <a:avLst/>
          </a:prstGeom>
          <a:noFill/>
          <a:ln/>
        </p:spPr>
        <p:txBody>
          <a:bodyPr wrap="square" lIns="0" tIns="0" rIns="0" bIns="0" rtlCol="0" anchor="t"/>
          <a:lstStyle/>
          <a:p>
            <a:pPr indent="0" marL="0">
              <a:buNone/>
            </a:pPr>
            <a:r>
              <a:rPr lang="en-US" sz="1500" dirty="0">
                <a:solidFill>
                  <a:srgbClr val="5B6472"/>
                </a:solidFill>
                <a:latin typeface="Arial" pitchFamily="34" charset="0"/>
                <a:ea typeface="Arial" pitchFamily="34" charset="-122"/>
                <a:cs typeface="Arial" pitchFamily="34" charset="-120"/>
              </a:rPr>
              <a:t>Zulassungsquote über alle sechs Fachbereiche</a:t>
            </a:r>
            <a:endParaRPr lang="en-US" sz="1500" dirty="0"/>
          </a:p>
        </p:txBody>
      </p:sp>
      <p:graphicFrame>
        <p:nvGraphicFramePr>
          <p:cNvPr id="6" name="Chart 0" descr=""/>
          <p:cNvGraphicFramePr/>
          <p:nvPr/>
        </p:nvGraphicFramePr>
        <p:xfrm>
          <a:off x="502920" y="1737360"/>
          <a:ext cx="722376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321040" y="1783080"/>
            <a:ext cx="32004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DIFFERENZ</a:t>
            </a:r>
            <a:endParaRPr lang="en-US" sz="1050" dirty="0"/>
          </a:p>
        </p:txBody>
      </p:sp>
      <p:sp>
        <p:nvSpPr>
          <p:cNvPr id="8" name="Text 5"/>
          <p:cNvSpPr txBox="1"/>
          <p:nvPr/>
        </p:nvSpPr>
        <p:spPr>
          <a:xfrm>
            <a:off x="8275320" y="2057400"/>
            <a:ext cx="3291840" cy="1280160"/>
          </a:xfrm>
          <a:prstGeom prst="rect">
            <a:avLst/>
          </a:prstGeom>
          <a:noFill/>
          <a:ln/>
        </p:spPr>
        <p:txBody>
          <a:bodyPr wrap="square" lIns="0" tIns="0" rIns="0" bIns="0" rtlCol="0" anchor="t"/>
          <a:lstStyle/>
          <a:p>
            <a:pPr indent="0" marL="0">
              <a:buNone/>
            </a:pPr>
            <a:r>
              <a:rPr lang="en-US" sz="9600" b="1" dirty="0">
                <a:solidFill>
                  <a:srgbClr val="E4572E"/>
                </a:solidFill>
                <a:latin typeface="Arial" pitchFamily="34" charset="0"/>
                <a:ea typeface="Arial" pitchFamily="34" charset="-122"/>
                <a:cs typeface="Arial" pitchFamily="34" charset="-120"/>
              </a:rPr>
              <a:t>−14.2</a:t>
            </a:r>
            <a:endParaRPr lang="en-US" sz="9600" dirty="0"/>
          </a:p>
        </p:txBody>
      </p:sp>
      <p:sp>
        <p:nvSpPr>
          <p:cNvPr id="9" name="Text 6"/>
          <p:cNvSpPr txBox="1"/>
          <p:nvPr/>
        </p:nvSpPr>
        <p:spPr>
          <a:xfrm>
            <a:off x="8321040" y="3429000"/>
            <a:ext cx="3200400" cy="640080"/>
          </a:xfrm>
          <a:prstGeom prst="rect">
            <a:avLst/>
          </a:prstGeom>
          <a:noFill/>
          <a:ln/>
        </p:spPr>
        <p:txBody>
          <a:bodyPr wrap="square" lIns="0" tIns="0" rIns="0" bIns="0" rtlCol="0" anchor="t"/>
          <a:lstStyle/>
          <a:p>
            <a:pPr indent="0" marL="0">
              <a:lnSpc>
                <a:spcPct val="105000"/>
              </a:lnSpc>
              <a:buNone/>
            </a:pPr>
            <a:r>
              <a:rPr lang="en-US" sz="1800" b="1" dirty="0">
                <a:solidFill>
                  <a:srgbClr val="111827"/>
                </a:solidFill>
                <a:latin typeface="Arial" pitchFamily="34" charset="0"/>
                <a:ea typeface="Arial" pitchFamily="34" charset="-122"/>
                <a:cs typeface="Arial" pitchFamily="34" charset="-120"/>
              </a:rPr>
              <a:t>Prozentpunkte weniger für Frauen</a:t>
            </a:r>
            <a:endParaRPr lang="en-US" sz="1800" dirty="0"/>
          </a:p>
        </p:txBody>
      </p:sp>
      <p:sp>
        <p:nvSpPr>
          <p:cNvPr id="10" name="Text 7"/>
          <p:cNvSpPr txBox="1"/>
          <p:nvPr/>
        </p:nvSpPr>
        <p:spPr>
          <a:xfrm>
            <a:off x="8321040" y="4114800"/>
            <a:ext cx="3200400" cy="274320"/>
          </a:xfrm>
          <a:prstGeom prst="rect">
            <a:avLst/>
          </a:prstGeom>
          <a:noFill/>
          <a:ln/>
        </p:spPr>
        <p:txBody>
          <a:bodyPr wrap="square" lIns="0" tIns="0" rIns="0" bIns="0" rtlCol="0" anchor="t"/>
          <a:lstStyle/>
          <a:p>
            <a:pPr indent="0" marL="0">
              <a:buNone/>
            </a:pPr>
            <a:r>
              <a:rPr lang="en-US" sz="1200" dirty="0">
                <a:solidFill>
                  <a:srgbClr val="5B6472"/>
                </a:solidFill>
                <a:latin typeface="Arial" pitchFamily="34" charset="0"/>
                <a:ea typeface="Arial" pitchFamily="34" charset="-122"/>
                <a:cs typeface="Arial" pitchFamily="34" charset="-120"/>
              </a:rPr>
              <a:t>exakt 44.52 % − 30.35 %</a:t>
            </a:r>
            <a:endParaRPr lang="en-US" sz="1200" dirty="0"/>
          </a:p>
        </p:txBody>
      </p:sp>
      <p:sp>
        <p:nvSpPr>
          <p:cNvPr id="11" name="Shape 8"/>
          <p:cNvSpPr/>
          <p:nvPr/>
        </p:nvSpPr>
        <p:spPr>
          <a:xfrm>
            <a:off x="594360" y="4892040"/>
            <a:ext cx="11002975" cy="0"/>
          </a:xfrm>
          <a:prstGeom prst="line">
            <a:avLst/>
          </a:prstGeom>
          <a:noFill/>
          <a:ln w="9525">
            <a:solidFill>
              <a:srgbClr val="D5DAE1"/>
            </a:solidFill>
            <a:prstDash val="solid"/>
          </a:ln>
        </p:spPr>
      </p:sp>
      <p:sp>
        <p:nvSpPr>
          <p:cNvPr id="12" name="Text 9"/>
          <p:cNvSpPr txBox="1"/>
          <p:nvPr/>
        </p:nvSpPr>
        <p:spPr>
          <a:xfrm>
            <a:off x="594360" y="5120640"/>
            <a:ext cx="6309360" cy="731520"/>
          </a:xfrm>
          <a:prstGeom prst="rect">
            <a:avLst/>
          </a:prstGeom>
          <a:noFill/>
          <a:ln/>
        </p:spPr>
        <p:txBody>
          <a:bodyPr wrap="square" lIns="0" tIns="0" rIns="0" bIns="0" rtlCol="0" anchor="t"/>
          <a:lstStyle/>
          <a:p>
            <a:pPr indent="0" marL="0">
              <a:lnSpc>
                <a:spcPct val="110000"/>
              </a:lnSpc>
              <a:buNone/>
            </a:pPr>
            <a:r>
              <a:rPr lang="en-US" sz="1700" dirty="0">
                <a:solidFill>
                  <a:srgbClr val="5B6472"/>
                </a:solidFill>
                <a:latin typeface="Arial" pitchFamily="34" charset="0"/>
                <a:ea typeface="Arial" pitchFamily="34" charset="-122"/>
                <a:cs typeface="Arial" pitchFamily="34" charset="-120"/>
              </a:rPr>
              <a:t>Mit der Quote der Männer wären 817 statt 557 Frauen zugelassen worden.</a:t>
            </a:r>
            <a:endParaRPr lang="en-US" sz="1700" dirty="0"/>
          </a:p>
        </p:txBody>
      </p:sp>
      <p:sp>
        <p:nvSpPr>
          <p:cNvPr id="13" name="Text 10"/>
          <p:cNvSpPr txBox="1"/>
          <p:nvPr/>
        </p:nvSpPr>
        <p:spPr>
          <a:xfrm>
            <a:off x="5760720" y="5120640"/>
            <a:ext cx="5833872" cy="548640"/>
          </a:xfrm>
          <a:prstGeom prst="rect">
            <a:avLst/>
          </a:prstGeom>
          <a:noFill/>
          <a:ln/>
        </p:spPr>
        <p:txBody>
          <a:bodyPr wrap="square" lIns="0" tIns="0" rIns="0" bIns="0" rtlCol="0" anchor="t"/>
          <a:lstStyle/>
          <a:p>
            <a:pPr algn="r" indent="0" marL="0">
              <a:buNone/>
            </a:pPr>
            <a:r>
              <a:rPr lang="en-US" sz="3000" b="1" dirty="0">
                <a:solidFill>
                  <a:srgbClr val="111827"/>
                </a:solidFill>
                <a:latin typeface="Arial" pitchFamily="34" charset="0"/>
                <a:ea typeface="Arial" pitchFamily="34" charset="-122"/>
                <a:cs typeface="Arial" pitchFamily="34" charset="-120"/>
              </a:rPr>
              <a:t>Also Diskriminierung?</a:t>
            </a:r>
            <a:endParaRPr lang="en-US" sz="3000" dirty="0"/>
          </a:p>
        </p:txBody>
      </p:sp>
      <p:sp>
        <p:nvSpPr>
          <p:cNvPr id="14" name="Text 11"/>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Eigene Darstellung; Daten: Bickel et al. (1975); ZHAW SML (2026), Tabelle 4</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4F7"/>
        </a:solidFill>
      </p:bgPr>
    </p:bg>
    <p:spTree>
      <p:nvGrpSpPr>
        <p:cNvPr id="1" name=""/>
        <p:cNvGrpSpPr/>
        <p:nvPr/>
      </p:nvGrpSpPr>
      <p:grpSpPr>
        <a:xfrm>
          <a:off x="0" y="0"/>
          <a:ext cx="0" cy="0"/>
          <a:chOff x="0" y="0"/>
          <a:chExt cx="0" cy="0"/>
        </a:xfrm>
      </p:grpSpPr>
      <p:sp>
        <p:nvSpPr>
          <p:cNvPr id="2" name="Text 0"/>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10 / 18</a:t>
            </a:r>
            <a:endParaRPr lang="en-US" sz="1050" dirty="0"/>
          </a:p>
        </p:txBody>
      </p:sp>
      <p:sp>
        <p:nvSpPr>
          <p:cNvPr id="3" name="Text 1"/>
          <p:cNvSpPr txBox="1"/>
          <p:nvPr/>
        </p:nvSpPr>
        <p:spPr>
          <a:xfrm>
            <a:off x="320040" y="502920"/>
            <a:ext cx="4023360" cy="5120640"/>
          </a:xfrm>
          <a:prstGeom prst="rect">
            <a:avLst/>
          </a:prstGeom>
          <a:noFill/>
          <a:ln/>
        </p:spPr>
        <p:txBody>
          <a:bodyPr wrap="square" lIns="0" tIns="0" rIns="0" bIns="0" rtlCol="0" anchor="ctr"/>
          <a:lstStyle/>
          <a:p>
            <a:pPr indent="0" marL="0">
              <a:buNone/>
            </a:pPr>
            <a:r>
              <a:rPr lang="en-US" sz="30000" b="1" dirty="0">
                <a:solidFill>
                  <a:srgbClr val="E4572E"/>
                </a:solidFill>
                <a:latin typeface="Arial" pitchFamily="34" charset="0"/>
                <a:ea typeface="Arial" pitchFamily="34" charset="-122"/>
                <a:cs typeface="Arial" pitchFamily="34" charset="-120"/>
              </a:rPr>
              <a:t>c</a:t>
            </a:r>
            <a:endParaRPr lang="en-US" sz="30000" dirty="0"/>
          </a:p>
        </p:txBody>
      </p:sp>
      <p:sp>
        <p:nvSpPr>
          <p:cNvPr id="4" name="Text 2"/>
          <p:cNvSpPr txBox="1"/>
          <p:nvPr/>
        </p:nvSpPr>
        <p:spPr>
          <a:xfrm>
            <a:off x="4754880" y="2148840"/>
            <a:ext cx="5486400" cy="274320"/>
          </a:xfrm>
          <a:prstGeom prst="rect">
            <a:avLst/>
          </a:prstGeom>
          <a:noFill/>
          <a:ln/>
        </p:spPr>
        <p:txBody>
          <a:bodyPr wrap="square" lIns="0" tIns="0" rIns="0" bIns="0" rtlCol="0" anchor="t"/>
          <a:lstStyle/>
          <a:p>
            <a:pPr indent="0" marL="0">
              <a:buNone/>
            </a:pPr>
            <a:r>
              <a:rPr lang="en-US" sz="1100" b="1" spc="150" kern="0" dirty="0">
                <a:solidFill>
                  <a:srgbClr val="5B6472"/>
                </a:solidFill>
                <a:latin typeface="Arial" pitchFamily="34" charset="0"/>
                <a:ea typeface="Arial" pitchFamily="34" charset="-122"/>
                <a:cs typeface="Arial" pitchFamily="34" charset="-120"/>
              </a:rPr>
              <a:t>AUFGABE C</a:t>
            </a:r>
            <a:endParaRPr lang="en-US" sz="1100" dirty="0"/>
          </a:p>
        </p:txBody>
      </p:sp>
      <p:sp>
        <p:nvSpPr>
          <p:cNvPr id="5" name="Text 3"/>
          <p:cNvSpPr txBox="1"/>
          <p:nvPr/>
        </p:nvSpPr>
        <p:spPr>
          <a:xfrm>
            <a:off x="4754880" y="2514600"/>
            <a:ext cx="6766560" cy="731520"/>
          </a:xfrm>
          <a:prstGeom prst="rect">
            <a:avLst/>
          </a:prstGeom>
          <a:noFill/>
          <a:ln/>
        </p:spPr>
        <p:txBody>
          <a:bodyPr wrap="square" lIns="0" tIns="0" rIns="0" bIns="0" rtlCol="0" anchor="t"/>
          <a:lstStyle/>
          <a:p>
            <a:pPr indent="0" marL="0">
              <a:buNone/>
            </a:pPr>
            <a:r>
              <a:rPr lang="en-US" sz="4000" b="1" dirty="0">
                <a:solidFill>
                  <a:srgbClr val="111827"/>
                </a:solidFill>
                <a:latin typeface="Arial" pitchFamily="34" charset="0"/>
                <a:ea typeface="Arial" pitchFamily="34" charset="-122"/>
                <a:cs typeface="Arial" pitchFamily="34" charset="-120"/>
              </a:rPr>
              <a:t>Genauer hinschauen</a:t>
            </a:r>
            <a:endParaRPr lang="en-US" sz="4000" dirty="0"/>
          </a:p>
        </p:txBody>
      </p:sp>
      <p:sp>
        <p:nvSpPr>
          <p:cNvPr id="6" name="Text 4"/>
          <p:cNvSpPr txBox="1"/>
          <p:nvPr/>
        </p:nvSpPr>
        <p:spPr>
          <a:xfrm>
            <a:off x="4754880" y="3337560"/>
            <a:ext cx="6035040" cy="914400"/>
          </a:xfrm>
          <a:prstGeom prst="rect">
            <a:avLst/>
          </a:prstGeom>
          <a:noFill/>
          <a:ln/>
        </p:spPr>
        <p:txBody>
          <a:bodyPr wrap="square" lIns="0" tIns="0" rIns="0" bIns="0" rtlCol="0" anchor="t"/>
          <a:lstStyle/>
          <a:p>
            <a:pPr indent="0" marL="0">
              <a:lnSpc>
                <a:spcPct val="115000"/>
              </a:lnSpc>
              <a:buNone/>
            </a:pPr>
            <a:r>
              <a:rPr lang="en-US" sz="1800" dirty="0">
                <a:solidFill>
                  <a:srgbClr val="5B6472"/>
                </a:solidFill>
                <a:latin typeface="Arial" pitchFamily="34" charset="0"/>
                <a:ea typeface="Arial" pitchFamily="34" charset="-122"/>
                <a:cs typeface="Arial" pitchFamily="34" charset="-120"/>
              </a:rPr>
              <a:t>Verteilungen vergleichen, totale Wahrscheinlichkeit und stochastische Unabhängigkeit</a:t>
            </a:r>
            <a:endParaRPr lang="en-US" sz="1800" dirty="0"/>
          </a:p>
        </p:txBody>
      </p:sp>
      <p:sp>
        <p:nvSpPr>
          <p:cNvPr id="7" name="Text 5"/>
          <p:cNvSpPr txBox="1"/>
          <p:nvPr/>
        </p:nvSpPr>
        <p:spPr>
          <a:xfrm>
            <a:off x="4754880" y="4480560"/>
            <a:ext cx="6035040" cy="320040"/>
          </a:xfrm>
          <a:prstGeom prst="rect">
            <a:avLst/>
          </a:prstGeom>
          <a:noFill/>
          <a:ln/>
        </p:spPr>
        <p:txBody>
          <a:bodyPr wrap="square" lIns="0" tIns="0" rIns="0" bIns="0" rtlCol="0" anchor="t"/>
          <a:lstStyle/>
          <a:p>
            <a:pPr indent="0" marL="0">
              <a:buNone/>
            </a:pPr>
            <a:r>
              <a:rPr lang="en-US" sz="1400" b="1" dirty="0">
                <a:solidFill>
                  <a:srgbClr val="111827"/>
                </a:solidFill>
                <a:latin typeface="Arial" pitchFamily="34" charset="0"/>
                <a:ea typeface="Arial" pitchFamily="34" charset="-122"/>
                <a:cs typeface="Arial" pitchFamily="34" charset="-120"/>
              </a:rPr>
              <a:t>Teoman-Doganay Lam · Filip Lazic</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11 — AUFGABE C · VERGLEICH DER VERTEILUNGEN</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11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Kein systematischer Nachteil je Fachbereich</a:t>
            </a:r>
            <a:endParaRPr lang="en-US" sz="3000" dirty="0"/>
          </a:p>
        </p:txBody>
      </p:sp>
      <p:sp>
        <p:nvSpPr>
          <p:cNvPr id="5" name="Text 3"/>
          <p:cNvSpPr txBox="1"/>
          <p:nvPr/>
        </p:nvSpPr>
        <p:spPr>
          <a:xfrm>
            <a:off x="594360" y="1371600"/>
            <a:ext cx="6858000" cy="274320"/>
          </a:xfrm>
          <a:prstGeom prst="rect">
            <a:avLst/>
          </a:prstGeom>
          <a:noFill/>
          <a:ln/>
        </p:spPr>
        <p:txBody>
          <a:bodyPr wrap="square" lIns="0" tIns="0" rIns="0" bIns="0" rtlCol="0" anchor="t"/>
          <a:lstStyle/>
          <a:p>
            <a:pPr indent="0" marL="0">
              <a:buNone/>
            </a:pPr>
            <a:r>
              <a:rPr lang="en-US" sz="1500" dirty="0">
                <a:solidFill>
                  <a:srgbClr val="5B6472"/>
                </a:solidFill>
                <a:latin typeface="Arial" pitchFamily="34" charset="0"/>
                <a:ea typeface="Arial" pitchFamily="34" charset="-122"/>
                <a:cs typeface="Arial" pitchFamily="34" charset="-120"/>
              </a:rPr>
              <a:t>Zulassungsquote in %, Frauen in 4 von 6 Fachbereichen vorne</a:t>
            </a:r>
            <a:endParaRPr lang="en-US" sz="1500" dirty="0"/>
          </a:p>
        </p:txBody>
      </p:sp>
      <p:sp>
        <p:nvSpPr>
          <p:cNvPr id="6" name="Shape 4"/>
          <p:cNvSpPr/>
          <p:nvPr/>
        </p:nvSpPr>
        <p:spPr>
          <a:xfrm>
            <a:off x="9052560" y="1435608"/>
            <a:ext cx="146304" cy="146304"/>
          </a:xfrm>
          <a:prstGeom prst="rect">
            <a:avLst/>
          </a:prstGeom>
          <a:solidFill>
            <a:srgbClr val="E4572E"/>
          </a:solidFill>
          <a:ln w="12700">
            <a:solidFill>
              <a:srgbClr val="E4572E"/>
            </a:solidFill>
            <a:prstDash val="solid"/>
          </a:ln>
        </p:spPr>
      </p:sp>
      <p:sp>
        <p:nvSpPr>
          <p:cNvPr id="7" name="Text 5"/>
          <p:cNvSpPr txBox="1"/>
          <p:nvPr/>
        </p:nvSpPr>
        <p:spPr>
          <a:xfrm>
            <a:off x="9272016" y="1389888"/>
            <a:ext cx="649224" cy="237744"/>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Frauen</a:t>
            </a:r>
            <a:endParaRPr lang="en-US" sz="1200" dirty="0"/>
          </a:p>
        </p:txBody>
      </p:sp>
      <p:sp>
        <p:nvSpPr>
          <p:cNvPr id="8" name="Shape 6"/>
          <p:cNvSpPr/>
          <p:nvPr/>
        </p:nvSpPr>
        <p:spPr>
          <a:xfrm>
            <a:off x="10058400" y="1435608"/>
            <a:ext cx="146304" cy="146304"/>
          </a:xfrm>
          <a:prstGeom prst="rect">
            <a:avLst/>
          </a:prstGeom>
          <a:solidFill>
            <a:srgbClr val="2F4B7C"/>
          </a:solidFill>
          <a:ln w="12700">
            <a:solidFill>
              <a:srgbClr val="2F4B7C"/>
            </a:solidFill>
            <a:prstDash val="solid"/>
          </a:ln>
        </p:spPr>
      </p:sp>
      <p:sp>
        <p:nvSpPr>
          <p:cNvPr id="9" name="Text 7"/>
          <p:cNvSpPr txBox="1"/>
          <p:nvPr/>
        </p:nvSpPr>
        <p:spPr>
          <a:xfrm>
            <a:off x="10277856" y="1389888"/>
            <a:ext cx="649224" cy="237744"/>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Männer</a:t>
            </a:r>
            <a:endParaRPr lang="en-US" sz="1200" dirty="0"/>
          </a:p>
        </p:txBody>
      </p:sp>
      <p:graphicFrame>
        <p:nvGraphicFramePr>
          <p:cNvPr id="10" name="Chart 0" descr=""/>
          <p:cNvGraphicFramePr/>
          <p:nvPr/>
        </p:nvGraphicFramePr>
        <p:xfrm>
          <a:off x="502920" y="1783080"/>
          <a:ext cx="11185855" cy="43434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Eigene Darstellung; Daten: ZHAW SML (2026), Tabelle 4; PP = Frauen minus Männer in Prozentpunkten, ungerundet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12 — AUFGABE C · VERTEILUNG DER BEWERBUNGEN</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12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Frauen bewarben sich vor allem in selektiven Fachbereichen</a:t>
            </a:r>
            <a:endParaRPr lang="en-US" sz="3000" dirty="0"/>
          </a:p>
        </p:txBody>
      </p:sp>
      <p:sp>
        <p:nvSpPr>
          <p:cNvPr id="5" name="Shape 3"/>
          <p:cNvSpPr/>
          <p:nvPr/>
        </p:nvSpPr>
        <p:spPr>
          <a:xfrm>
            <a:off x="594360" y="1463040"/>
            <a:ext cx="146304" cy="146304"/>
          </a:xfrm>
          <a:prstGeom prst="rect">
            <a:avLst/>
          </a:prstGeom>
          <a:solidFill>
            <a:srgbClr val="111827"/>
          </a:solidFill>
          <a:ln w="12700">
            <a:solidFill>
              <a:srgbClr val="111827"/>
            </a:solidFill>
            <a:prstDash val="solid"/>
          </a:ln>
        </p:spPr>
      </p:sp>
      <p:sp>
        <p:nvSpPr>
          <p:cNvPr id="6" name="Text 4"/>
          <p:cNvSpPr txBox="1"/>
          <p:nvPr/>
        </p:nvSpPr>
        <p:spPr>
          <a:xfrm>
            <a:off x="813816" y="1417320"/>
            <a:ext cx="2825496" cy="237744"/>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A und B: Zulassungsquote rund 64 %</a:t>
            </a:r>
            <a:endParaRPr lang="en-US" sz="1200" dirty="0"/>
          </a:p>
        </p:txBody>
      </p:sp>
      <p:sp>
        <p:nvSpPr>
          <p:cNvPr id="7" name="Shape 5"/>
          <p:cNvSpPr/>
          <p:nvPr/>
        </p:nvSpPr>
        <p:spPr>
          <a:xfrm>
            <a:off x="3776472" y="1463040"/>
            <a:ext cx="146304" cy="146304"/>
          </a:xfrm>
          <a:prstGeom prst="rect">
            <a:avLst/>
          </a:prstGeom>
          <a:solidFill>
            <a:srgbClr val="6B7280"/>
          </a:solidFill>
          <a:ln w="12700">
            <a:solidFill>
              <a:srgbClr val="6B7280"/>
            </a:solidFill>
            <a:prstDash val="solid"/>
          </a:ln>
        </p:spPr>
      </p:sp>
      <p:sp>
        <p:nvSpPr>
          <p:cNvPr id="8" name="Text 6"/>
          <p:cNvSpPr txBox="1"/>
          <p:nvPr/>
        </p:nvSpPr>
        <p:spPr>
          <a:xfrm>
            <a:off x="3995928" y="1417320"/>
            <a:ext cx="2903220" cy="237744"/>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C bis F: Zulassungsquote 6 bis 35 %</a:t>
            </a:r>
            <a:endParaRPr lang="en-US" sz="1200" dirty="0"/>
          </a:p>
        </p:txBody>
      </p:sp>
      <p:graphicFrame>
        <p:nvGraphicFramePr>
          <p:cNvPr id="9" name="Chart 0" descr=""/>
          <p:cNvGraphicFramePr/>
          <p:nvPr/>
        </p:nvGraphicFramePr>
        <p:xfrm>
          <a:off x="502920" y="1783080"/>
          <a:ext cx="11185855" cy="201168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594360" y="4160520"/>
            <a:ext cx="3383280" cy="0"/>
          </a:xfrm>
          <a:prstGeom prst="line">
            <a:avLst/>
          </a:prstGeom>
          <a:noFill/>
          <a:ln w="9525">
            <a:solidFill>
              <a:srgbClr val="D5DAE1"/>
            </a:solidFill>
            <a:prstDash val="solid"/>
          </a:ln>
        </p:spPr>
      </p:sp>
      <p:sp>
        <p:nvSpPr>
          <p:cNvPr id="11" name="Text 8"/>
          <p:cNvSpPr txBox="1"/>
          <p:nvPr/>
        </p:nvSpPr>
        <p:spPr>
          <a:xfrm>
            <a:off x="594360" y="4297680"/>
            <a:ext cx="3383280" cy="868680"/>
          </a:xfrm>
          <a:prstGeom prst="rect">
            <a:avLst/>
          </a:prstGeom>
          <a:noFill/>
          <a:ln/>
        </p:spPr>
        <p:txBody>
          <a:bodyPr wrap="square" lIns="0" tIns="0" rIns="0" bIns="0" rtlCol="0" anchor="t"/>
          <a:lstStyle/>
          <a:p>
            <a:pPr indent="0" marL="0">
              <a:buNone/>
            </a:pPr>
            <a:r>
              <a:rPr lang="en-US" sz="5000" b="1" dirty="0">
                <a:solidFill>
                  <a:srgbClr val="E4572E"/>
                </a:solidFill>
                <a:latin typeface="Arial" pitchFamily="34" charset="0"/>
                <a:ea typeface="Arial" pitchFamily="34" charset="-122"/>
                <a:cs typeface="Arial" pitchFamily="34" charset="-120"/>
              </a:rPr>
              <a:t>7.2 %</a:t>
            </a:r>
            <a:endParaRPr lang="en-US" sz="5000" dirty="0"/>
          </a:p>
        </p:txBody>
      </p:sp>
      <p:sp>
        <p:nvSpPr>
          <p:cNvPr id="12" name="Text 9"/>
          <p:cNvSpPr txBox="1"/>
          <p:nvPr/>
        </p:nvSpPr>
        <p:spPr>
          <a:xfrm>
            <a:off x="594360" y="5212080"/>
            <a:ext cx="329184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der Frauen bewarben sich in A oder B – 92.8 % in C bis F</a:t>
            </a:r>
            <a:endParaRPr lang="en-US" sz="1400" dirty="0"/>
          </a:p>
        </p:txBody>
      </p:sp>
      <p:sp>
        <p:nvSpPr>
          <p:cNvPr id="13" name="Shape 10"/>
          <p:cNvSpPr/>
          <p:nvPr/>
        </p:nvSpPr>
        <p:spPr>
          <a:xfrm>
            <a:off x="4343400" y="4160520"/>
            <a:ext cx="3383280" cy="0"/>
          </a:xfrm>
          <a:prstGeom prst="line">
            <a:avLst/>
          </a:prstGeom>
          <a:noFill/>
          <a:ln w="9525">
            <a:solidFill>
              <a:srgbClr val="D5DAE1"/>
            </a:solidFill>
            <a:prstDash val="solid"/>
          </a:ln>
        </p:spPr>
      </p:sp>
      <p:sp>
        <p:nvSpPr>
          <p:cNvPr id="14" name="Text 11"/>
          <p:cNvSpPr txBox="1"/>
          <p:nvPr/>
        </p:nvSpPr>
        <p:spPr>
          <a:xfrm>
            <a:off x="4343400" y="4297680"/>
            <a:ext cx="3383280" cy="868680"/>
          </a:xfrm>
          <a:prstGeom prst="rect">
            <a:avLst/>
          </a:prstGeom>
          <a:noFill/>
          <a:ln/>
        </p:spPr>
        <p:txBody>
          <a:bodyPr wrap="square" lIns="0" tIns="0" rIns="0" bIns="0" rtlCol="0" anchor="t"/>
          <a:lstStyle/>
          <a:p>
            <a:pPr indent="0" marL="0">
              <a:buNone/>
            </a:pPr>
            <a:r>
              <a:rPr lang="en-US" sz="5000" b="1" dirty="0">
                <a:solidFill>
                  <a:srgbClr val="2F4B7C"/>
                </a:solidFill>
                <a:latin typeface="Arial" pitchFamily="34" charset="0"/>
                <a:ea typeface="Arial" pitchFamily="34" charset="-122"/>
                <a:cs typeface="Arial" pitchFamily="34" charset="-120"/>
              </a:rPr>
              <a:t>51.5 %</a:t>
            </a:r>
            <a:endParaRPr lang="en-US" sz="5000" dirty="0"/>
          </a:p>
        </p:txBody>
      </p:sp>
      <p:sp>
        <p:nvSpPr>
          <p:cNvPr id="15" name="Text 12"/>
          <p:cNvSpPr txBox="1"/>
          <p:nvPr/>
        </p:nvSpPr>
        <p:spPr>
          <a:xfrm>
            <a:off x="4343400" y="5212080"/>
            <a:ext cx="329184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der Männer bewarben sich in A oder B – über die Hälfte</a:t>
            </a:r>
            <a:endParaRPr lang="en-US" sz="1400" dirty="0"/>
          </a:p>
        </p:txBody>
      </p:sp>
      <p:sp>
        <p:nvSpPr>
          <p:cNvPr id="16" name="Shape 13"/>
          <p:cNvSpPr/>
          <p:nvPr/>
        </p:nvSpPr>
        <p:spPr>
          <a:xfrm>
            <a:off x="8092440" y="4160520"/>
            <a:ext cx="3383280" cy="0"/>
          </a:xfrm>
          <a:prstGeom prst="line">
            <a:avLst/>
          </a:prstGeom>
          <a:noFill/>
          <a:ln w="9525">
            <a:solidFill>
              <a:srgbClr val="D5DAE1"/>
            </a:solidFill>
            <a:prstDash val="solid"/>
          </a:ln>
        </p:spPr>
      </p:sp>
      <p:sp>
        <p:nvSpPr>
          <p:cNvPr id="17" name="Text 14"/>
          <p:cNvSpPr txBox="1"/>
          <p:nvPr/>
        </p:nvSpPr>
        <p:spPr>
          <a:xfrm>
            <a:off x="8092440" y="4297680"/>
            <a:ext cx="3383280" cy="868680"/>
          </a:xfrm>
          <a:prstGeom prst="rect">
            <a:avLst/>
          </a:prstGeom>
          <a:noFill/>
          <a:ln/>
        </p:spPr>
        <p:txBody>
          <a:bodyPr wrap="square" lIns="0" tIns="0" rIns="0" bIns="0" rtlCol="0" anchor="t"/>
          <a:lstStyle/>
          <a:p>
            <a:pPr indent="0" marL="0">
              <a:buNone/>
            </a:pPr>
            <a:r>
              <a:rPr lang="en-US" sz="5000" b="1" dirty="0">
                <a:solidFill>
                  <a:srgbClr val="111827"/>
                </a:solidFill>
                <a:latin typeface="Arial" pitchFamily="34" charset="0"/>
                <a:ea typeface="Arial" pitchFamily="34" charset="-122"/>
                <a:cs typeface="Arial" pitchFamily="34" charset="-120"/>
              </a:rPr>
              <a:t>−0.79</a:t>
            </a:r>
            <a:endParaRPr lang="en-US" sz="5000" dirty="0"/>
          </a:p>
        </p:txBody>
      </p:sp>
      <p:sp>
        <p:nvSpPr>
          <p:cNvPr id="18" name="Text 15"/>
          <p:cNvSpPr txBox="1"/>
          <p:nvPr/>
        </p:nvSpPr>
        <p:spPr>
          <a:xfrm>
            <a:off x="8092440" y="5212080"/>
            <a:ext cx="329184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Korrelation: Je höher der Frauenanteil eines Fachbereichs, desto tiefer seine Zulassungsquote</a:t>
            </a:r>
            <a:endParaRPr lang="en-US" sz="1400" dirty="0"/>
          </a:p>
        </p:txBody>
      </p:sp>
      <p:sp>
        <p:nvSpPr>
          <p:cNvPr id="19" name="Text 16"/>
          <p:cNvSpPr txBox="1"/>
          <p:nvPr/>
        </p:nvSpPr>
        <p:spPr>
          <a:xfrm>
            <a:off x="594360" y="6053328"/>
            <a:ext cx="11002975" cy="274320"/>
          </a:xfrm>
          <a:prstGeom prst="rect">
            <a:avLst/>
          </a:prstGeom>
          <a:noFill/>
          <a:ln/>
        </p:spPr>
        <p:txBody>
          <a:bodyPr wrap="square" lIns="0" tIns="0" rIns="0" bIns="0" rtlCol="0" anchor="t"/>
          <a:lstStyle/>
          <a:p>
            <a:pPr indent="0" marL="0">
              <a:buNone/>
            </a:pPr>
            <a:r>
              <a:rPr lang="en-US" sz="1200" b="1" dirty="0">
                <a:solidFill>
                  <a:srgbClr val="111827"/>
                </a:solidFill>
                <a:latin typeface="Arial" pitchFamily="34" charset="0"/>
                <a:ea typeface="Arial" pitchFamily="34" charset="-122"/>
                <a:cs typeface="Arial" pitchFamily="34" charset="-120"/>
              </a:rPr>
              <a:t>Beispiel: FB A 11.6 % Frauen, Quote 64.4 % · FB E 67.3 % Frauen, Quote 25.2 %</a:t>
            </a:r>
            <a:endParaRPr lang="en-US" sz="1200" dirty="0"/>
          </a:p>
        </p:txBody>
      </p:sp>
      <p:sp>
        <p:nvSpPr>
          <p:cNvPr id="20" name="Text 17"/>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Eigene Darstellung und Berechnung; Daten: Bickel et al. (1975); ZHAW SML (2026), Tabelle 4</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13 — AUFGABE C · SATZ DER TOTALEN WAHRSCHEINLICHKEIT</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13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Die Gesamtquote ist ein gewichteter Mittelwert</a:t>
            </a:r>
            <a:endParaRPr lang="en-US" sz="3000" dirty="0"/>
          </a:p>
        </p:txBody>
      </p:sp>
      <p:sp>
        <p:nvSpPr>
          <p:cNvPr id="5" name="Shape 3"/>
          <p:cNvSpPr/>
          <p:nvPr/>
        </p:nvSpPr>
        <p:spPr>
          <a:xfrm>
            <a:off x="0" y="1463040"/>
            <a:ext cx="12191695" cy="1371600"/>
          </a:xfrm>
          <a:prstGeom prst="rect">
            <a:avLst/>
          </a:prstGeom>
          <a:solidFill>
            <a:srgbClr val="F2F4F7"/>
          </a:solidFill>
          <a:ln w="12700">
            <a:solidFill>
              <a:srgbClr val="F2F4F7"/>
            </a:solidFill>
            <a:prstDash val="solid"/>
          </a:ln>
        </p:spPr>
      </p:sp>
      <p:sp>
        <p:nvSpPr>
          <p:cNvPr id="6" name="Text 4"/>
          <p:cNvSpPr txBox="1"/>
          <p:nvPr/>
        </p:nvSpPr>
        <p:spPr>
          <a:xfrm>
            <a:off x="594360" y="1645920"/>
            <a:ext cx="54864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ALLE WEGE IM BAUMDIAGRAMM ADDIEREN</a:t>
            </a:r>
            <a:endParaRPr lang="en-US" sz="1050" dirty="0"/>
          </a:p>
        </p:txBody>
      </p:sp>
      <p:sp>
        <p:nvSpPr>
          <p:cNvPr id="7" name="Text 5"/>
          <p:cNvSpPr txBox="1"/>
          <p:nvPr/>
        </p:nvSpPr>
        <p:spPr>
          <a:xfrm>
            <a:off x="594360" y="1965960"/>
            <a:ext cx="6583680" cy="640080"/>
          </a:xfrm>
          <a:prstGeom prst="rect">
            <a:avLst/>
          </a:prstGeom>
          <a:noFill/>
          <a:ln/>
        </p:spPr>
        <p:txBody>
          <a:bodyPr wrap="square" lIns="0" tIns="0" rIns="0" bIns="0" rtlCol="0" anchor="t"/>
          <a:lstStyle/>
          <a:p>
            <a:pPr indent="0" marL="0">
              <a:buNone/>
            </a:pPr>
            <a:r>
              <a:rPr lang="en-US" sz="3200" b="1" dirty="0">
                <a:solidFill>
                  <a:srgbClr val="111827"/>
                </a:solidFill>
                <a:latin typeface="Arial" pitchFamily="34" charset="0"/>
                <a:ea typeface="Arial" pitchFamily="34" charset="-122"/>
                <a:cs typeface="Arial" pitchFamily="34" charset="-120"/>
              </a:rPr>
              <a:t>P(Z | G) = Σ P(F</a:t>
            </a:r>
            <a:pPr indent="0" marL="0">
              <a:buNone/>
            </a:pPr>
            <a:r>
              <a:rPr lang="en-US" sz="3200" b="1" baseline="-40000" dirty="0">
                <a:solidFill>
                  <a:srgbClr val="111827"/>
                </a:solidFill>
                <a:latin typeface="Arial" pitchFamily="34" charset="0"/>
                <a:ea typeface="Arial" pitchFamily="34" charset="-122"/>
                <a:cs typeface="Arial" pitchFamily="34" charset="-120"/>
              </a:rPr>
              <a:t>i</a:t>
            </a:r>
            <a:pPr indent="0" marL="0">
              <a:buNone/>
            </a:pPr>
            <a:r>
              <a:rPr lang="en-US" sz="3200" b="1" dirty="0">
                <a:solidFill>
                  <a:srgbClr val="111827"/>
                </a:solidFill>
                <a:latin typeface="Arial" pitchFamily="34" charset="0"/>
                <a:ea typeface="Arial" pitchFamily="34" charset="-122"/>
                <a:cs typeface="Arial" pitchFamily="34" charset="-120"/>
              </a:rPr>
              <a:t> | G) · P(Z | F</a:t>
            </a:r>
            <a:pPr indent="0" marL="0">
              <a:buNone/>
            </a:pPr>
            <a:r>
              <a:rPr lang="en-US" sz="3200" b="1" baseline="-40000" dirty="0">
                <a:solidFill>
                  <a:srgbClr val="111827"/>
                </a:solidFill>
                <a:latin typeface="Arial" pitchFamily="34" charset="0"/>
                <a:ea typeface="Arial" pitchFamily="34" charset="-122"/>
                <a:cs typeface="Arial" pitchFamily="34" charset="-120"/>
              </a:rPr>
              <a:t>i</a:t>
            </a:r>
            <a:pPr indent="0" marL="0">
              <a:buNone/>
            </a:pPr>
            <a:r>
              <a:rPr lang="en-US" sz="3200" b="1" dirty="0">
                <a:solidFill>
                  <a:srgbClr val="111827"/>
                </a:solidFill>
                <a:latin typeface="Arial" pitchFamily="34" charset="0"/>
                <a:ea typeface="Arial" pitchFamily="34" charset="-122"/>
                <a:cs typeface="Arial" pitchFamily="34" charset="-120"/>
              </a:rPr>
              <a:t>, G)</a:t>
            </a:r>
            <a:endParaRPr lang="en-US" sz="3200" dirty="0"/>
          </a:p>
        </p:txBody>
      </p:sp>
      <p:sp>
        <p:nvSpPr>
          <p:cNvPr id="8" name="Text 6"/>
          <p:cNvSpPr txBox="1"/>
          <p:nvPr/>
        </p:nvSpPr>
        <p:spPr>
          <a:xfrm>
            <a:off x="7498080" y="1691640"/>
            <a:ext cx="4096512" cy="1005840"/>
          </a:xfrm>
          <a:prstGeom prst="rect">
            <a:avLst/>
          </a:prstGeom>
          <a:noFill/>
          <a:ln/>
        </p:spPr>
        <p:txBody>
          <a:bodyPr wrap="square" lIns="0" tIns="0" rIns="0" bIns="0" rtlCol="0" anchor="t"/>
          <a:lstStyle/>
          <a:p>
            <a:pPr indent="0" marL="0">
              <a:lnSpc>
                <a:spcPct val="115000"/>
              </a:lnSpc>
              <a:buNone/>
            </a:pPr>
            <a:r>
              <a:rPr lang="en-US" sz="1500" dirty="0">
                <a:solidFill>
                  <a:srgbClr val="111827"/>
                </a:solidFill>
                <a:latin typeface="Arial" pitchFamily="34" charset="0"/>
                <a:ea typeface="Arial" pitchFamily="34" charset="-122"/>
                <a:cs typeface="Arial" pitchFamily="34" charset="-120"/>
              </a:rPr>
              <a:t>Frauen haben ihre grossen Gewichte bei den tiefen Quoten. Mit gleichen Gewichten für beide kehrt sich der Unterschied um.</a:t>
            </a:r>
            <a:endParaRPr lang="en-US" sz="1500" dirty="0"/>
          </a:p>
        </p:txBody>
      </p:sp>
      <p:sp>
        <p:nvSpPr>
          <p:cNvPr id="9" name="Text 7"/>
          <p:cNvSpPr txBox="1"/>
          <p:nvPr/>
        </p:nvSpPr>
        <p:spPr>
          <a:xfrm>
            <a:off x="594360" y="3154680"/>
            <a:ext cx="4572000" cy="274320"/>
          </a:xfrm>
          <a:prstGeom prst="rect">
            <a:avLst/>
          </a:prstGeom>
          <a:noFill/>
          <a:ln/>
        </p:spPr>
        <p:txBody>
          <a:bodyPr wrap="square" lIns="0" tIns="0" rIns="0" bIns="0" rtlCol="0" anchor="t"/>
          <a:lstStyle/>
          <a:p>
            <a:pPr indent="0" marL="0">
              <a:buNone/>
            </a:pPr>
            <a:r>
              <a:rPr lang="en-US" sz="1500" b="1" dirty="0">
                <a:solidFill>
                  <a:srgbClr val="111827"/>
                </a:solidFill>
                <a:latin typeface="Arial" pitchFamily="34" charset="0"/>
                <a:ea typeface="Arial" pitchFamily="34" charset="-122"/>
                <a:cs typeface="Arial" pitchFamily="34" charset="-120"/>
              </a:rPr>
              <a:t>Tatsächlich</a:t>
            </a:r>
            <a:endParaRPr lang="en-US" sz="1500" dirty="0"/>
          </a:p>
        </p:txBody>
      </p:sp>
      <p:graphicFrame>
        <p:nvGraphicFramePr>
          <p:cNvPr id="10" name="Chart 0" descr=""/>
          <p:cNvGraphicFramePr/>
          <p:nvPr/>
        </p:nvGraphicFramePr>
        <p:xfrm>
          <a:off x="502920" y="3474720"/>
          <a:ext cx="4754880" cy="269748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6812280" y="3154680"/>
            <a:ext cx="4572000" cy="274320"/>
          </a:xfrm>
          <a:prstGeom prst="rect">
            <a:avLst/>
          </a:prstGeom>
          <a:noFill/>
          <a:ln/>
        </p:spPr>
        <p:txBody>
          <a:bodyPr wrap="square" lIns="0" tIns="0" rIns="0" bIns="0" rtlCol="0" anchor="t"/>
          <a:lstStyle/>
          <a:p>
            <a:pPr indent="0" marL="0">
              <a:buNone/>
            </a:pPr>
            <a:r>
              <a:rPr lang="en-US" sz="1500" b="1" dirty="0">
                <a:solidFill>
                  <a:srgbClr val="111827"/>
                </a:solidFill>
                <a:latin typeface="Arial" pitchFamily="34" charset="0"/>
                <a:ea typeface="Arial" pitchFamily="34" charset="-122"/>
                <a:cs typeface="Arial" pitchFamily="34" charset="-120"/>
              </a:rPr>
              <a:t>Bei gleicher Fachbereichswahl</a:t>
            </a:r>
            <a:endParaRPr lang="en-US" sz="1500" dirty="0"/>
          </a:p>
        </p:txBody>
      </p:sp>
      <p:graphicFrame>
        <p:nvGraphicFramePr>
          <p:cNvPr id="12" name="Chart 1" descr=""/>
          <p:cNvGraphicFramePr/>
          <p:nvPr/>
        </p:nvGraphicFramePr>
        <p:xfrm>
          <a:off x="6720840" y="3474720"/>
          <a:ext cx="4754880" cy="2697480"/>
        </p:xfrm>
        <a:graphic xmlns:a="http://schemas.openxmlformats.org/drawingml/2006/main">
          <a:graphicData uri="http://schemas.openxmlformats.org/drawingml/2006/chart">
            <c:chart xmlns:c="http://schemas.openxmlformats.org/drawingml/2006/chart" r:id="rId2"/>
          </a:graphicData>
        </a:graphic>
      </p:graphicFrame>
      <p:sp>
        <p:nvSpPr>
          <p:cNvPr id="13" name="Shape 9"/>
          <p:cNvSpPr/>
          <p:nvPr/>
        </p:nvSpPr>
        <p:spPr>
          <a:xfrm>
            <a:off x="5486400" y="4526280"/>
            <a:ext cx="1005840" cy="457200"/>
          </a:xfrm>
          <a:prstGeom prst="rightArrow">
            <a:avLst/>
          </a:prstGeom>
          <a:solidFill>
            <a:srgbClr val="E4572E"/>
          </a:solidFill>
          <a:ln w="12700">
            <a:solidFill>
              <a:srgbClr val="E4572E"/>
            </a:solidFill>
            <a:prstDash val="solid"/>
          </a:ln>
        </p:spPr>
      </p:sp>
      <p:sp>
        <p:nvSpPr>
          <p:cNvPr id="14" name="Text 10"/>
          <p:cNvSpPr txBox="1"/>
          <p:nvPr/>
        </p:nvSpPr>
        <p:spPr>
          <a:xfrm>
            <a:off x="5257800" y="5074920"/>
            <a:ext cx="1463040" cy="274320"/>
          </a:xfrm>
          <a:prstGeom prst="rect">
            <a:avLst/>
          </a:prstGeom>
          <a:noFill/>
          <a:ln/>
        </p:spPr>
        <p:txBody>
          <a:bodyPr wrap="square" lIns="0" tIns="0" rIns="0" bIns="0" rtlCol="0" anchor="t"/>
          <a:lstStyle/>
          <a:p>
            <a:pPr algn="ctr" indent="0" marL="0">
              <a:buNone/>
            </a:pPr>
            <a:r>
              <a:rPr lang="en-US" sz="1200" dirty="0">
                <a:solidFill>
                  <a:srgbClr val="5B6472"/>
                </a:solidFill>
                <a:latin typeface="Arial" pitchFamily="34" charset="0"/>
                <a:ea typeface="Arial" pitchFamily="34" charset="-122"/>
                <a:cs typeface="Arial" pitchFamily="34" charset="-120"/>
              </a:rPr>
              <a:t>gleiche Gewichte</a:t>
            </a:r>
            <a:endParaRPr lang="en-US" sz="1200" dirty="0"/>
          </a:p>
        </p:txBody>
      </p:sp>
      <p:sp>
        <p:nvSpPr>
          <p:cNvPr id="15" name="Text 11"/>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Eigene Darstellung und Berechnung; Schnauss (o. J.-b, Folie 37); Daten: Bickel et al. (1975)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14 — AUFGABE C · STOCHASTISCHE UNABHÄNGIGKEIT</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14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Insgesamt sind Zulassung und Geschlecht abhängig</a:t>
            </a:r>
            <a:endParaRPr lang="en-US" sz="3000" dirty="0"/>
          </a:p>
        </p:txBody>
      </p:sp>
      <p:sp>
        <p:nvSpPr>
          <p:cNvPr id="5" name="Text 3"/>
          <p:cNvSpPr txBox="1"/>
          <p:nvPr/>
        </p:nvSpPr>
        <p:spPr>
          <a:xfrm>
            <a:off x="594360" y="1417320"/>
            <a:ext cx="11002975" cy="320040"/>
          </a:xfrm>
          <a:prstGeom prst="rect">
            <a:avLst/>
          </a:prstGeom>
          <a:noFill/>
          <a:ln/>
        </p:spPr>
        <p:txBody>
          <a:bodyPr wrap="square" lIns="0" tIns="0" rIns="0" bIns="0" rtlCol="0" anchor="t"/>
          <a:lstStyle/>
          <a:p>
            <a:pPr indent="0" marL="0">
              <a:buNone/>
            </a:pPr>
            <a:r>
              <a:rPr lang="en-US" sz="1600" b="1" dirty="0">
                <a:solidFill>
                  <a:srgbClr val="111827"/>
                </a:solidFill>
                <a:latin typeface="Arial" pitchFamily="34" charset="0"/>
                <a:ea typeface="Arial" pitchFamily="34" charset="-122"/>
                <a:cs typeface="Arial" pitchFamily="34" charset="-120"/>
              </a:rPr>
              <a:t>Z</a:t>
            </a:r>
            <a:pPr indent="0" marL="0">
              <a:buNone/>
            </a:pPr>
            <a:r>
              <a:rPr lang="en-US" sz="1600" dirty="0">
                <a:solidFill>
                  <a:srgbClr val="111827"/>
                </a:solidFill>
                <a:latin typeface="Arial" pitchFamily="34" charset="0"/>
                <a:ea typeface="Arial" pitchFamily="34" charset="-122"/>
                <a:cs typeface="Arial" pitchFamily="34" charset="-120"/>
              </a:rPr>
              <a:t> = zugelassen,  </a:t>
            </a:r>
            <a:pPr indent="0" marL="0">
              <a:buNone/>
            </a:pPr>
            <a:r>
              <a:rPr lang="en-US" sz="1600" b="1" dirty="0">
                <a:solidFill>
                  <a:srgbClr val="111827"/>
                </a:solidFill>
                <a:latin typeface="Arial" pitchFamily="34" charset="0"/>
                <a:ea typeface="Arial" pitchFamily="34" charset="-122"/>
                <a:cs typeface="Arial" pitchFamily="34" charset="-120"/>
              </a:rPr>
              <a:t>W</a:t>
            </a:r>
            <a:pPr indent="0" marL="0">
              <a:buNone/>
            </a:pPr>
            <a:r>
              <a:rPr lang="en-US" sz="1600" dirty="0">
                <a:solidFill>
                  <a:srgbClr val="111827"/>
                </a:solidFill>
                <a:latin typeface="Arial" pitchFamily="34" charset="0"/>
                <a:ea typeface="Arial" pitchFamily="34" charset="-122"/>
                <a:cs typeface="Arial" pitchFamily="34" charset="-120"/>
              </a:rPr>
              <a:t> = Frau.  Unabhängig, falls  </a:t>
            </a:r>
            <a:pPr indent="0" marL="0">
              <a:buNone/>
            </a:pPr>
            <a:r>
              <a:rPr lang="en-US" sz="1600" b="1" dirty="0">
                <a:solidFill>
                  <a:srgbClr val="111827"/>
                </a:solidFill>
                <a:latin typeface="Arial" pitchFamily="34" charset="0"/>
                <a:ea typeface="Arial" pitchFamily="34" charset="-122"/>
                <a:cs typeface="Arial" pitchFamily="34" charset="-120"/>
              </a:rPr>
              <a:t>P(Z ∩ W) = P(Z) · P(W)</a:t>
            </a:r>
            <a:pPr indent="0" marL="0">
              <a:buNone/>
            </a:pPr>
            <a:r>
              <a:rPr lang="en-US" sz="1600" dirty="0">
                <a:solidFill>
                  <a:srgbClr val="111827"/>
                </a:solidFill>
                <a:latin typeface="Arial" pitchFamily="34" charset="0"/>
                <a:ea typeface="Arial" pitchFamily="34" charset="-122"/>
                <a:cs typeface="Arial" pitchFamily="34" charset="-120"/>
              </a:rPr>
              <a:t>,  gleichwertig  P(Z | W) = P(Z)</a:t>
            </a:r>
            <a:endParaRPr lang="en-US" sz="1600" dirty="0"/>
          </a:p>
        </p:txBody>
      </p:sp>
      <p:sp>
        <p:nvSpPr>
          <p:cNvPr id="6" name="Text 4"/>
          <p:cNvSpPr txBox="1"/>
          <p:nvPr/>
        </p:nvSpPr>
        <p:spPr>
          <a:xfrm>
            <a:off x="594360" y="2148840"/>
            <a:ext cx="54864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KREUZTABELLE, ALLE FACHBEREICHE</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94360" y="2468880"/>
          <a:ext cx="5394960" cy="914400"/>
        </p:xfrm>
        <a:graphic>
          <a:graphicData uri="http://schemas.openxmlformats.org/drawingml/2006/table">
            <a:tbl>
              <a:tblPr/>
              <a:tblGrid>
                <a:gridCol w="1417320"/>
                <a:gridCol w="1325880"/>
                <a:gridCol w="1325880"/>
                <a:gridCol w="1325880"/>
              </a:tblGrid>
              <a:tr h="411480">
                <a:tc>
                  <a:txBody>
                    <a:bodyPr/>
                    <a:lstStyle/>
                    <a:p>
                      <a:pPr algn="l" indent="0" marL="0">
                        <a:buNone/>
                      </a:pP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c>
                  <a:txBody>
                    <a:bodyPr/>
                    <a:lstStyle/>
                    <a:p>
                      <a:pPr algn="r" indent="0" marL="0">
                        <a:buNone/>
                      </a:pPr>
                      <a:r>
                        <a:rPr lang="en-US" sz="1300" b="1" dirty="0">
                          <a:solidFill>
                            <a:srgbClr val="5B6472"/>
                          </a:solidFill>
                          <a:latin typeface="Arial" pitchFamily="34" charset="0"/>
                          <a:ea typeface="Arial" pitchFamily="34" charset="-122"/>
                          <a:cs typeface="Arial" pitchFamily="34" charset="-120"/>
                        </a:rPr>
                        <a:t>zugelassen</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c>
                  <a:txBody>
                    <a:bodyPr/>
                    <a:lstStyle/>
                    <a:p>
                      <a:pPr algn="r" indent="0" marL="0">
                        <a:buNone/>
                      </a:pPr>
                      <a:r>
                        <a:rPr lang="en-US" sz="1300" b="1" dirty="0">
                          <a:solidFill>
                            <a:srgbClr val="5B6472"/>
                          </a:solidFill>
                          <a:latin typeface="Arial" pitchFamily="34" charset="0"/>
                          <a:ea typeface="Arial" pitchFamily="34" charset="-122"/>
                          <a:cs typeface="Arial" pitchFamily="34" charset="-120"/>
                        </a:rPr>
                        <a:t>abgelehnt</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c>
                  <a:txBody>
                    <a:bodyPr/>
                    <a:lstStyle/>
                    <a:p>
                      <a:pPr algn="r" indent="0" marL="0">
                        <a:buNone/>
                      </a:pPr>
                      <a:r>
                        <a:rPr lang="en-US" sz="1300" b="1" dirty="0">
                          <a:solidFill>
                            <a:srgbClr val="5B6472"/>
                          </a:solidFill>
                          <a:latin typeface="Arial" pitchFamily="34" charset="0"/>
                          <a:ea typeface="Arial" pitchFamily="34" charset="-122"/>
                          <a:cs typeface="Arial" pitchFamily="34" charset="-120"/>
                        </a:rPr>
                        <a:t>Total</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r>
              <a:tr h="502920">
                <a:tc>
                  <a:txBody>
                    <a:bodyPr/>
                    <a:lstStyle/>
                    <a:p>
                      <a:pPr algn="l" indent="0" marL="0">
                        <a:buNone/>
                      </a:pPr>
                      <a:r>
                        <a:rPr lang="en-US" sz="1600" b="1" dirty="0">
                          <a:solidFill>
                            <a:srgbClr val="B93C17"/>
                          </a:solidFill>
                          <a:latin typeface="Arial" pitchFamily="34" charset="0"/>
                          <a:ea typeface="Arial" pitchFamily="34" charset="-122"/>
                          <a:cs typeface="Arial" pitchFamily="34" charset="-120"/>
                        </a:rPr>
                        <a:t>Frauen</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dirty="0">
                          <a:solidFill>
                            <a:srgbClr val="111827"/>
                          </a:solidFill>
                          <a:latin typeface="Arial" pitchFamily="34" charset="0"/>
                          <a:ea typeface="Arial" pitchFamily="34" charset="-122"/>
                          <a:cs typeface="Arial" pitchFamily="34" charset="-120"/>
                        </a:rPr>
                        <a:t>557</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dirty="0">
                          <a:solidFill>
                            <a:srgbClr val="111827"/>
                          </a:solidFill>
                          <a:latin typeface="Arial" pitchFamily="34" charset="0"/>
                          <a:ea typeface="Arial" pitchFamily="34" charset="-122"/>
                          <a:cs typeface="Arial" pitchFamily="34" charset="-120"/>
                        </a:rPr>
                        <a:t>1 278</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dirty="0">
                          <a:solidFill>
                            <a:srgbClr val="111827"/>
                          </a:solidFill>
                          <a:latin typeface="Arial" pitchFamily="34" charset="0"/>
                          <a:ea typeface="Arial" pitchFamily="34" charset="-122"/>
                          <a:cs typeface="Arial" pitchFamily="34" charset="-120"/>
                        </a:rPr>
                        <a:t>1 835</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r h="502920">
                <a:tc>
                  <a:txBody>
                    <a:bodyPr/>
                    <a:lstStyle/>
                    <a:p>
                      <a:pPr algn="l" indent="0" marL="0">
                        <a:buNone/>
                      </a:pPr>
                      <a:r>
                        <a:rPr lang="en-US" sz="1600" b="1" dirty="0">
                          <a:solidFill>
                            <a:srgbClr val="2F4B7C"/>
                          </a:solidFill>
                          <a:latin typeface="Arial" pitchFamily="34" charset="0"/>
                          <a:ea typeface="Arial" pitchFamily="34" charset="-122"/>
                          <a:cs typeface="Arial" pitchFamily="34" charset="-120"/>
                        </a:rPr>
                        <a:t>Männer</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dirty="0">
                          <a:solidFill>
                            <a:srgbClr val="111827"/>
                          </a:solidFill>
                          <a:latin typeface="Arial" pitchFamily="34" charset="0"/>
                          <a:ea typeface="Arial" pitchFamily="34" charset="-122"/>
                          <a:cs typeface="Arial" pitchFamily="34" charset="-120"/>
                        </a:rPr>
                        <a:t>1 198</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dirty="0">
                          <a:solidFill>
                            <a:srgbClr val="111827"/>
                          </a:solidFill>
                          <a:latin typeface="Arial" pitchFamily="34" charset="0"/>
                          <a:ea typeface="Arial" pitchFamily="34" charset="-122"/>
                          <a:cs typeface="Arial" pitchFamily="34" charset="-120"/>
                        </a:rPr>
                        <a:t>1 493</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dirty="0">
                          <a:solidFill>
                            <a:srgbClr val="111827"/>
                          </a:solidFill>
                          <a:latin typeface="Arial" pitchFamily="34" charset="0"/>
                          <a:ea typeface="Arial" pitchFamily="34" charset="-122"/>
                          <a:cs typeface="Arial" pitchFamily="34" charset="-120"/>
                        </a:rPr>
                        <a:t>2 691</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r h="502920">
                <a:tc>
                  <a:txBody>
                    <a:bodyPr/>
                    <a:lstStyle/>
                    <a:p>
                      <a:pPr algn="l" indent="0" marL="0">
                        <a:buNone/>
                      </a:pPr>
                      <a:r>
                        <a:rPr lang="en-US" sz="1600" b="1" dirty="0">
                          <a:solidFill>
                            <a:srgbClr val="111827"/>
                          </a:solidFill>
                          <a:latin typeface="Arial" pitchFamily="34" charset="0"/>
                          <a:ea typeface="Arial" pitchFamily="34" charset="-122"/>
                          <a:cs typeface="Arial" pitchFamily="34" charset="-120"/>
                        </a:rPr>
                        <a:t>Total</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b="1" dirty="0">
                          <a:solidFill>
                            <a:srgbClr val="111827"/>
                          </a:solidFill>
                          <a:latin typeface="Arial" pitchFamily="34" charset="0"/>
                          <a:ea typeface="Arial" pitchFamily="34" charset="-122"/>
                          <a:cs typeface="Arial" pitchFamily="34" charset="-120"/>
                        </a:rPr>
                        <a:t>1 755</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b="1" dirty="0">
                          <a:solidFill>
                            <a:srgbClr val="111827"/>
                          </a:solidFill>
                          <a:latin typeface="Arial" pitchFamily="34" charset="0"/>
                          <a:ea typeface="Arial" pitchFamily="34" charset="-122"/>
                          <a:cs typeface="Arial" pitchFamily="34" charset="-120"/>
                        </a:rPr>
                        <a:t>2 771</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b="1" dirty="0">
                          <a:solidFill>
                            <a:srgbClr val="111827"/>
                          </a:solidFill>
                          <a:latin typeface="Arial" pitchFamily="34" charset="0"/>
                          <a:ea typeface="Arial" pitchFamily="34" charset="-122"/>
                          <a:cs typeface="Arial" pitchFamily="34" charset="-120"/>
                        </a:rPr>
                        <a:t>4 526</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bl>
          </a:graphicData>
        </a:graphic>
      </p:graphicFrame>
      <p:sp>
        <p:nvSpPr>
          <p:cNvPr id="8" name="Text 5"/>
          <p:cNvSpPr txBox="1"/>
          <p:nvPr/>
        </p:nvSpPr>
        <p:spPr>
          <a:xfrm>
            <a:off x="594360" y="4617720"/>
            <a:ext cx="5394960" cy="274320"/>
          </a:xfrm>
          <a:prstGeom prst="rect">
            <a:avLst/>
          </a:prstGeom>
          <a:noFill/>
          <a:ln/>
        </p:spPr>
        <p:txBody>
          <a:bodyPr wrap="square" lIns="0" tIns="0" rIns="0" bIns="0" rtlCol="0" anchor="t"/>
          <a:lstStyle/>
          <a:p>
            <a:pPr indent="0" marL="0">
              <a:buNone/>
            </a:pPr>
            <a:r>
              <a:rPr lang="en-US" sz="1400" dirty="0">
                <a:solidFill>
                  <a:srgbClr val="5B6472"/>
                </a:solidFill>
                <a:latin typeface="Arial" pitchFamily="34" charset="0"/>
                <a:ea typeface="Arial" pitchFamily="34" charset="-122"/>
                <a:cs typeface="Arial" pitchFamily="34" charset="-120"/>
              </a:rPr>
              <a:t>P(Z) = 0.388  ·  P(W) = 0.405  ·  P(Z | W) = 0.304</a:t>
            </a:r>
            <a:endParaRPr lang="en-US" sz="1400" dirty="0"/>
          </a:p>
        </p:txBody>
      </p:sp>
      <p:sp>
        <p:nvSpPr>
          <p:cNvPr id="9" name="Text 6"/>
          <p:cNvSpPr txBox="1"/>
          <p:nvPr/>
        </p:nvSpPr>
        <p:spPr>
          <a:xfrm>
            <a:off x="6812280" y="2103120"/>
            <a:ext cx="2651760" cy="1005840"/>
          </a:xfrm>
          <a:prstGeom prst="rect">
            <a:avLst/>
          </a:prstGeom>
          <a:noFill/>
          <a:ln/>
        </p:spPr>
        <p:txBody>
          <a:bodyPr wrap="square" lIns="0" tIns="0" rIns="0" bIns="0" rtlCol="0" anchor="t"/>
          <a:lstStyle/>
          <a:p>
            <a:pPr indent="0" marL="0">
              <a:buNone/>
            </a:pPr>
            <a:r>
              <a:rPr lang="en-US" sz="7200" b="1" dirty="0">
                <a:solidFill>
                  <a:srgbClr val="E4572E"/>
                </a:solidFill>
                <a:latin typeface="Arial" pitchFamily="34" charset="0"/>
                <a:ea typeface="Arial" pitchFamily="34" charset="-122"/>
                <a:cs typeface="Arial" pitchFamily="34" charset="-120"/>
              </a:rPr>
              <a:t>0.123</a:t>
            </a:r>
            <a:endParaRPr lang="en-US" sz="7200" dirty="0"/>
          </a:p>
        </p:txBody>
      </p:sp>
      <p:sp>
        <p:nvSpPr>
          <p:cNvPr id="10" name="Text 7"/>
          <p:cNvSpPr txBox="1"/>
          <p:nvPr/>
        </p:nvSpPr>
        <p:spPr>
          <a:xfrm>
            <a:off x="9555480" y="2331720"/>
            <a:ext cx="2011680" cy="640080"/>
          </a:xfrm>
          <a:prstGeom prst="rect">
            <a:avLst/>
          </a:prstGeom>
          <a:noFill/>
          <a:ln/>
        </p:spPr>
        <p:txBody>
          <a:bodyPr wrap="square" lIns="0" tIns="0" rIns="0" bIns="0" rtlCol="0" anchor="t"/>
          <a:lstStyle/>
          <a:p>
            <a:pPr indent="0" marL="0">
              <a:buNone/>
            </a:pPr>
            <a:r>
              <a:rPr lang="en-US" sz="1500" b="1" dirty="0">
                <a:solidFill>
                  <a:srgbClr val="111827"/>
                </a:solidFill>
                <a:latin typeface="Arial" pitchFamily="34" charset="0"/>
                <a:ea typeface="Arial" pitchFamily="34" charset="-122"/>
                <a:cs typeface="Arial" pitchFamily="34" charset="-120"/>
              </a:rPr>
              <a:t>P(Z ∩ W)</a:t>
            </a:r>
            <a:endParaRPr lang="en-US" sz="1500" dirty="0"/>
          </a:p>
          <a:p>
            <a:pPr indent="0" marL="0">
              <a:buNone/>
            </a:pPr>
            <a:r>
              <a:rPr lang="en-US" sz="1500" dirty="0">
                <a:solidFill>
                  <a:srgbClr val="111827"/>
                </a:solidFill>
                <a:latin typeface="Arial" pitchFamily="34" charset="0"/>
                <a:ea typeface="Arial" pitchFamily="34" charset="-122"/>
                <a:cs typeface="Arial" pitchFamily="34" charset="-120"/>
              </a:rPr>
              <a:t>beobachtet</a:t>
            </a:r>
            <a:endParaRPr lang="en-US" sz="1500" dirty="0"/>
          </a:p>
        </p:txBody>
      </p:sp>
      <p:sp>
        <p:nvSpPr>
          <p:cNvPr id="11" name="Text 8"/>
          <p:cNvSpPr txBox="1"/>
          <p:nvPr/>
        </p:nvSpPr>
        <p:spPr>
          <a:xfrm>
            <a:off x="6812280" y="3154680"/>
            <a:ext cx="2651760" cy="1005840"/>
          </a:xfrm>
          <a:prstGeom prst="rect">
            <a:avLst/>
          </a:prstGeom>
          <a:noFill/>
          <a:ln/>
        </p:spPr>
        <p:txBody>
          <a:bodyPr wrap="square" lIns="0" tIns="0" rIns="0" bIns="0" rtlCol="0" anchor="t"/>
          <a:lstStyle/>
          <a:p>
            <a:pPr indent="0" marL="0">
              <a:buNone/>
            </a:pPr>
            <a:r>
              <a:rPr lang="en-US" sz="7200" b="1" dirty="0">
                <a:solidFill>
                  <a:srgbClr val="111827"/>
                </a:solidFill>
                <a:latin typeface="Arial" pitchFamily="34" charset="0"/>
                <a:ea typeface="Arial" pitchFamily="34" charset="-122"/>
                <a:cs typeface="Arial" pitchFamily="34" charset="-120"/>
              </a:rPr>
              <a:t>0.157</a:t>
            </a:r>
            <a:endParaRPr lang="en-US" sz="7200" dirty="0"/>
          </a:p>
        </p:txBody>
      </p:sp>
      <p:sp>
        <p:nvSpPr>
          <p:cNvPr id="12" name="Text 9"/>
          <p:cNvSpPr txBox="1"/>
          <p:nvPr/>
        </p:nvSpPr>
        <p:spPr>
          <a:xfrm>
            <a:off x="9555480" y="3383280"/>
            <a:ext cx="2011680" cy="640080"/>
          </a:xfrm>
          <a:prstGeom prst="rect">
            <a:avLst/>
          </a:prstGeom>
          <a:noFill/>
          <a:ln/>
        </p:spPr>
        <p:txBody>
          <a:bodyPr wrap="square" lIns="0" tIns="0" rIns="0" bIns="0" rtlCol="0" anchor="t"/>
          <a:lstStyle/>
          <a:p>
            <a:pPr indent="0" marL="0">
              <a:buNone/>
            </a:pPr>
            <a:r>
              <a:rPr lang="en-US" sz="1500" b="1" dirty="0">
                <a:solidFill>
                  <a:srgbClr val="111827"/>
                </a:solidFill>
                <a:latin typeface="Arial" pitchFamily="34" charset="0"/>
                <a:ea typeface="Arial" pitchFamily="34" charset="-122"/>
                <a:cs typeface="Arial" pitchFamily="34" charset="-120"/>
              </a:rPr>
              <a:t>P(Z) · P(W)</a:t>
            </a:r>
            <a:endParaRPr lang="en-US" sz="1500" dirty="0"/>
          </a:p>
          <a:p>
            <a:pPr indent="0" marL="0">
              <a:buNone/>
            </a:pPr>
            <a:r>
              <a:rPr lang="en-US" sz="1500" dirty="0">
                <a:solidFill>
                  <a:srgbClr val="111827"/>
                </a:solidFill>
                <a:latin typeface="Arial" pitchFamily="34" charset="0"/>
                <a:ea typeface="Arial" pitchFamily="34" charset="-122"/>
                <a:cs typeface="Arial" pitchFamily="34" charset="-120"/>
              </a:rPr>
              <a:t>bei Unabhängigkeit</a:t>
            </a:r>
            <a:endParaRPr lang="en-US" sz="1500" dirty="0"/>
          </a:p>
        </p:txBody>
      </p:sp>
      <p:sp>
        <p:nvSpPr>
          <p:cNvPr id="13" name="Shape 10"/>
          <p:cNvSpPr/>
          <p:nvPr/>
        </p:nvSpPr>
        <p:spPr>
          <a:xfrm>
            <a:off x="6812280" y="4434840"/>
            <a:ext cx="4782312" cy="868680"/>
          </a:xfrm>
          <a:prstGeom prst="rect">
            <a:avLst/>
          </a:prstGeom>
          <a:solidFill>
            <a:srgbClr val="111827"/>
          </a:solidFill>
          <a:ln w="12700">
            <a:solidFill>
              <a:srgbClr val="111827"/>
            </a:solidFill>
            <a:prstDash val="solid"/>
          </a:ln>
        </p:spPr>
      </p:sp>
      <p:sp>
        <p:nvSpPr>
          <p:cNvPr id="14" name="Text 11"/>
          <p:cNvSpPr txBox="1"/>
          <p:nvPr/>
        </p:nvSpPr>
        <p:spPr>
          <a:xfrm>
            <a:off x="7040880" y="4434840"/>
            <a:ext cx="4389120" cy="8686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22 % weniger als erwartet: Zulassung und Geschlecht sind abhängig</a:t>
            </a:r>
            <a:endParaRPr lang="en-US" sz="1600" dirty="0"/>
          </a:p>
        </p:txBody>
      </p:sp>
      <p:sp>
        <p:nvSpPr>
          <p:cNvPr id="15" name="Text 12"/>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Eigene Berechnung; Definition: Schnauss (o. J.-b, Folien 34–36); Daten: Bickel et al. (1975)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15 — AUFGABE C · STOCHASTISCHE UNABHÄNGIGKEIT</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15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Je Fachbereich annähernd unabhängig</a:t>
            </a:r>
            <a:endParaRPr lang="en-US" sz="3000" dirty="0"/>
          </a:p>
        </p:txBody>
      </p:sp>
      <p:sp>
        <p:nvSpPr>
          <p:cNvPr id="5" name="Text 3"/>
          <p:cNvSpPr txBox="1"/>
          <p:nvPr/>
        </p:nvSpPr>
        <p:spPr>
          <a:xfrm>
            <a:off x="594360" y="1371600"/>
            <a:ext cx="5486400" cy="274320"/>
          </a:xfrm>
          <a:prstGeom prst="rect">
            <a:avLst/>
          </a:prstGeom>
          <a:noFill/>
          <a:ln/>
        </p:spPr>
        <p:txBody>
          <a:bodyPr wrap="square" lIns="0" tIns="0" rIns="0" bIns="0" rtlCol="0" anchor="t"/>
          <a:lstStyle/>
          <a:p>
            <a:pPr indent="0" marL="0">
              <a:buNone/>
            </a:pPr>
            <a:r>
              <a:rPr lang="en-US" sz="1500" dirty="0">
                <a:solidFill>
                  <a:srgbClr val="5B6472"/>
                </a:solidFill>
                <a:latin typeface="Arial" pitchFamily="34" charset="0"/>
                <a:ea typeface="Arial" pitchFamily="34" charset="-122"/>
                <a:cs typeface="Arial" pitchFamily="34" charset="-120"/>
              </a:rPr>
              <a:t>Differenz der Zulassungsquoten, Frauen minus Männer (PP)</a:t>
            </a:r>
            <a:endParaRPr lang="en-US" sz="1500" dirty="0"/>
          </a:p>
        </p:txBody>
      </p:sp>
      <p:graphicFrame>
        <p:nvGraphicFramePr>
          <p:cNvPr id="6" name="Chart 0" descr=""/>
          <p:cNvGraphicFramePr/>
          <p:nvPr/>
        </p:nvGraphicFramePr>
        <p:xfrm>
          <a:off x="502920" y="1737360"/>
          <a:ext cx="5394960" cy="3977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1691640" y="5760720"/>
            <a:ext cx="4206240" cy="274320"/>
          </a:xfrm>
          <a:prstGeom prst="rect">
            <a:avLst/>
          </a:prstGeom>
          <a:noFill/>
          <a:ln/>
        </p:spPr>
        <p:txBody>
          <a:bodyPr wrap="square" lIns="0" tIns="0" rIns="0" bIns="0" rtlCol="0" anchor="t"/>
          <a:lstStyle/>
          <a:p>
            <a:pPr indent="0" marL="0">
              <a:buNone/>
            </a:pPr>
            <a:r>
              <a:rPr lang="en-US" sz="1200" b="1" dirty="0">
                <a:solidFill>
                  <a:srgbClr val="2F4B7C"/>
                </a:solidFill>
                <a:latin typeface="Arial" pitchFamily="34" charset="0"/>
                <a:ea typeface="Arial" pitchFamily="34" charset="-122"/>
                <a:cs typeface="Arial" pitchFamily="34" charset="-120"/>
              </a:rPr>
              <a:t>← zugunsten Männer</a:t>
            </a:r>
            <a:pPr indent="0" marL="0">
              <a:buNone/>
            </a:pPr>
            <a:r>
              <a:rPr lang="en-US" sz="1200" dirty="0">
                <a:solidFill>
                  <a:srgbClr val="111827"/>
                </a:solidFill>
                <a:latin typeface="Arial" pitchFamily="34" charset="0"/>
                <a:ea typeface="Arial" pitchFamily="34" charset="-122"/>
                <a:cs typeface="Arial" pitchFamily="34" charset="-120"/>
              </a:rPr>
              <a:t>     </a:t>
            </a:r>
            <a:pPr indent="0" marL="0">
              <a:buNone/>
            </a:pPr>
            <a:r>
              <a:rPr lang="en-US" sz="1200" b="1" dirty="0">
                <a:solidFill>
                  <a:srgbClr val="B93C17"/>
                </a:solidFill>
                <a:latin typeface="Arial" pitchFamily="34" charset="0"/>
                <a:ea typeface="Arial" pitchFamily="34" charset="-122"/>
                <a:cs typeface="Arial" pitchFamily="34" charset="-120"/>
              </a:rPr>
              <a:t>zugunsten Frauen →</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263640" y="1737360"/>
          <a:ext cx="5330952" cy="914400"/>
        </p:xfrm>
        <a:graphic>
          <a:graphicData uri="http://schemas.openxmlformats.org/drawingml/2006/table">
            <a:tbl>
              <a:tblPr/>
              <a:tblGrid>
                <a:gridCol w="914400"/>
                <a:gridCol w="1051560"/>
                <a:gridCol w="1143000"/>
                <a:gridCol w="2221992"/>
              </a:tblGrid>
              <a:tr h="475488">
                <a:tc>
                  <a:txBody>
                    <a:bodyPr/>
                    <a:lstStyle/>
                    <a:p>
                      <a:pPr algn="l" indent="0" marL="0">
                        <a:buNone/>
                      </a:pP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c>
                  <a:txBody>
                    <a:bodyPr/>
                    <a:lstStyle/>
                    <a:p>
                      <a:pPr algn="r" indent="0" marL="0">
                        <a:buNone/>
                      </a:pPr>
                      <a:r>
                        <a:rPr lang="en-US" sz="1300" b="1" dirty="0">
                          <a:solidFill>
                            <a:srgbClr val="5B64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c>
                  <a:txBody>
                    <a:bodyPr/>
                    <a:lstStyle/>
                    <a:p>
                      <a:pPr algn="r" indent="0" marL="0">
                        <a:buNone/>
                      </a:pPr>
                      <a:r>
                        <a:rPr lang="en-US" sz="1300" b="1" dirty="0">
                          <a:solidFill>
                            <a:srgbClr val="5B6472"/>
                          </a:solidFill>
                          <a:latin typeface="Arial" pitchFamily="34" charset="0"/>
                          <a:ea typeface="Arial" pitchFamily="34" charset="-122"/>
                          <a:cs typeface="Arial" pitchFamily="34" charset="-120"/>
                        </a:rPr>
                        <a:t>P(Z)·P(W)</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c>
                  <a:txBody>
                    <a:bodyPr/>
                    <a:lstStyle/>
                    <a:p>
                      <a:pPr algn="l" indent="0" marL="0">
                        <a:buNone/>
                      </a:pPr>
                      <a:r>
                        <a:rPr lang="en-US" sz="1300" b="1" dirty="0">
                          <a:solidFill>
                            <a:srgbClr val="5B6472"/>
                          </a:solidFill>
                          <a:latin typeface="Arial" pitchFamily="34" charset="0"/>
                          <a:ea typeface="Arial" pitchFamily="34" charset="-122"/>
                          <a:cs typeface="Arial" pitchFamily="34" charset="-120"/>
                        </a:rPr>
                        <a:t>Beurteilung</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Gesamt</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0.1231</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0.1572</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abhängig</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FB A</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CE6DE"/>
                    </a:solidFill>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0.0954</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CE6DE"/>
                    </a:solidFill>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0.0746</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CE6DE"/>
                    </a:solidFill>
                  </a:tcPr>
                </a:tc>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abhängig, zugunsten Frauen</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CE6DE"/>
                    </a:solidFill>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FB B</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0.0291</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0.0270</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l" indent="0" marL="0">
                        <a:buNone/>
                      </a:pPr>
                      <a:r>
                        <a:rPr lang="en-US" sz="1400" dirty="0">
                          <a:solidFill>
                            <a:srgbClr val="111827"/>
                          </a:solidFill>
                          <a:latin typeface="Arial" pitchFamily="34" charset="0"/>
                          <a:ea typeface="Arial" pitchFamily="34" charset="-122"/>
                          <a:cs typeface="Arial" pitchFamily="34" charset="-120"/>
                        </a:rPr>
                        <a:t>annähernd unabhängig*</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FB C</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0.2200</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0.2266</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l" indent="0" marL="0">
                        <a:buNone/>
                      </a:pPr>
                      <a:r>
                        <a:rPr lang="en-US" sz="1400" dirty="0">
                          <a:solidFill>
                            <a:srgbClr val="111827"/>
                          </a:solidFill>
                          <a:latin typeface="Arial" pitchFamily="34" charset="0"/>
                          <a:ea typeface="Arial" pitchFamily="34" charset="-122"/>
                          <a:cs typeface="Arial" pitchFamily="34" charset="-120"/>
                        </a:rPr>
                        <a:t>annähernd unabhängig</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FB D</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0.1654</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0.1608</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l" indent="0" marL="0">
                        <a:buNone/>
                      </a:pPr>
                      <a:r>
                        <a:rPr lang="en-US" sz="1400" dirty="0">
                          <a:solidFill>
                            <a:srgbClr val="111827"/>
                          </a:solidFill>
                          <a:latin typeface="Arial" pitchFamily="34" charset="0"/>
                          <a:ea typeface="Arial" pitchFamily="34" charset="-122"/>
                          <a:cs typeface="Arial" pitchFamily="34" charset="-120"/>
                        </a:rPr>
                        <a:t>annähernd unabhängig</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FB E</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0.1610</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0.1694</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l" indent="0" marL="0">
                        <a:buNone/>
                      </a:pPr>
                      <a:r>
                        <a:rPr lang="en-US" sz="1400" dirty="0">
                          <a:solidFill>
                            <a:srgbClr val="111827"/>
                          </a:solidFill>
                          <a:latin typeface="Arial" pitchFamily="34" charset="0"/>
                          <a:ea typeface="Arial" pitchFamily="34" charset="-122"/>
                          <a:cs typeface="Arial" pitchFamily="34" charset="-120"/>
                        </a:rPr>
                        <a:t>annähernd unabhängig</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FB F</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0.0336</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0.0308</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l" indent="0" marL="0">
                        <a:buNone/>
                      </a:pPr>
                      <a:r>
                        <a:rPr lang="en-US" sz="1400" dirty="0">
                          <a:solidFill>
                            <a:srgbClr val="111827"/>
                          </a:solidFill>
                          <a:latin typeface="Arial" pitchFamily="34" charset="0"/>
                          <a:ea typeface="Arial" pitchFamily="34" charset="-122"/>
                          <a:cs typeface="Arial" pitchFamily="34" charset="-120"/>
                        </a:rPr>
                        <a:t>annähernd unabhängig</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bl>
          </a:graphicData>
        </a:graphic>
      </p:graphicFrame>
      <p:sp>
        <p:nvSpPr>
          <p:cNvPr id="9" name="Text 5"/>
          <p:cNvSpPr txBox="1"/>
          <p:nvPr/>
        </p:nvSpPr>
        <p:spPr>
          <a:xfrm>
            <a:off x="6263640" y="5669280"/>
            <a:ext cx="5330952" cy="457200"/>
          </a:xfrm>
          <a:prstGeom prst="rect">
            <a:avLst/>
          </a:prstGeom>
          <a:noFill/>
          <a:ln/>
        </p:spPr>
        <p:txBody>
          <a:bodyPr wrap="square" lIns="0" tIns="0" rIns="0" bIns="0" rtlCol="0" anchor="t"/>
          <a:lstStyle/>
          <a:p>
            <a:pPr indent="0" marL="0">
              <a:buNone/>
            </a:pPr>
            <a:r>
              <a:rPr lang="en-US" sz="1200" dirty="0">
                <a:solidFill>
                  <a:srgbClr val="5B6472"/>
                </a:solidFill>
                <a:latin typeface="Arial" pitchFamily="34" charset="0"/>
                <a:ea typeface="Arial" pitchFamily="34" charset="-122"/>
                <a:cs typeface="Arial" pitchFamily="34" charset="-120"/>
              </a:rPr>
              <a:t>B bis F: höchstens 5 PP Unterschied, mit wechselnder Richtung · * B: nur 25 Bewerbungen von Frauen</a:t>
            </a:r>
            <a:endParaRPr lang="en-US" sz="1200" dirty="0"/>
          </a:p>
        </p:txBody>
      </p:sp>
      <p:sp>
        <p:nvSpPr>
          <p:cNvPr id="10" name="Text 6"/>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Eigene Berechnung aus ungerundeten Anzahlen; PP = Prozentpunkte; Daten: Bickel et al. (1975)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8C97A8"/>
                </a:solidFill>
                <a:latin typeface="Arial" pitchFamily="34" charset="0"/>
                <a:ea typeface="Arial" pitchFamily="34" charset="-122"/>
                <a:cs typeface="Arial" pitchFamily="34" charset="-120"/>
              </a:rPr>
              <a:t>16 — KERNAUSSAGE</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8C97A8"/>
                </a:solidFill>
                <a:latin typeface="Arial" pitchFamily="34" charset="0"/>
                <a:ea typeface="Arial" pitchFamily="34" charset="-122"/>
                <a:cs typeface="Arial" pitchFamily="34" charset="-120"/>
              </a:rPr>
              <a:t>16 / 18</a:t>
            </a:r>
            <a:endParaRPr lang="en-US" sz="1050" dirty="0"/>
          </a:p>
        </p:txBody>
      </p:sp>
      <p:sp>
        <p:nvSpPr>
          <p:cNvPr id="4" name="Text 2"/>
          <p:cNvSpPr txBox="1"/>
          <p:nvPr/>
        </p:nvSpPr>
        <p:spPr>
          <a:xfrm>
            <a:off x="594360" y="2011680"/>
            <a:ext cx="10515600" cy="1737360"/>
          </a:xfrm>
          <a:prstGeom prst="rect">
            <a:avLst/>
          </a:prstGeom>
          <a:noFill/>
          <a:ln/>
        </p:spPr>
        <p:txBody>
          <a:bodyPr wrap="square" lIns="0" tIns="0" rIns="0" bIns="0" rtlCol="0" anchor="t"/>
          <a:lstStyle/>
          <a:p>
            <a:pPr indent="0" marL="0">
              <a:lnSpc>
                <a:spcPct val="100000"/>
              </a:lnSpc>
              <a:buNone/>
            </a:pPr>
            <a:r>
              <a:rPr lang="en-US" sz="5600" b="1" dirty="0">
                <a:solidFill>
                  <a:srgbClr val="FFFFFF"/>
                </a:solidFill>
                <a:latin typeface="Arial" pitchFamily="34" charset="0"/>
                <a:ea typeface="Arial" pitchFamily="34" charset="-122"/>
                <a:cs typeface="Arial" pitchFamily="34" charset="-120"/>
              </a:rPr>
              <a:t>Der </a:t>
            </a:r>
            <a:pPr indent="0" marL="0">
              <a:lnSpc>
                <a:spcPct val="100000"/>
              </a:lnSpc>
              <a:buNone/>
            </a:pPr>
            <a:r>
              <a:rPr lang="en-US" sz="5600" b="1" dirty="0">
                <a:solidFill>
                  <a:srgbClr val="E4572E"/>
                </a:solidFill>
                <a:latin typeface="Arial" pitchFamily="34" charset="0"/>
                <a:ea typeface="Arial" pitchFamily="34" charset="-122"/>
                <a:cs typeface="Arial" pitchFamily="34" charset="-120"/>
              </a:rPr>
              <a:t>Fachbereich</a:t>
            </a:r>
            <a:pPr indent="0" marL="0">
              <a:lnSpc>
                <a:spcPct val="100000"/>
              </a:lnSpc>
              <a:buNone/>
            </a:pPr>
            <a:r>
              <a:rPr lang="en-US" sz="5600" b="1" dirty="0">
                <a:solidFill>
                  <a:srgbClr val="FFFFFF"/>
                </a:solidFill>
                <a:latin typeface="Arial" pitchFamily="34" charset="0"/>
                <a:ea typeface="Arial" pitchFamily="34" charset="-122"/>
                <a:cs typeface="Arial" pitchFamily="34" charset="-120"/>
              </a:rPr>
              <a:t> erklärt den Unterschied.</a:t>
            </a:r>
            <a:endParaRPr lang="en-US" sz="5600" dirty="0"/>
          </a:p>
        </p:txBody>
      </p:sp>
      <p:sp>
        <p:nvSpPr>
          <p:cNvPr id="5" name="Text 3"/>
          <p:cNvSpPr txBox="1"/>
          <p:nvPr/>
        </p:nvSpPr>
        <p:spPr>
          <a:xfrm>
            <a:off x="594360" y="3977640"/>
            <a:ext cx="7863840" cy="1097280"/>
          </a:xfrm>
          <a:prstGeom prst="rect">
            <a:avLst/>
          </a:prstGeom>
          <a:noFill/>
          <a:ln/>
        </p:spPr>
        <p:txBody>
          <a:bodyPr wrap="square" lIns="0" tIns="0" rIns="0" bIns="0" rtlCol="0" anchor="t"/>
          <a:lstStyle/>
          <a:p>
            <a:pPr indent="0" marL="0">
              <a:lnSpc>
                <a:spcPct val="120000"/>
              </a:lnSpc>
              <a:buNone/>
            </a:pPr>
            <a:r>
              <a:rPr lang="en-US" sz="2000" dirty="0">
                <a:solidFill>
                  <a:srgbClr val="C9D1DC"/>
                </a:solidFill>
                <a:latin typeface="Arial" pitchFamily="34" charset="0"/>
                <a:ea typeface="Arial" pitchFamily="34" charset="-122"/>
                <a:cs typeface="Arial" pitchFamily="34" charset="-120"/>
              </a:rPr>
              <a:t>Frauen bewarben sich häufiger in stark umkämpften Fachbereichen. Fasst man die Fachbereiche zusammen, kehrt sich der Zusammenhang um: das Simpson-Paradoxon.</a:t>
            </a:r>
            <a:endParaRPr lang="en-US" sz="2000" dirty="0"/>
          </a:p>
        </p:txBody>
      </p:sp>
      <p:sp>
        <p:nvSpPr>
          <p:cNvPr id="6" name="Text 4"/>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8C97A8"/>
                </a:solidFill>
                <a:latin typeface="Arial" pitchFamily="34" charset="0"/>
                <a:ea typeface="Arial" pitchFamily="34" charset="-122"/>
                <a:cs typeface="Arial" pitchFamily="34" charset="-120"/>
              </a:rPr>
              <a:t>Simpson (1951); Bickel et al. (1975)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17 — FAZIT</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17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Was wir gelernt haben</a:t>
            </a:r>
            <a:endParaRPr lang="en-US" sz="3000" dirty="0"/>
          </a:p>
        </p:txBody>
      </p:sp>
      <p:sp>
        <p:nvSpPr>
          <p:cNvPr id="5" name="Shape 3"/>
          <p:cNvSpPr/>
          <p:nvPr/>
        </p:nvSpPr>
        <p:spPr>
          <a:xfrm>
            <a:off x="594360" y="1691640"/>
            <a:ext cx="3383280" cy="0"/>
          </a:xfrm>
          <a:prstGeom prst="line">
            <a:avLst/>
          </a:prstGeom>
          <a:noFill/>
          <a:ln w="15875">
            <a:solidFill>
              <a:srgbClr val="111827"/>
            </a:solidFill>
            <a:prstDash val="solid"/>
          </a:ln>
        </p:spPr>
      </p:sp>
      <p:sp>
        <p:nvSpPr>
          <p:cNvPr id="6" name="Text 4"/>
          <p:cNvSpPr txBox="1"/>
          <p:nvPr/>
        </p:nvSpPr>
        <p:spPr>
          <a:xfrm>
            <a:off x="594360" y="1828800"/>
            <a:ext cx="914400" cy="914400"/>
          </a:xfrm>
          <a:prstGeom prst="rect">
            <a:avLst/>
          </a:prstGeom>
          <a:noFill/>
          <a:ln/>
        </p:spPr>
        <p:txBody>
          <a:bodyPr wrap="square" lIns="0" tIns="0" rIns="0" bIns="0" rtlCol="0" anchor="t"/>
          <a:lstStyle/>
          <a:p>
            <a:pPr indent="0" marL="0">
              <a:buNone/>
            </a:pPr>
            <a:r>
              <a:rPr lang="en-US" sz="6000" b="1" dirty="0">
                <a:solidFill>
                  <a:srgbClr val="E4572E"/>
                </a:solidFill>
                <a:latin typeface="Arial" pitchFamily="34" charset="0"/>
                <a:ea typeface="Arial" pitchFamily="34" charset="-122"/>
                <a:cs typeface="Arial" pitchFamily="34" charset="-120"/>
              </a:rPr>
              <a:t>1</a:t>
            </a:r>
            <a:endParaRPr lang="en-US" sz="6000" dirty="0"/>
          </a:p>
        </p:txBody>
      </p:sp>
      <p:sp>
        <p:nvSpPr>
          <p:cNvPr id="7" name="Text 5"/>
          <p:cNvSpPr txBox="1"/>
          <p:nvPr/>
        </p:nvSpPr>
        <p:spPr>
          <a:xfrm>
            <a:off x="594360" y="2834640"/>
            <a:ext cx="3291840" cy="731520"/>
          </a:xfrm>
          <a:prstGeom prst="rect">
            <a:avLst/>
          </a:prstGeom>
          <a:noFill/>
          <a:ln/>
        </p:spPr>
        <p:txBody>
          <a:bodyPr wrap="square" lIns="0" tIns="0" rIns="0" bIns="0" rtlCol="0" anchor="t"/>
          <a:lstStyle/>
          <a:p>
            <a:pPr indent="0" marL="0">
              <a:lnSpc>
                <a:spcPct val="105000"/>
              </a:lnSpc>
              <a:buNone/>
            </a:pPr>
            <a:r>
              <a:rPr lang="en-US" sz="2000" b="1" dirty="0">
                <a:solidFill>
                  <a:srgbClr val="111827"/>
                </a:solidFill>
                <a:latin typeface="Arial" pitchFamily="34" charset="0"/>
                <a:ea typeface="Arial" pitchFamily="34" charset="-122"/>
                <a:cs typeface="Arial" pitchFamily="34" charset="-120"/>
              </a:rPr>
              <a:t>Aggregiert abhängig</a:t>
            </a:r>
            <a:endParaRPr lang="en-US" sz="2000" dirty="0"/>
          </a:p>
        </p:txBody>
      </p:sp>
      <p:sp>
        <p:nvSpPr>
          <p:cNvPr id="8" name="Text 6"/>
          <p:cNvSpPr txBox="1"/>
          <p:nvPr/>
        </p:nvSpPr>
        <p:spPr>
          <a:xfrm>
            <a:off x="594360" y="3611880"/>
            <a:ext cx="3200400" cy="822960"/>
          </a:xfrm>
          <a:prstGeom prst="rect">
            <a:avLst/>
          </a:prstGeom>
          <a:noFill/>
          <a:ln/>
        </p:spPr>
        <p:txBody>
          <a:bodyPr wrap="square" lIns="0" tIns="0" rIns="0" bIns="0" rtlCol="0" anchor="t"/>
          <a:lstStyle/>
          <a:p>
            <a:pPr indent="0" marL="0">
              <a:lnSpc>
                <a:spcPct val="115000"/>
              </a:lnSpc>
              <a:buNone/>
            </a:pPr>
            <a:r>
              <a:rPr lang="en-US" sz="1500" dirty="0">
                <a:solidFill>
                  <a:srgbClr val="5B6472"/>
                </a:solidFill>
                <a:latin typeface="Arial" pitchFamily="34" charset="0"/>
                <a:ea typeface="Arial" pitchFamily="34" charset="-122"/>
                <a:cs typeface="Arial" pitchFamily="34" charset="-120"/>
              </a:rPr>
              <a:t>Zulassung und Geschlecht sind insgesamt abhängig: 30.4 % gegenüber 44.5 %.</a:t>
            </a:r>
            <a:endParaRPr lang="en-US" sz="1500" dirty="0"/>
          </a:p>
        </p:txBody>
      </p:sp>
      <p:sp>
        <p:nvSpPr>
          <p:cNvPr id="9" name="Shape 7"/>
          <p:cNvSpPr/>
          <p:nvPr/>
        </p:nvSpPr>
        <p:spPr>
          <a:xfrm>
            <a:off x="4343400" y="1691640"/>
            <a:ext cx="3383280" cy="0"/>
          </a:xfrm>
          <a:prstGeom prst="line">
            <a:avLst/>
          </a:prstGeom>
          <a:noFill/>
          <a:ln w="15875">
            <a:solidFill>
              <a:srgbClr val="111827"/>
            </a:solidFill>
            <a:prstDash val="solid"/>
          </a:ln>
        </p:spPr>
      </p:sp>
      <p:sp>
        <p:nvSpPr>
          <p:cNvPr id="10" name="Text 8"/>
          <p:cNvSpPr txBox="1"/>
          <p:nvPr/>
        </p:nvSpPr>
        <p:spPr>
          <a:xfrm>
            <a:off x="4343400" y="1828800"/>
            <a:ext cx="914400" cy="914400"/>
          </a:xfrm>
          <a:prstGeom prst="rect">
            <a:avLst/>
          </a:prstGeom>
          <a:noFill/>
          <a:ln/>
        </p:spPr>
        <p:txBody>
          <a:bodyPr wrap="square" lIns="0" tIns="0" rIns="0" bIns="0" rtlCol="0" anchor="t"/>
          <a:lstStyle/>
          <a:p>
            <a:pPr indent="0" marL="0">
              <a:buNone/>
            </a:pPr>
            <a:r>
              <a:rPr lang="en-US" sz="6000" b="1" dirty="0">
                <a:solidFill>
                  <a:srgbClr val="E4572E"/>
                </a:solidFill>
                <a:latin typeface="Arial" pitchFamily="34" charset="0"/>
                <a:ea typeface="Arial" pitchFamily="34" charset="-122"/>
                <a:cs typeface="Arial" pitchFamily="34" charset="-120"/>
              </a:rPr>
              <a:t>2</a:t>
            </a:r>
            <a:endParaRPr lang="en-US" sz="6000" dirty="0"/>
          </a:p>
        </p:txBody>
      </p:sp>
      <p:sp>
        <p:nvSpPr>
          <p:cNvPr id="11" name="Text 9"/>
          <p:cNvSpPr txBox="1"/>
          <p:nvPr/>
        </p:nvSpPr>
        <p:spPr>
          <a:xfrm>
            <a:off x="4343400" y="2834640"/>
            <a:ext cx="3291840" cy="731520"/>
          </a:xfrm>
          <a:prstGeom prst="rect">
            <a:avLst/>
          </a:prstGeom>
          <a:noFill/>
          <a:ln/>
        </p:spPr>
        <p:txBody>
          <a:bodyPr wrap="square" lIns="0" tIns="0" rIns="0" bIns="0" rtlCol="0" anchor="t"/>
          <a:lstStyle/>
          <a:p>
            <a:pPr indent="0" marL="0">
              <a:lnSpc>
                <a:spcPct val="105000"/>
              </a:lnSpc>
              <a:buNone/>
            </a:pPr>
            <a:r>
              <a:rPr lang="en-US" sz="2000" b="1" dirty="0">
                <a:solidFill>
                  <a:srgbClr val="111827"/>
                </a:solidFill>
                <a:latin typeface="Arial" pitchFamily="34" charset="0"/>
                <a:ea typeface="Arial" pitchFamily="34" charset="-122"/>
                <a:cs typeface="Arial" pitchFamily="34" charset="-120"/>
              </a:rPr>
              <a:t>Je Fachbereich kein systematischer Nachteil</a:t>
            </a:r>
            <a:endParaRPr lang="en-US" sz="2000" dirty="0"/>
          </a:p>
        </p:txBody>
      </p:sp>
      <p:sp>
        <p:nvSpPr>
          <p:cNvPr id="12" name="Text 10"/>
          <p:cNvSpPr txBox="1"/>
          <p:nvPr/>
        </p:nvSpPr>
        <p:spPr>
          <a:xfrm>
            <a:off x="4343400" y="3611880"/>
            <a:ext cx="3200400" cy="822960"/>
          </a:xfrm>
          <a:prstGeom prst="rect">
            <a:avLst/>
          </a:prstGeom>
          <a:noFill/>
          <a:ln/>
        </p:spPr>
        <p:txBody>
          <a:bodyPr wrap="square" lIns="0" tIns="0" rIns="0" bIns="0" rtlCol="0" anchor="t"/>
          <a:lstStyle/>
          <a:p>
            <a:pPr indent="0" marL="0">
              <a:lnSpc>
                <a:spcPct val="115000"/>
              </a:lnSpc>
              <a:buNone/>
            </a:pPr>
            <a:r>
              <a:rPr lang="en-US" sz="1500" dirty="0">
                <a:solidFill>
                  <a:srgbClr val="5B6472"/>
                </a:solidFill>
                <a:latin typeface="Arial" pitchFamily="34" charset="0"/>
                <a:ea typeface="Arial" pitchFamily="34" charset="-122"/>
                <a:cs typeface="Arial" pitchFamily="34" charset="-120"/>
              </a:rPr>
              <a:t>Annähernd unabhängig; Fachbereich A sogar zugunsten der Frauen.</a:t>
            </a:r>
            <a:endParaRPr lang="en-US" sz="1500" dirty="0"/>
          </a:p>
        </p:txBody>
      </p:sp>
      <p:sp>
        <p:nvSpPr>
          <p:cNvPr id="13" name="Shape 11"/>
          <p:cNvSpPr/>
          <p:nvPr/>
        </p:nvSpPr>
        <p:spPr>
          <a:xfrm>
            <a:off x="8092440" y="1691640"/>
            <a:ext cx="3383280" cy="0"/>
          </a:xfrm>
          <a:prstGeom prst="line">
            <a:avLst/>
          </a:prstGeom>
          <a:noFill/>
          <a:ln w="15875">
            <a:solidFill>
              <a:srgbClr val="111827"/>
            </a:solidFill>
            <a:prstDash val="solid"/>
          </a:ln>
        </p:spPr>
      </p:sp>
      <p:sp>
        <p:nvSpPr>
          <p:cNvPr id="14" name="Text 12"/>
          <p:cNvSpPr txBox="1"/>
          <p:nvPr/>
        </p:nvSpPr>
        <p:spPr>
          <a:xfrm>
            <a:off x="8092440" y="1828800"/>
            <a:ext cx="914400" cy="914400"/>
          </a:xfrm>
          <a:prstGeom prst="rect">
            <a:avLst/>
          </a:prstGeom>
          <a:noFill/>
          <a:ln/>
        </p:spPr>
        <p:txBody>
          <a:bodyPr wrap="square" lIns="0" tIns="0" rIns="0" bIns="0" rtlCol="0" anchor="t"/>
          <a:lstStyle/>
          <a:p>
            <a:pPr indent="0" marL="0">
              <a:buNone/>
            </a:pPr>
            <a:r>
              <a:rPr lang="en-US" sz="6000" b="1" dirty="0">
                <a:solidFill>
                  <a:srgbClr val="E4572E"/>
                </a:solidFill>
                <a:latin typeface="Arial" pitchFamily="34" charset="0"/>
                <a:ea typeface="Arial" pitchFamily="34" charset="-122"/>
                <a:cs typeface="Arial" pitchFamily="34" charset="-120"/>
              </a:rPr>
              <a:t>3</a:t>
            </a:r>
            <a:endParaRPr lang="en-US" sz="6000" dirty="0"/>
          </a:p>
        </p:txBody>
      </p:sp>
      <p:sp>
        <p:nvSpPr>
          <p:cNvPr id="15" name="Text 13"/>
          <p:cNvSpPr txBox="1"/>
          <p:nvPr/>
        </p:nvSpPr>
        <p:spPr>
          <a:xfrm>
            <a:off x="8092440" y="2834640"/>
            <a:ext cx="3291840" cy="731520"/>
          </a:xfrm>
          <a:prstGeom prst="rect">
            <a:avLst/>
          </a:prstGeom>
          <a:noFill/>
          <a:ln/>
        </p:spPr>
        <p:txBody>
          <a:bodyPr wrap="square" lIns="0" tIns="0" rIns="0" bIns="0" rtlCol="0" anchor="t"/>
          <a:lstStyle/>
          <a:p>
            <a:pPr indent="0" marL="0">
              <a:lnSpc>
                <a:spcPct val="105000"/>
              </a:lnSpc>
              <a:buNone/>
            </a:pPr>
            <a:r>
              <a:rPr lang="en-US" sz="2000" b="1" dirty="0">
                <a:solidFill>
                  <a:srgbClr val="111827"/>
                </a:solidFill>
                <a:latin typeface="Arial" pitchFamily="34" charset="0"/>
                <a:ea typeface="Arial" pitchFamily="34" charset="-122"/>
                <a:cs typeface="Arial" pitchFamily="34" charset="-120"/>
              </a:rPr>
              <a:t>Ursache: die Wahl des Fachbereichs</a:t>
            </a:r>
            <a:endParaRPr lang="en-US" sz="2000" dirty="0"/>
          </a:p>
        </p:txBody>
      </p:sp>
      <p:sp>
        <p:nvSpPr>
          <p:cNvPr id="16" name="Text 14"/>
          <p:cNvSpPr txBox="1"/>
          <p:nvPr/>
        </p:nvSpPr>
        <p:spPr>
          <a:xfrm>
            <a:off x="8092440" y="3611880"/>
            <a:ext cx="3200400" cy="822960"/>
          </a:xfrm>
          <a:prstGeom prst="rect">
            <a:avLst/>
          </a:prstGeom>
          <a:noFill/>
          <a:ln/>
        </p:spPr>
        <p:txBody>
          <a:bodyPr wrap="square" lIns="0" tIns="0" rIns="0" bIns="0" rtlCol="0" anchor="t"/>
          <a:lstStyle/>
          <a:p>
            <a:pPr indent="0" marL="0">
              <a:lnSpc>
                <a:spcPct val="115000"/>
              </a:lnSpc>
              <a:buNone/>
            </a:pPr>
            <a:r>
              <a:rPr lang="en-US" sz="1500" dirty="0">
                <a:solidFill>
                  <a:srgbClr val="5B6472"/>
                </a:solidFill>
                <a:latin typeface="Arial" pitchFamily="34" charset="0"/>
                <a:ea typeface="Arial" pitchFamily="34" charset="-122"/>
                <a:cs typeface="Arial" pitchFamily="34" charset="-120"/>
              </a:rPr>
              <a:t>Bei gleicher Wahl: Frauen 43.0 %, Männer 38.7 %.</a:t>
            </a:r>
            <a:endParaRPr lang="en-US" sz="1500" dirty="0"/>
          </a:p>
        </p:txBody>
      </p:sp>
      <p:sp>
        <p:nvSpPr>
          <p:cNvPr id="17" name="Shape 15"/>
          <p:cNvSpPr/>
          <p:nvPr/>
        </p:nvSpPr>
        <p:spPr>
          <a:xfrm>
            <a:off x="0" y="4800600"/>
            <a:ext cx="12191695" cy="1280160"/>
          </a:xfrm>
          <a:prstGeom prst="rect">
            <a:avLst/>
          </a:prstGeom>
          <a:solidFill>
            <a:srgbClr val="F2F4F7"/>
          </a:solidFill>
          <a:ln w="12700">
            <a:solidFill>
              <a:srgbClr val="F2F4F7"/>
            </a:solidFill>
            <a:prstDash val="solid"/>
          </a:ln>
        </p:spPr>
      </p:sp>
      <p:sp>
        <p:nvSpPr>
          <p:cNvPr id="18" name="Text 16"/>
          <p:cNvSpPr txBox="1"/>
          <p:nvPr/>
        </p:nvSpPr>
        <p:spPr>
          <a:xfrm>
            <a:off x="594360" y="5074920"/>
            <a:ext cx="512064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GRENZEN</a:t>
            </a:r>
            <a:endParaRPr lang="en-US" sz="1050" dirty="0"/>
          </a:p>
        </p:txBody>
      </p:sp>
      <p:sp>
        <p:nvSpPr>
          <p:cNvPr id="19" name="Text 17"/>
          <p:cNvSpPr txBox="1"/>
          <p:nvPr/>
        </p:nvSpPr>
        <p:spPr>
          <a:xfrm>
            <a:off x="594360" y="5376672"/>
            <a:ext cx="5120640" cy="548640"/>
          </a:xfrm>
          <a:prstGeom prst="rect">
            <a:avLst/>
          </a:prstGeom>
          <a:noFill/>
          <a:ln/>
        </p:spPr>
        <p:txBody>
          <a:bodyPr wrap="square" lIns="0" tIns="0" rIns="0" bIns="0" rtlCol="0" anchor="t"/>
          <a:lstStyle/>
          <a:p>
            <a:pPr indent="0" marL="0">
              <a:lnSpc>
                <a:spcPct val="110000"/>
              </a:lnSpc>
              <a:buNone/>
            </a:pPr>
            <a:r>
              <a:rPr lang="en-US" sz="1500" dirty="0">
                <a:solidFill>
                  <a:srgbClr val="111827"/>
                </a:solidFill>
                <a:latin typeface="Arial" pitchFamily="34" charset="0"/>
                <a:ea typeface="Arial" pitchFamily="34" charset="-122"/>
                <a:cs typeface="Arial" pitchFamily="34" charset="-120"/>
              </a:rPr>
              <a:t>Beobachtungsdaten eines Jahres; warum Frauen selektivere Fachbereiche wählten, bleibt offen.</a:t>
            </a:r>
            <a:endParaRPr lang="en-US" sz="1500" dirty="0"/>
          </a:p>
        </p:txBody>
      </p:sp>
      <p:sp>
        <p:nvSpPr>
          <p:cNvPr id="20" name="Text 18"/>
          <p:cNvSpPr txBox="1"/>
          <p:nvPr/>
        </p:nvSpPr>
        <p:spPr>
          <a:xfrm>
            <a:off x="6217920" y="5074920"/>
            <a:ext cx="512064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PYTHON</a:t>
            </a:r>
            <a:endParaRPr lang="en-US" sz="1050" dirty="0"/>
          </a:p>
        </p:txBody>
      </p:sp>
      <p:sp>
        <p:nvSpPr>
          <p:cNvPr id="21" name="Text 19"/>
          <p:cNvSpPr txBox="1"/>
          <p:nvPr/>
        </p:nvSpPr>
        <p:spPr>
          <a:xfrm>
            <a:off x="6217920" y="5376672"/>
            <a:ext cx="5120640" cy="548640"/>
          </a:xfrm>
          <a:prstGeom prst="rect">
            <a:avLst/>
          </a:prstGeom>
          <a:noFill/>
          <a:ln/>
        </p:spPr>
        <p:txBody>
          <a:bodyPr wrap="square" lIns="0" tIns="0" rIns="0" bIns="0" rtlCol="0" anchor="t"/>
          <a:lstStyle/>
          <a:p>
            <a:pPr indent="0" marL="0">
              <a:lnSpc>
                <a:spcPct val="110000"/>
              </a:lnSpc>
              <a:buNone/>
            </a:pPr>
            <a:r>
              <a:rPr lang="en-US" sz="1500" dirty="0">
                <a:solidFill>
                  <a:srgbClr val="111827"/>
                </a:solidFill>
                <a:latin typeface="Arial" pitchFamily="34" charset="0"/>
                <a:ea typeface="Arial" pitchFamily="34" charset="-122"/>
                <a:cs typeface="Arial" pitchFamily="34" charset="-120"/>
              </a:rPr>
              <a:t>Dieselben Funktionen für die Gesamtanalyse, sechs Fachbereiche und die Standardisierung.</a:t>
            </a:r>
            <a:endParaRPr lang="en-US" sz="1500" dirty="0"/>
          </a:p>
        </p:txBody>
      </p:sp>
      <p:sp>
        <p:nvSpPr>
          <p:cNvPr id="22" name="Text 20"/>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Code und Ausarbeitung: Vortrag4_Berkeley_Analyse.ipynb, Vortrag4_Ausarbeitung.pdf</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11827"/>
          </a:solidFill>
          <a:ln w="12700">
            <a:solidFill>
              <a:srgbClr val="111827"/>
            </a:solidFill>
            <a:prstDash val="solid"/>
          </a:ln>
        </p:spPr>
      </p:sp>
      <p:sp>
        <p:nvSpPr>
          <p:cNvPr id="3" name="Text 1"/>
          <p:cNvSpPr txBox="1"/>
          <p:nvPr/>
        </p:nvSpPr>
        <p:spPr>
          <a:xfrm>
            <a:off x="594360" y="384048"/>
            <a:ext cx="3200400" cy="256032"/>
          </a:xfrm>
          <a:prstGeom prst="rect">
            <a:avLst/>
          </a:prstGeom>
          <a:noFill/>
          <a:ln/>
        </p:spPr>
        <p:txBody>
          <a:bodyPr wrap="square" lIns="0" tIns="0" rIns="0" bIns="0" rtlCol="0" anchor="t"/>
          <a:lstStyle/>
          <a:p>
            <a:pPr indent="0" marL="0">
              <a:buNone/>
            </a:pPr>
            <a:r>
              <a:rPr lang="en-US" sz="1050" b="1" spc="150" kern="0" dirty="0">
                <a:solidFill>
                  <a:srgbClr val="8C97A8"/>
                </a:solidFill>
                <a:latin typeface="Arial" pitchFamily="34" charset="0"/>
                <a:ea typeface="Arial" pitchFamily="34" charset="-122"/>
                <a:cs typeface="Arial" pitchFamily="34" charset="-120"/>
              </a:rPr>
              <a:t>18 — FRAGEN</a:t>
            </a:r>
            <a:endParaRPr lang="en-US" sz="1050" dirty="0"/>
          </a:p>
        </p:txBody>
      </p:sp>
      <p:sp>
        <p:nvSpPr>
          <p:cNvPr id="4" name="Text 2"/>
          <p:cNvSpPr txBox="1"/>
          <p:nvPr/>
        </p:nvSpPr>
        <p:spPr>
          <a:xfrm>
            <a:off x="594360" y="2377440"/>
            <a:ext cx="3474720" cy="1097280"/>
          </a:xfrm>
          <a:prstGeom prst="rect">
            <a:avLst/>
          </a:prstGeom>
          <a:noFill/>
          <a:ln/>
        </p:spPr>
        <p:txBody>
          <a:bodyPr wrap="square" lIns="0" tIns="0" rIns="0" bIns="0" rtlCol="0" anchor="t"/>
          <a:lstStyle/>
          <a:p>
            <a:pPr indent="0" marL="0">
              <a:buNone/>
            </a:pPr>
            <a:r>
              <a:rPr lang="en-US" sz="6000" b="1" dirty="0">
                <a:solidFill>
                  <a:srgbClr val="FFFFFF"/>
                </a:solidFill>
                <a:latin typeface="Arial" pitchFamily="34" charset="0"/>
                <a:ea typeface="Arial" pitchFamily="34" charset="-122"/>
                <a:cs typeface="Arial" pitchFamily="34" charset="-120"/>
              </a:rPr>
              <a:t>Fragen?</a:t>
            </a:r>
            <a:endParaRPr lang="en-US" sz="6000" dirty="0"/>
          </a:p>
        </p:txBody>
      </p:sp>
      <p:sp>
        <p:nvSpPr>
          <p:cNvPr id="5" name="Text 3"/>
          <p:cNvSpPr txBox="1"/>
          <p:nvPr/>
        </p:nvSpPr>
        <p:spPr>
          <a:xfrm>
            <a:off x="594360" y="5120640"/>
            <a:ext cx="3291840" cy="1005840"/>
          </a:xfrm>
          <a:prstGeom prst="rect">
            <a:avLst/>
          </a:prstGeom>
          <a:noFill/>
          <a:ln/>
        </p:spPr>
        <p:txBody>
          <a:bodyPr wrap="square" lIns="0" tIns="0" rIns="0" bIns="0" rtlCol="0" anchor="t"/>
          <a:lstStyle/>
          <a:p>
            <a:pPr indent="0" marL="0">
              <a:lnSpc>
                <a:spcPct val="120000"/>
              </a:lnSpc>
              <a:buNone/>
            </a:pPr>
            <a:r>
              <a:rPr lang="en-US" sz="1400" dirty="0">
                <a:solidFill>
                  <a:srgbClr val="C9D1DC"/>
                </a:solidFill>
                <a:latin typeface="Arial" pitchFamily="34" charset="0"/>
                <a:ea typeface="Arial" pitchFamily="34" charset="-122"/>
                <a:cs typeface="Arial" pitchFamily="34" charset="-120"/>
              </a:rPr>
              <a:t>Leorat Krasniqi</a:t>
            </a:r>
            <a:endParaRPr lang="en-US" sz="1400" dirty="0"/>
          </a:p>
          <a:p>
            <a:pPr indent="0" marL="0">
              <a:lnSpc>
                <a:spcPct val="120000"/>
              </a:lnSpc>
              <a:buNone/>
            </a:pPr>
            <a:r>
              <a:rPr lang="en-US" sz="1400" dirty="0">
                <a:solidFill>
                  <a:srgbClr val="C9D1DC"/>
                </a:solidFill>
                <a:latin typeface="Arial" pitchFamily="34" charset="0"/>
                <a:ea typeface="Arial" pitchFamily="34" charset="-122"/>
                <a:cs typeface="Arial" pitchFamily="34" charset="-120"/>
              </a:rPr>
              <a:t>Teoman-Doganay Lam</a:t>
            </a:r>
            <a:endParaRPr lang="en-US" sz="1400" dirty="0"/>
          </a:p>
          <a:p>
            <a:pPr indent="0" marL="0">
              <a:lnSpc>
                <a:spcPct val="120000"/>
              </a:lnSpc>
              <a:buNone/>
            </a:pPr>
            <a:r>
              <a:rPr lang="en-US" sz="1400" dirty="0">
                <a:solidFill>
                  <a:srgbClr val="C9D1DC"/>
                </a:solidFill>
                <a:latin typeface="Arial" pitchFamily="34" charset="0"/>
                <a:ea typeface="Arial" pitchFamily="34" charset="-122"/>
                <a:cs typeface="Arial" pitchFamily="34" charset="-120"/>
              </a:rPr>
              <a:t>Filip Lazic</a:t>
            </a:r>
            <a:endParaRPr lang="en-US" sz="1400" dirty="0"/>
          </a:p>
        </p:txBody>
      </p:sp>
      <p:sp>
        <p:nvSpPr>
          <p:cNvPr id="6" name="Text 4"/>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18 / 18</a:t>
            </a:r>
            <a:endParaRPr lang="en-US" sz="1050" dirty="0"/>
          </a:p>
        </p:txBody>
      </p:sp>
      <p:sp>
        <p:nvSpPr>
          <p:cNvPr id="7" name="Text 5"/>
          <p:cNvSpPr txBox="1"/>
          <p:nvPr/>
        </p:nvSpPr>
        <p:spPr>
          <a:xfrm>
            <a:off x="4754880" y="777240"/>
            <a:ext cx="6766560" cy="457200"/>
          </a:xfrm>
          <a:prstGeom prst="rect">
            <a:avLst/>
          </a:prstGeom>
          <a:noFill/>
          <a:ln/>
        </p:spPr>
        <p:txBody>
          <a:bodyPr wrap="square" lIns="0" tIns="0" rIns="0" bIns="0" rtlCol="0" anchor="t"/>
          <a:lstStyle/>
          <a:p>
            <a:pPr indent="0" marL="0">
              <a:buNone/>
            </a:pPr>
            <a:r>
              <a:rPr lang="en-US" sz="2400" b="1" dirty="0">
                <a:solidFill>
                  <a:srgbClr val="111827"/>
                </a:solidFill>
                <a:latin typeface="Arial" pitchFamily="34" charset="0"/>
                <a:ea typeface="Arial" pitchFamily="34" charset="-122"/>
                <a:cs typeface="Arial" pitchFamily="34" charset="-120"/>
              </a:rPr>
              <a:t>Literaturverzeichnis</a:t>
            </a:r>
            <a:endParaRPr lang="en-US" sz="2400" dirty="0"/>
          </a:p>
        </p:txBody>
      </p:sp>
      <p:sp>
        <p:nvSpPr>
          <p:cNvPr id="8" name="Text 6"/>
          <p:cNvSpPr txBox="1"/>
          <p:nvPr/>
        </p:nvSpPr>
        <p:spPr>
          <a:xfrm>
            <a:off x="4754880" y="1417320"/>
            <a:ext cx="6839712" cy="4846320"/>
          </a:xfrm>
          <a:prstGeom prst="rect">
            <a:avLst/>
          </a:prstGeom>
          <a:noFill/>
          <a:ln/>
        </p:spPr>
        <p:txBody>
          <a:bodyPr wrap="square" lIns="0" tIns="0" rIns="0" bIns="0" rtlCol="0" anchor="t"/>
          <a:lstStyle/>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Bickel, P. J., Hammel, E. A., &amp; O'Connell, J. W. (1975). Sex bias in graduate admissions: Data from Berkeley.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Science, 187</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(4175), 398–404. https://doi.org/10.1126/science.187.4175.398</a:t>
            </a:r>
            <a:endParaRPr lang="en-US" sz="1200" dirty="0"/>
          </a:p>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McKinney, W. (2018).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Datenanalyse mit Python</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 (2., korrigierte Aufl.). O'Reilly.</a:t>
            </a:r>
            <a:endParaRPr lang="en-US" sz="1200" dirty="0"/>
          </a:p>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R Core Team. (o. J.).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UCBAdmissions: Student admissions at UC Berkeley</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 [Datensatz]. R-Paket datasets. https://github.com/wch/r-source/blob/trunk/src/library/datasets/data/UCBAdmissions.R</a:t>
            </a:r>
            <a:endParaRPr lang="en-US" sz="1200" dirty="0"/>
          </a:p>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Schnauss, M. (o. J.-a).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Statistik (w.BA.XX.2Stat-WIN.XX), Teil 1: Tabellen und Diagramme</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 [Vorlesungsfolien]. ZHAW School of Management and Law.</a:t>
            </a:r>
            <a:endParaRPr lang="en-US" sz="1200" dirty="0"/>
          </a:p>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Schnauss, M. (o. J.-b).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Statistik (w.BA.XX.2Stat-WIN.XX), Teil 3: Wahrscheinlichkeitsrechnung</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 [Vorlesungsfolien]. ZHAW School of Management and Law.</a:t>
            </a:r>
            <a:endParaRPr lang="en-US" sz="1200" dirty="0"/>
          </a:p>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Simpson, E. H. (1951). The interpretation of interaction in contingency tables.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Journal of the Royal Statistical Society: Series B (Methodological), 13</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(2), 238–241. https://doi.org/10.1111/j.2517-6161.1951.tb00088.x</a:t>
            </a:r>
            <a:endParaRPr lang="en-US" sz="1200" dirty="0"/>
          </a:p>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ZHAW School of Management and Law. (2026).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Aufgabe 4 (Vortrag-4: Python)</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 [Aufgabenblatt].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Simpson-Paradoxon an der UC Berkeley</dc:title>
  <dc:subject>PptxGenJS Presentation</dc:subject>
  <dc:creator>Leorat Krasniqi, Teoman-Doganay Lam, Filip Lazic</dc:creator>
  <cp:lastModifiedBy>Leorat Krasniqi, Teoman-Doganay Lam, Filip Lazic</cp:lastModifiedBy>
  <cp:revision>1</cp:revision>
  <dcterms:created xsi:type="dcterms:W3CDTF">2026-09-30T14:33:34Z</dcterms:created>
  <dcterms:modified xsi:type="dcterms:W3CDTF">2026-09-30T14:33:34Z</dcterms:modified>
</cp:coreProperties>
</file>