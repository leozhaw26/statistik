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Zulassungsquote</c:v>
                </c:pt>
              </c:strCache>
            </c:strRef>
          </c:tx>
          <c:spPr>
            <a:solidFill>
              <a:srgbClr val="E4572E"/>
            </a:solidFill>
            <a:effectLst/>
          </c:spPr>
          <c:invertIfNegative val="0"/>
          <c:dLbls>
            <c:numFmt formatCode="0.0&quot; %&quot;" sourceLinked="0"/>
            <c:txPr>
              <a:bodyPr/>
              <a:lstStyle/>
              <a:p>
                <a:pPr>
                  <a:defRPr b="1" i="0" strike="noStrike" sz="2200" u="none">
                    <a:solidFill>
                      <a:srgbClr val="111827"/>
                    </a:solidFill>
                    <a:latin typeface="Arial"/>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2F4B7C"/>
              </a:solidFill>
              <a:effectLst/>
            </c:spPr>
          </c:dPt>
          <c:cat>
            <c:multiLvlStrRef>
              <c:f>Sheet1!$A$2:$A$3</c:f>
              <c:multiLvlStrCache>
                <c:ptCount val="2"/>
                <c:lvl>
                  <c:pt idx="0">
                    <c:v>Frauen</c:v>
                  </c:pt>
                  <c:pt idx="1">
                    <c:v>Männer</c:v>
                  </c:pt>
                </c:lvl>
              </c:multiLvlStrCache>
            </c:multiLvlStrRef>
          </c:cat>
          <c:val>
            <c:numRef>
              <c:f>Sheet1!$B$2:$B$3</c:f>
              <c:numCache>
                <c:formatCode>General</c:formatCode>
                <c:ptCount val="2"/>
                <c:pt idx="0">
                  <c:v>30.4</c:v>
                </c:pt>
                <c:pt idx="1">
                  <c:v>44.5</c:v>
                </c:pt>
              </c:numCache>
            </c:numRef>
          </c:val>
        </c:ser>
        <c:dLbls>
          <c:numFmt formatCode="0.0&quot; %&quot;" sourceLinked="0"/>
          <c:txPr>
            <a:bodyPr/>
            <a:lstStyle/>
            <a:p>
              <a:pPr>
                <a:defRPr b="1" i="0" strike="noStrike" sz="2200" u="none">
                  <a:solidFill>
                    <a:srgbClr val="111827"/>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8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5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Frauen</c:v>
                </c:pt>
              </c:strCache>
            </c:strRef>
          </c:tx>
          <c:spPr>
            <a:solidFill>
              <a:srgbClr val="E4572E"/>
            </a:solidFill>
            <a:effectLst/>
          </c:spPr>
          <c:invertIfNegative val="0"/>
          <c:dLbls>
            <c:numFmt formatCode="0.0" sourceLinked="0"/>
            <c:txPr>
              <a:bodyPr/>
              <a:lstStyle/>
              <a:p>
                <a:pPr>
                  <a:defRPr b="1" i="0" strike="noStrike" sz="1300" u="none">
                    <a:solidFill>
                      <a:srgbClr val="111827"/>
                    </a:solidFill>
                    <a:latin typeface="Arial"/>
                  </a:defRPr>
                </a:pPr>
              </a:p>
            </c:txPr>
            <c:showLegendKey val="0"/>
            <c:showVal val="1"/>
            <c:showCatName val="0"/>
            <c:showSerName val="0"/>
            <c:showPercent val="0"/>
            <c:showBubbleSize val="0"/>
            <c:showLeaderLines val="0"/>
          </c:dLbls>
          <c:cat>
            <c:multiLvlStrRef>
              <c:f>Sheet1!$A$2:$A$7</c:f>
              <c:multiLvlStrCache>
                <c:ptCount val="6"/>
                <c:lvl>
                  <c:pt idx="0">
                    <c:v>FB A
Frauen +20.3 PP</c:v>
                  </c:pt>
                  <c:pt idx="1">
                    <c:v>FB B
Frauen +5.0 PP</c:v>
                  </c:pt>
                  <c:pt idx="2">
                    <c:v>FB C
Frauen −2.9 PP</c:v>
                  </c:pt>
                  <c:pt idx="3">
                    <c:v>FB D
Frauen +1.8 PP</c:v>
                  </c:pt>
                  <c:pt idx="4">
                    <c:v>FB E
Frauen −3.8 PP</c:v>
                  </c:pt>
                  <c:pt idx="5">
                    <c:v>FB F
Frauen +1.1 PP</c:v>
                  </c:pt>
                </c:lvl>
              </c:multiLvlStrCache>
            </c:multiLvlStrRef>
          </c:cat>
          <c:val>
            <c:numRef>
              <c:f>Sheet1!$B$2:$B$7</c:f>
              <c:numCache>
                <c:formatCode>General</c:formatCode>
                <c:ptCount val="6"/>
                <c:pt idx="0">
                  <c:v>82.4</c:v>
                </c:pt>
                <c:pt idx="1">
                  <c:v>68</c:v>
                </c:pt>
                <c:pt idx="2">
                  <c:v>34.1</c:v>
                </c:pt>
                <c:pt idx="3">
                  <c:v>34.9</c:v>
                </c:pt>
                <c:pt idx="4">
                  <c:v>23.9</c:v>
                </c:pt>
                <c:pt idx="5">
                  <c:v>7</c:v>
                </c:pt>
              </c:numCache>
            </c:numRef>
          </c:val>
        </c:ser>
        <c:ser>
          <c:idx val="1"/>
          <c:order val="1"/>
          <c:tx>
            <c:strRef>
              <c:f>Sheet1!$C$1</c:f>
              <c:strCache>
                <c:ptCount val="1"/>
                <c:pt idx="0">
                  <c:v>Männer</c:v>
                </c:pt>
              </c:strCache>
            </c:strRef>
          </c:tx>
          <c:spPr>
            <a:solidFill>
              <a:srgbClr val="2F4B7C"/>
            </a:solidFill>
            <a:effectLst/>
          </c:spPr>
          <c:invertIfNegative val="0"/>
          <c:dLbls>
            <c:numFmt formatCode="0.0" sourceLinked="0"/>
            <c:txPr>
              <a:bodyPr/>
              <a:lstStyle/>
              <a:p>
                <a:pPr>
                  <a:defRPr b="1" i="0" strike="noStrike" sz="1300" u="none">
                    <a:solidFill>
                      <a:srgbClr val="111827"/>
                    </a:solidFill>
                    <a:latin typeface="Arial"/>
                  </a:defRPr>
                </a:pPr>
              </a:p>
            </c:txPr>
            <c:showLegendKey val="0"/>
            <c:showVal val="1"/>
            <c:showCatName val="0"/>
            <c:showSerName val="0"/>
            <c:showPercent val="0"/>
            <c:showBubbleSize val="0"/>
            <c:showLeaderLines val="0"/>
          </c:dLbls>
          <c:cat>
            <c:multiLvlStrRef>
              <c:f>Sheet1!$A$2:$A$7</c:f>
              <c:multiLvlStrCache>
                <c:ptCount val="6"/>
                <c:lvl>
                  <c:pt idx="0">
                    <c:v>FB A
Frauen +20.3 PP</c:v>
                  </c:pt>
                  <c:pt idx="1">
                    <c:v>FB B
Frauen +5.0 PP</c:v>
                  </c:pt>
                  <c:pt idx="2">
                    <c:v>FB C
Frauen −2.9 PP</c:v>
                  </c:pt>
                  <c:pt idx="3">
                    <c:v>FB D
Frauen +1.8 PP</c:v>
                  </c:pt>
                  <c:pt idx="4">
                    <c:v>FB E
Frauen −3.8 PP</c:v>
                  </c:pt>
                  <c:pt idx="5">
                    <c:v>FB F
Frauen +1.1 PP</c:v>
                  </c:pt>
                </c:lvl>
              </c:multiLvlStrCache>
            </c:multiLvlStrRef>
          </c:cat>
          <c:val>
            <c:numRef>
              <c:f>Sheet1!$C$2:$C$7</c:f>
              <c:numCache>
                <c:formatCode>General</c:formatCode>
                <c:ptCount val="6"/>
                <c:pt idx="0">
                  <c:v>62.1</c:v>
                </c:pt>
                <c:pt idx="1">
                  <c:v>63</c:v>
                </c:pt>
                <c:pt idx="2">
                  <c:v>36.9</c:v>
                </c:pt>
                <c:pt idx="3">
                  <c:v>33.1</c:v>
                </c:pt>
                <c:pt idx="4">
                  <c:v>27.7</c:v>
                </c:pt>
                <c:pt idx="5">
                  <c:v>5.9</c:v>
                </c:pt>
              </c:numCache>
            </c:numRef>
          </c:val>
        </c:ser>
        <c:dLbls>
          <c:numFmt formatCode="0.0" sourceLinked="0"/>
          <c:txPr>
            <a:bodyPr/>
            <a:lstStyle/>
            <a:p>
              <a:pPr>
                <a:defRPr b="1" i="0" strike="noStrike" sz="1300" u="none">
                  <a:solidFill>
                    <a:srgbClr val="11182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111827"/>
            </a:solidFill>
            <a:prstDash val="solid"/>
            <a:round/>
          </a:ln>
        </c:spPr>
        <c:txPr>
          <a:bodyPr/>
          <a:lstStyle/>
          <a:p>
            <a:pPr>
              <a:defRPr sz="14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A und B</c:v>
                </c:pt>
              </c:strCache>
            </c:strRef>
          </c:tx>
          <c:spPr>
            <a:solidFill>
              <a:srgbClr val="111827"/>
            </a:solidFill>
            <a:effectLst/>
          </c:spPr>
          <c:invertIfNegative val="0"/>
          <c:dLbls>
            <c:numFmt formatCode="0.0&quot; %&quot;" sourceLinked="0"/>
            <c:txPr>
              <a:bodyPr/>
              <a:lstStyle/>
              <a:p>
                <a:pPr>
                  <a:defRPr b="1"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Frauen</c:v>
                  </c:pt>
                  <c:pt idx="1">
                    <c:v>Männer</c:v>
                  </c:pt>
                </c:lvl>
              </c:multiLvlStrCache>
            </c:multiLvlStrRef>
          </c:cat>
          <c:val>
            <c:numRef>
              <c:f>Sheet1!$B$2:$B$3</c:f>
              <c:numCache>
                <c:formatCode>General</c:formatCode>
                <c:ptCount val="2"/>
                <c:pt idx="0">
                  <c:v>7.2</c:v>
                </c:pt>
                <c:pt idx="1">
                  <c:v>51.5</c:v>
                </c:pt>
              </c:numCache>
            </c:numRef>
          </c:val>
        </c:ser>
        <c:ser>
          <c:idx val="1"/>
          <c:order val="1"/>
          <c:tx>
            <c:strRef>
              <c:f>Sheet1!$C$1</c:f>
              <c:strCache>
                <c:ptCount val="1"/>
                <c:pt idx="0">
                  <c:v>C bis F</c:v>
                </c:pt>
              </c:strCache>
            </c:strRef>
          </c:tx>
          <c:spPr>
            <a:solidFill>
              <a:srgbClr val="6B7280"/>
            </a:solidFill>
            <a:effectLst/>
          </c:spPr>
          <c:invertIfNegative val="0"/>
          <c:dLbls>
            <c:numFmt formatCode="0.0&quot; %&quot;" sourceLinked="0"/>
            <c:txPr>
              <a:bodyPr/>
              <a:lstStyle/>
              <a:p>
                <a:pPr>
                  <a:defRPr b="1"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Frauen</c:v>
                  </c:pt>
                  <c:pt idx="1">
                    <c:v>Männer</c:v>
                  </c:pt>
                </c:lvl>
              </c:multiLvlStrCache>
            </c:multiLvlStrRef>
          </c:cat>
          <c:val>
            <c:numRef>
              <c:f>Sheet1!$C$2:$C$3</c:f>
              <c:numCache>
                <c:formatCode>General</c:formatCode>
                <c:ptCount val="2"/>
                <c:pt idx="0">
                  <c:v>92.8</c:v>
                </c:pt>
                <c:pt idx="1">
                  <c:v>48.5</c:v>
                </c:pt>
              </c:numCache>
            </c:numRef>
          </c:val>
        </c:ser>
        <c:dLbls>
          <c:numFmt formatCode="0.0&quot; %&quot;" sourceLinked="0"/>
          <c:txPr>
            <a:bodyPr/>
            <a:lstStyle/>
            <a:p>
              <a:pPr>
                <a:defRPr b="1" i="0" strike="noStrike" sz="140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6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Tatsächlich</c:v>
                </c:pt>
              </c:strCache>
            </c:strRef>
          </c:tx>
          <c:spPr>
            <a:solidFill>
              <a:srgbClr val="E4572E"/>
            </a:solidFill>
            <a:effectLst/>
          </c:spPr>
          <c:invertIfNegative val="0"/>
          <c:dLbls>
            <c:numFmt formatCode="0.0&quot; %&quot;" sourceLinked="0"/>
            <c:txPr>
              <a:bodyPr/>
              <a:lstStyle/>
              <a:p>
                <a:pPr>
                  <a:defRPr b="1" i="0" strike="noStrike" sz="1800" u="none">
                    <a:solidFill>
                      <a:srgbClr val="111827"/>
                    </a:solidFill>
                    <a:latin typeface="Arial"/>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2F4B7C"/>
              </a:solidFill>
              <a:effectLst/>
            </c:spPr>
          </c:dPt>
          <c:cat>
            <c:multiLvlStrRef>
              <c:f>Sheet1!$A$2:$A$3</c:f>
              <c:multiLvlStrCache>
                <c:ptCount val="2"/>
                <c:lvl>
                  <c:pt idx="0">
                    <c:v>Frauen</c:v>
                  </c:pt>
                  <c:pt idx="1">
                    <c:v>Männer</c:v>
                  </c:pt>
                </c:lvl>
              </c:multiLvlStrCache>
            </c:multiLvlStrRef>
          </c:cat>
          <c:val>
            <c:numRef>
              <c:f>Sheet1!$B$2:$B$3</c:f>
              <c:numCache>
                <c:formatCode>General</c:formatCode>
                <c:ptCount val="2"/>
                <c:pt idx="0">
                  <c:v>30.4</c:v>
                </c:pt>
                <c:pt idx="1">
                  <c:v>44.5</c:v>
                </c:pt>
              </c:numCache>
            </c:numRef>
          </c:val>
        </c:ser>
        <c:dLbls>
          <c:numFmt formatCode="0.0&quot; %&quot;" sourceLinked="0"/>
          <c:txPr>
            <a:bodyPr/>
            <a:lstStyle/>
            <a:p>
              <a:pPr>
                <a:defRPr b="1" i="0" strike="noStrike" sz="1800" u="none">
                  <a:solidFill>
                    <a:srgbClr val="111827"/>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111827"/>
            </a:solidFill>
            <a:prstDash val="solid"/>
            <a:round/>
          </a:ln>
        </c:spPr>
        <c:txPr>
          <a:bodyPr/>
          <a:lstStyle/>
          <a:p>
            <a:pPr>
              <a:defRPr sz="14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5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Bei gleicher Fachbereichswahl</c:v>
                </c:pt>
              </c:strCache>
            </c:strRef>
          </c:tx>
          <c:spPr>
            <a:solidFill>
              <a:srgbClr val="E4572E"/>
            </a:solidFill>
            <a:effectLst/>
          </c:spPr>
          <c:invertIfNegative val="0"/>
          <c:dLbls>
            <c:numFmt formatCode="0.0&quot; %&quot;" sourceLinked="0"/>
            <c:txPr>
              <a:bodyPr/>
              <a:lstStyle/>
              <a:p>
                <a:pPr>
                  <a:defRPr b="1" i="0" strike="noStrike" sz="1800" u="none">
                    <a:solidFill>
                      <a:srgbClr val="111827"/>
                    </a:solidFill>
                    <a:latin typeface="Arial"/>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2F4B7C"/>
              </a:solidFill>
              <a:effectLst/>
            </c:spPr>
          </c:dPt>
          <c:cat>
            <c:multiLvlStrRef>
              <c:f>Sheet1!$A$2:$A$3</c:f>
              <c:multiLvlStrCache>
                <c:ptCount val="2"/>
                <c:lvl>
                  <c:pt idx="0">
                    <c:v>Frauen</c:v>
                  </c:pt>
                  <c:pt idx="1">
                    <c:v>Männer</c:v>
                  </c:pt>
                </c:lvl>
              </c:multiLvlStrCache>
            </c:multiLvlStrRef>
          </c:cat>
          <c:val>
            <c:numRef>
              <c:f>Sheet1!$B$2:$B$3</c:f>
              <c:numCache>
                <c:formatCode>General</c:formatCode>
                <c:ptCount val="2"/>
                <c:pt idx="0">
                  <c:v>43</c:v>
                </c:pt>
                <c:pt idx="1">
                  <c:v>38.7</c:v>
                </c:pt>
              </c:numCache>
            </c:numRef>
          </c:val>
        </c:ser>
        <c:dLbls>
          <c:numFmt formatCode="0.0&quot; %&quot;" sourceLinked="0"/>
          <c:txPr>
            <a:bodyPr/>
            <a:lstStyle/>
            <a:p>
              <a:pPr>
                <a:defRPr b="1" i="0" strike="noStrike" sz="1800" u="none">
                  <a:solidFill>
                    <a:srgbClr val="111827"/>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111827"/>
            </a:solidFill>
            <a:prstDash val="solid"/>
            <a:round/>
          </a:ln>
        </c:spPr>
        <c:txPr>
          <a:bodyPr/>
          <a:lstStyle/>
          <a:p>
            <a:pPr>
              <a:defRPr sz="14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5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Differenz</c:v>
                </c:pt>
              </c:strCache>
            </c:strRef>
          </c:tx>
          <c:spPr>
            <a:solidFill>
              <a:srgbClr val="2F4B7C"/>
            </a:solidFill>
            <a:effectLst/>
          </c:spPr>
          <c:invertIfNegative val="0"/>
          <c:dLbls>
            <c:numFmt formatCode="+0.0;-0.0" sourceLinked="0"/>
            <c:txPr>
              <a:bodyPr/>
              <a:lstStyle/>
              <a:p>
                <a:pPr>
                  <a:defRPr b="1" i="0" strike="noStrike" sz="1300" u="none">
                    <a:solidFill>
                      <a:srgbClr val="111827"/>
                    </a:solidFill>
                    <a:latin typeface="Arial"/>
                  </a:defRPr>
                </a:pPr>
              </a:p>
            </c:txPr>
            <c:showLegendKey val="0"/>
            <c:showVal val="1"/>
            <c:showCatName val="0"/>
            <c:showSerName val="0"/>
            <c:showPercent val="0"/>
            <c:showBubbleSize val="0"/>
            <c:showLeaderLines val="0"/>
          </c:dLbls>
          <c:dPt>
            <c:idx val="0"/>
            <c:invertIfNegative val="0"/>
            <c:bubble3D val="0"/>
            <c:spPr>
              <a:solidFill>
                <a:srgbClr val="2F4B7C"/>
              </a:solidFill>
              <a:effectLst/>
            </c:spPr>
          </c:dPt>
          <c:dPt>
            <c:idx val="1"/>
            <c:invertIfNegative val="0"/>
            <c:bubble3D val="0"/>
            <c:spPr>
              <a:solidFill>
                <a:srgbClr val="E4572E"/>
              </a:solidFill>
              <a:effectLst/>
            </c:spPr>
          </c:dPt>
          <c:dPt>
            <c:idx val="2"/>
            <c:invertIfNegative val="0"/>
            <c:bubble3D val="0"/>
            <c:spPr>
              <a:solidFill>
                <a:srgbClr val="E4572E"/>
              </a:solidFill>
              <a:effectLst/>
            </c:spPr>
          </c:dPt>
          <c:dPt>
            <c:idx val="3"/>
            <c:invertIfNegative val="0"/>
            <c:bubble3D val="0"/>
            <c:spPr>
              <a:solidFill>
                <a:srgbClr val="2F4B7C"/>
              </a:solidFill>
              <a:effectLst/>
            </c:spPr>
          </c:dPt>
          <c:dPt>
            <c:idx val="4"/>
            <c:invertIfNegative val="0"/>
            <c:bubble3D val="0"/>
            <c:spPr>
              <a:solidFill>
                <a:srgbClr val="E4572E"/>
              </a:solidFill>
              <a:effectLst/>
            </c:spPr>
          </c:dPt>
          <c:dPt>
            <c:idx val="5"/>
            <c:invertIfNegative val="0"/>
            <c:bubble3D val="0"/>
            <c:spPr>
              <a:solidFill>
                <a:srgbClr val="2F4B7C"/>
              </a:solidFill>
              <a:effectLst/>
            </c:spPr>
          </c:dPt>
          <c:dPt>
            <c:idx val="6"/>
            <c:invertIfNegative val="0"/>
            <c:bubble3D val="0"/>
            <c:spPr>
              <a:solidFill>
                <a:srgbClr val="E4572E"/>
              </a:solidFill>
              <a:effectLst/>
            </c:spPr>
          </c:dPt>
          <c:cat>
            <c:multiLvlStrRef>
              <c:f>Sheet1!$A$2:$A$8</c:f>
              <c:multiLvlStrCache>
                <c:ptCount val="7"/>
                <c:lvl>
                  <c:pt idx="0">
                    <c:v>Gesamt</c:v>
                  </c:pt>
                  <c:pt idx="1">
                    <c:v>FB A</c:v>
                  </c:pt>
                  <c:pt idx="2">
                    <c:v>FB B*</c:v>
                  </c:pt>
                  <c:pt idx="3">
                    <c:v>FB C</c:v>
                  </c:pt>
                  <c:pt idx="4">
                    <c:v>FB D</c:v>
                  </c:pt>
                  <c:pt idx="5">
                    <c:v>FB E</c:v>
                  </c:pt>
                  <c:pt idx="6">
                    <c:v>FB F</c:v>
                  </c:pt>
                </c:lvl>
              </c:multiLvlStrCache>
            </c:multiLvlStrRef>
          </c:cat>
          <c:val>
            <c:numRef>
              <c:f>Sheet1!$B$2:$B$8</c:f>
              <c:numCache>
                <c:formatCode>General</c:formatCode>
                <c:ptCount val="7"/>
                <c:pt idx="0">
                  <c:v>-14.2</c:v>
                </c:pt>
                <c:pt idx="1">
                  <c:v>20.3</c:v>
                </c:pt>
                <c:pt idx="2">
                  <c:v>5</c:v>
                </c:pt>
                <c:pt idx="3">
                  <c:v>-2.9</c:v>
                </c:pt>
                <c:pt idx="4">
                  <c:v>1.8</c:v>
                </c:pt>
                <c:pt idx="5">
                  <c:v>-3.8</c:v>
                </c:pt>
                <c:pt idx="6">
                  <c:v>1.1</c:v>
                </c:pt>
              </c:numCache>
            </c:numRef>
          </c:val>
        </c:ser>
        <c:dLbls>
          <c:numFmt formatCode="+0.0;-0.0" sourceLinked="0"/>
          <c:txPr>
            <a:bodyPr/>
            <a:lstStyle/>
            <a:p>
              <a:pPr>
                <a:defRPr b="1" i="0" strike="noStrike" sz="1300" u="none">
                  <a:solidFill>
                    <a:srgbClr val="11182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none"/>
        <c:minorTickMark val="none"/>
        <c:tickLblPos val="low"/>
        <c:spPr>
          <a:ln w="12700" cap="flat">
            <a:solidFill>
              <a:srgbClr val="111827"/>
            </a:solidFill>
            <a:prstDash val="solid"/>
            <a:round/>
          </a:ln>
        </c:spPr>
        <c:txPr>
          <a:bodyPr/>
          <a:lstStyle/>
          <a:p>
            <a:pPr>
              <a:defRPr sz="14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26"/>
          <c:min val="-2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 0:00–0:30</a:t>
            </a:r>
          </a:p>
          <a:p/>
          <a:p>
            <a:r>
              <a:t>Guten Tag zusammen. Wir sind Leorat Krasniqi, Teoman-Doganay Lam und Filip Lazic.</a:t>
            </a:r>
          </a:p>
          <a:p/>
          <a:p>
            <a:r>
              <a:t>Unser Thema ist ein Klassiker der Statistik: die Zulassungen an der University of California in Berkeley im Jahr 1973. An diesem Beispiel zeigen wir, wie man mit Python Daten auswertet und darstellt, und warum ein einzelner Durchschnittswert manchmal genau das Falsche erzählt.</a:t>
            </a:r>
          </a:p>
          <a:p/>
          <a:p>
            <a:r>
              <a:t>Merksatz: Wir zeigen Python, Visualisierung und stochastische Unabhängigkeit an einem echten Datensatz.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Leorat Krasniqi · 0:30–1:20</a:t>
            </a:r>
          </a:p>
          <a:p/>
          <a:p>
            <a:r>
              <a:t>1973 gingen an den sechs grössten Fachbereichen der UC Berkeley 4 526 Bewerbungen für ein Graduate-Studium ein.</a:t>
            </a:r>
          </a:p>
          <a:p/>
          <a:p>
            <a:r>
              <a:t>Von den Männern wurden 44.5 Prozent zugelassen, also 1 198 von 2 691. Von den Frauen waren es nur 30.4 Prozent, 557 von 1 835.</a:t>
            </a:r>
          </a:p>
          <a:p/>
          <a:p>
            <a:r>
              <a:t>Die naheliegende Frage steht unten auf der Folie: Werden Frauen im Zulassungsverfahren benachteiligt? Genau diese Frage haben Bickel und Kollegen 1975 in der Zeitschrift Science untersucht. Wir gehen ihr mit Python nach.</a:t>
            </a:r>
          </a:p>
          <a:p/>
          <a:p>
            <a:r>
              <a:t>Merksatz: 44.5 % gegenüber 30.4 %: Auf den ersten Blick sieht das nach Benachteiligung aus.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Leorat Krasniqi · 1:20–1:50</a:t>
            </a:r>
          </a:p>
          <a:p/>
          <a:p>
            <a:r>
              <a:t>Unsere Aufgabe hat drei Teile. In Teil a erkläre ich Funktionen in Python nach McKinney, Abschnitt 3.2, und zeige, wo wir sie im eigenen Code einsetzen.</a:t>
            </a:r>
          </a:p>
          <a:p/>
          <a:p>
            <a:r>
              <a:t>In Teil b zeigt Teoman unsere Vorüberlegungen und ein Diagramm, aus dem man die scheinbare Ungerechtigkeit sofort sieht.</a:t>
            </a:r>
          </a:p>
          <a:p/>
          <a:p>
            <a:r>
              <a:t>In Teil c schauen Teoman und Filip genauer hin: Sie vergleichen die Verteilungen und prüfen die stochastische Unabhängigkeit.</a:t>
            </a:r>
          </a:p>
          <a:p/>
          <a:p>
            <a:r>
              <a:t>Merksatz: a = Funktionen, b = Darstellung, c = Vergleich und Unabhängigkeit.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Leorat Krasniqi · 1:50–2:00</a:t>
            </a:r>
          </a:p>
          <a:p/>
          <a:p>
            <a:r>
              <a:t>Wir beginnen mit Teil a: Funktionen in Python.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Leorat Krasniqi · 2:00–3:40</a:t>
            </a:r>
          </a:p>
          <a:p/>
          <a:p>
            <a:r>
              <a:t>Laut McKinney sind Funktionen die wichtigste Methode, um Code in Python zu organisieren und wiederzuverwenden. Sie machen Code ausserdem lesbarer, weil sie einer Gruppe von Anweisungen einen Namen geben.</a:t>
            </a:r>
          </a:p>
          <a:p/>
          <a:p>
            <a:r>
              <a:t>Links sehen Sie die vier Grundlagen. Erstens: Eine Funktion wird mit def deklariert und mit return verlassen. Fehlt das return, gibt Python automatisch None zurück.</a:t>
            </a:r>
          </a:p>
          <a:p/>
          <a:p>
            <a:r>
              <a:t>Zweitens gibt es Positions- und Keyword-Argumente. Positionsargumente werden über ihre Reihenfolge zugeordnet, Keyword-Argumente über ihren Namen. Keyword-Argumente haben oft einen Standardwert und müssen immer nach den Positionsargumenten stehen.</a:t>
            </a:r>
          </a:p>
          <a:p/>
          <a:p>
            <a:r>
              <a:t>Rechts sehen Sie das in unserem Code. Die Funktion kreuztabelle hat das Keyword-Argument fachbereich mit dem Standardwert None. Ruft man sie ohne diese Angabe auf, erstellt sie die Kreuztabelle über alle Bewerbungen. Mit fachbereich gleich A filtert sie zuerst die Zeilen von Fachbereich A. pivot_table aus pandas fasst die Anzahlen dann zu einer Tabelle Geschlecht mal Entscheid zusammen. Eine einzige Funktion reicht so für die Gesamtbetrachtung und für alle sechs Fachbereiche.</a:t>
            </a:r>
          </a:p>
          <a:p/>
          <a:p>
            <a:r>
              <a:t>Drittens der Namensraum: Variablen in einer Funktion leben nur während des Aufrufs. McKinney rät von global ab, deshalb bekommen alle unsere Funktionen ihre Daten als Argument.</a:t>
            </a:r>
          </a:p>
          <a:p/>
          <a:p>
            <a:r>
              <a:t>Viertens: Gibt eine Funktion scheinbar mehrere Werte zurück, ist das eigentlich ein Tupel. Unsere Funktion kennzahlen liefert Quote und Anteil, und wir entpacken beide direkt in zwei Variablen.</a:t>
            </a:r>
          </a:p>
          <a:p/>
          <a:p>
            <a:r>
              <a:t>Merksatz: def, return, Keyword-Argument mit Standardwert: Eine Funktion ersetzt sieben Kopien desselben Codes.</a:t>
            </a:r>
          </a:p>
          <a:p/>
          <a:p>
            <a:r>
              <a:t>[Ergänzung für 20 Minuten] Statt eines Tupels kann man auch ein Dictionary zurückgeben. Das machen wir in pruefe_unabhaengigkeit, weil sie neun Kennzahlen liefert, die man so über ihren Namen ansprechen kann (McKinney, S. 74).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Leorat Krasniqi · 3:40–5:10</a:t>
            </a:r>
          </a:p>
          <a:p/>
          <a:p>
            <a:r>
              <a:t>Links steht McKinneys Faustregel: Code, den man mehr als einmal braucht, gehört in eine Funktion. Rechts sehen Sie fünf weitere Konzepte aus Abschnitt 3.2, jeweils mit einer Zeile aus unserem Code.</a:t>
            </a:r>
          </a:p>
          <a:p/>
          <a:p>
            <a:r>
              <a:t>Erstens sind Funktionen in Python Objekte. Man kann sie deshalb in eine Liste packen. Genau so bereinigen wir die Werte aus Tabelle 4: Leerzeichen entfernen, Prozentzeichen entfernen, in eine Zahl umwandeln. Das ist dasselbe Muster wie McKinneys clean_strings.</a:t>
            </a:r>
          </a:p>
          <a:p/>
          <a:p>
            <a:r>
              <a:t>Zweitens Lambda-Funktionen: anonyme Einzeiler. Wir übergeben sie zum Beispiel, um Achsen in Prozent zu beschriften.</a:t>
            </a:r>
          </a:p>
          <a:p/>
          <a:p>
            <a:r>
              <a:t>Drittens Currying mit partial: Aus der allgemeinen Funktion bedingte_quote machen wir quote_frauen, indem wir das Geschlecht fest einsetzen. Das Ergebnis ist P von Z gegeben W.</a:t>
            </a:r>
          </a:p>
          <a:p/>
          <a:p>
            <a:r>
              <a:t>Viertens ein Generator mit yield: Er liefert die Ergebnisse Fachbereich für Fachbereich, und zwar erst dann, wenn sie gebraucht werden.</a:t>
            </a:r>
          </a:p>
          <a:p/>
          <a:p>
            <a:r>
              <a:t>Und fünftens die Fehlerbehandlung: Wir fangen nur den ValueError ab. Ein Tippfehler in der Tabelle bricht dann mit einer klaren Meldung ab, statt dass wir unbemerkt mit einer falschen Zahl weiterrechnen.</a:t>
            </a:r>
          </a:p>
          <a:p/>
          <a:p>
            <a:r>
              <a:t>Damit übergebe ich an Teoman.</a:t>
            </a:r>
          </a:p>
          <a:p/>
          <a:p>
            <a:r>
              <a:t>Merksatz: Alle Konzepte aus Abschnitt 3.2 kommen in unserem eigenen Code vor, nicht nur in Beispielen.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Teoman-Doganay Lam · 5:10–5:20</a:t>
            </a:r>
          </a:p>
          <a:p/>
          <a:p>
            <a:r>
              <a:t>Danke, Leorat. Bevor wir zu Teil b kommen, zeige ich, wie wir die Umsetzung geplant haben.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Teoman-Doganay Lam · 5:20–6:50</a:t>
            </a:r>
          </a:p>
          <a:p/>
          <a:p>
            <a:r>
              <a:t>Die erste Frage war: Was liegt eigentlich vor? Tabelle 4 enthält nur Prozentwerte, also Zulassungsquoten und Anteile. Daraus ergeben sich unsere fünf Schritte.</a:t>
            </a:r>
          </a:p>
          <a:p/>
          <a:p>
            <a:r>
              <a:t>Schritt 1 und 2: Wir erfassen Tabelle 4 wortgetreu als Text, zum Beispiel «82.4%», und machen mit der Liste von Funktionen, die Leorat gezeigt hat, Zahlen daraus. So bleibt die Datenerfassung nachvollziehbar.</a:t>
            </a:r>
          </a:p>
          <a:p/>
          <a:p>
            <a:r>
              <a:t>Schritt 3 ist der wichtigste: Für die stochastische Unabhängigkeit brauchen wir Anzahlen, zum Beispiel wie viele Frauen es insgesamt waren. Aus den gerundeten Prozenten lassen sie sich nicht exakt zurückrechnen. Wir übernehmen sie deshalb aus dem Originaldatensatz, der in R als UCBAdmissions verfügbar ist. Der Code prüft, dass diese Anzahlen alle 24 Prozentwerte der Tabelle ergeben. Das Ergebnis sind null Abweichungen.</a:t>
            </a:r>
          </a:p>
          <a:p/>
          <a:p>
            <a:r>
              <a:t>Schritt 4: Die Daten liegen als eine lange Tabelle vor, mit einer Zeile pro Fachbereich, Geschlecht und Entscheid. Daraus bildet die Funktion kreuztabelle jede Tabelle, die wir brauchen.</a:t>
            </a:r>
          </a:p>
          <a:p/>
          <a:p>
            <a:r>
              <a:t>Schritt 5: Als Diagrammtypen verwenden wir die aus dem Kurs, also Säulen- und Balkendiagramme für Kreuztabellen und im Notebook zusätzlich ein Streudiagramm.</a:t>
            </a:r>
          </a:p>
          <a:p/>
          <a:p>
            <a:r>
              <a:t>Unten stehen die Libraries und warum wir sie gewählt haben. pandas ist das Standardwerkzeug für Tabellen, eine Kreuztabelle entsteht damit in einer Zeile. numpy rechnet auf ganzen Spalten ohne Schleifen. matplotlib gibt uns volle Kontrolle über Farben und Beschriftungen. re und functools stammen aus der Standardbibliothek. Alle diese Libraries sind in Anaconda enthalten, das wir im Kurs verwenden.</a:t>
            </a:r>
          </a:p>
          <a:p/>
          <a:p>
            <a:r>
              <a:t>Merksatz: Erst prüfen, dann rechnen: Die Anzahlen reproduzieren Tabelle 4 ohne eine einzige Abweichung.</a:t>
            </a:r>
          </a:p>
          <a:p/>
          <a:p>
            <a:r>
              <a:t>[Ergänzung für 20 Minuten] Als Plausibilitätskontrolle rechnet der Code auch die Zeile «Total» aus den Fachbereichswerten nach. Das ergibt 30.4 und 44.6 Prozent, die Differenz von 0.1 zur Tabelle entsteht nur durch Rundung.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Teoman-Doganay Lam · 6:50–8:00</a:t>
            </a:r>
          </a:p>
          <a:p/>
          <a:p>
            <a:r>
              <a:t>Teil b verlangt eine Darstellung, aus der man die Ungerechtigkeit schnell erkennt. Dafür reicht ein einziger Vergleich: die Zulassungsquote aller Frauen gegen die aller Männer.</a:t>
            </a:r>
          </a:p>
          <a:p/>
          <a:p>
            <a:r>
              <a:t>Wir haben bewusst ein einfaches Balkendiagramm gewählt, mit Nullachse, damit die Längen ehrlich vergleichbar sind, und mit den Werten direkt an den Balken. Die Farben bleiben in der ganzen Präsentation gleich: Orange für Frauen, Blau für Männer.</a:t>
            </a:r>
          </a:p>
          <a:p/>
          <a:p>
            <a:r>
              <a:t>Das Ergebnis: 30.4 gegen 44.5 Prozent, also 14.2 Prozentpunkte weniger für Frauen. Exakt gerechnet sind es 44.52 minus 30.35. Die Quote der Männer ist damit fast 1.5-mal so hoch. Anders gesagt: Mit der Quote der Männer wären 817 statt 557 Frauen zugelassen worden.</a:t>
            </a:r>
          </a:p>
          <a:p/>
          <a:p>
            <a:r>
              <a:t>Im Code übernimmt matplotlib das Zeichnen. Die Werte schreibt unsere Funktion saeulen_beschriften an die Säulen. Ihr übergeben wir die Formatierung als Funktion, wieder ein Konzept aus Teil a.</a:t>
            </a:r>
          </a:p>
          <a:p/>
          <a:p>
            <a:r>
              <a:t>Also Diskriminierung? Genau diesen Schluss prüfen wir jetzt.</a:t>
            </a:r>
          </a:p>
          <a:p/>
          <a:p>
            <a:r>
              <a:t>Merksatz: Aggregiert: 14.2 Prozentpunkte weniger für Frauen. Die Frage ist, ob dieser Schluss hält.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Teoman-Doganay Lam · 8:00–8:10</a:t>
            </a:r>
          </a:p>
          <a:p/>
          <a:p>
            <a:r>
              <a:t>Teil c: Wir schauen genauer hin.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Teoman-Doganay Lam · 8:10–9:10</a:t>
            </a:r>
          </a:p>
          <a:p/>
          <a:p>
            <a:r>
              <a:t>Über die Zulassung entscheidet nicht die Universität als Ganzes, sondern jeder Fachbereich für sich. Deshalb vergleichen wir die Quoten innerhalb der Fachbereiche. Im Code ist das dieselbe Funktion, nur mit dem Argument fachbereich.</a:t>
            </a:r>
          </a:p>
          <a:p/>
          <a:p>
            <a:r>
              <a:t>Und das Bild dreht sich: In vier von sechs Fachbereichen haben Frauen die höhere Quote. In Fachbereich A sind es sogar gut 20 Prozentpunkte mehr, 82.4 gegen 62.1 Prozent.</a:t>
            </a:r>
          </a:p>
          <a:p/>
          <a:p>
            <a:r>
              <a:t>Nur in C und E liegen die Männer vorne, mit knapp 3 und knapp 4 Prozentpunkten. Unter jedem Fachbereich steht die Differenz. Wir haben sie aus den ungerundeten Anzahlen berechnet, deshalb steht bei C minus 2.9.</a:t>
            </a:r>
          </a:p>
          <a:p/>
          <a:p>
            <a:r>
              <a:t>Wie passt das zur viel tieferen Gesamtquote der Frauen?</a:t>
            </a:r>
          </a:p>
          <a:p/>
          <a:p>
            <a:r>
              <a:t>Merksatz: Innerhalb der Fachbereiche gibt es keinen systematischen Nachteil für Frauen.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Teoman-Doganay Lam · 9:10–10:20</a:t>
            </a:r>
          </a:p>
          <a:p/>
          <a:p>
            <a:r>
              <a:t>Die Antwort liegt darin, wo sich Frauen und Männer beworben haben. Dunkel sind die Fachbereiche A und B. Dort werden knapp zwei Drittel aller Bewerbungen angenommen. Grau sind C bis F mit Quoten zwischen 6 und 35 Prozent.</a:t>
            </a:r>
          </a:p>
          <a:p/>
          <a:p>
            <a:r>
              <a:t>Von den Männern hat sich gut die Hälfte in A oder B beworben, genau 51.5 Prozent. Von den Frauen waren es nur 7.2 Prozent. 92.8 Prozent der Frauen haben sich also in den schwierigen Fachbereichen beworben.</a:t>
            </a:r>
          </a:p>
          <a:p/>
          <a:p>
            <a:r>
              <a:t>Rechts sieht man den Zusammenhang über alle sechs Fachbereiche: Die Korrelation zwischen Frauenanteil und Zulassungsquote beträgt minus 0.79. Zwei Beispiele: In A sind 11.6 Prozent der Bewerbungen von Frauen, die Quote liegt bei 64.4 Prozent. In E sind es 67.3 Prozent Frauen, und die Quote liegt nur bei 25.2 Prozent.</a:t>
            </a:r>
          </a:p>
          <a:p/>
          <a:p>
            <a:r>
              <a:t>Damit übergebe ich an Filip.</a:t>
            </a:r>
          </a:p>
          <a:p/>
          <a:p>
            <a:r>
              <a:t>Merksatz: Frauen bewarben sich vor allem dort, wo es schwer ist.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Filip Lazic · 10:20–11:40</a:t>
            </a:r>
          </a:p>
          <a:p/>
          <a:p>
            <a:r>
              <a:t>Danke, Teoman. Warum führt das zu einer tieferen Gesamtquote? Das erklärt der Satz der totalen Wahrscheinlichkeit. Im Folienskript heisst es: alle Wege im Baumdiagramm addieren.</a:t>
            </a:r>
          </a:p>
          <a:p/>
          <a:p>
            <a:r>
              <a:t>Die Formel oben sagt: Die Zulassungsquote eines Geschlechts ist die Summe über alle Fachbereiche, und zwar Anteil der Bewerbungen mal Quote im Fachbereich. Die Gesamtquote ist also ein gewichteter Mittelwert. Die Gewichte sind die Anteile, also wo man sich beworben hat.</a:t>
            </a:r>
          </a:p>
          <a:p/>
          <a:p>
            <a:r>
              <a:t>Frauen haben ihre grossen Gewichte genau bei den tiefen Quoten. Um diesen Effekt auszuschalten, haben wir für beide Geschlechter dieselben Gewichte eingesetzt, nämlich die Verteilung aller 4 526 Bewerbungen.</a:t>
            </a:r>
          </a:p>
          <a:p/>
          <a:p>
            <a:r>
              <a:t>Das Ergebnis sehen Sie rechts: Frauen 43.0 Prozent, Männer 38.7 Prozent. Der Unterschied kehrt sich also um.</a:t>
            </a:r>
          </a:p>
          <a:p/>
          <a:p>
            <a:r>
              <a:t>Im Code ist das eine einzige Zeile: Die Funktion gesamtquote multipliziert Quoten und Anteile und summiert. Für die Standardisierung rufen wir sie nur mit anderen Gewichten auf.</a:t>
            </a:r>
          </a:p>
          <a:p/>
          <a:p>
            <a:r>
              <a:t>Merksatz: Die Gesamtquote ist ein gewichteter Mittelwert. Die Gewichte, also die Fachbereichswahl, erzeugen den Unterschied.</a:t>
            </a:r>
          </a:p>
          <a:p/>
          <a:p>
            <a:r>
              <a:t>[Ergänzung für 20 Minuten] Die gemeinsamen Gewichte sind die Anteile aller Bewerbungen je Fachbereich: A 20.6 %, B 12.9 %, C 20.3 %, D 17.5 %, E 12.9 % und F 15.8 %.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Filip Lazic · 11:40–12:50</a:t>
            </a:r>
          </a:p>
          <a:p/>
          <a:p>
            <a:r>
              <a:t>Nun zur stochastischen Unabhängigkeit, wie im Folienskript Teil 3. Z steht für «zugelassen», W für «Bewerbung einer Frau». Die Zulassungsquoten von vorhin sind bedingte Wahrscheinlichkeiten, zum Beispiel P von Z gegeben W.</a:t>
            </a:r>
          </a:p>
          <a:p/>
          <a:p>
            <a:r>
              <a:t>Zwei Ereignisse sind stochastisch unabhängig, wenn das eine die Wahrscheinlichkeit des anderen nicht verändert. Formal gilt dann: P von Z geschnitten W gleich P von Z mal P von W. Wir prüfen das genau wie im Beispiel mit Navi und Klimaanlage.</a:t>
            </a:r>
          </a:p>
          <a:p/>
          <a:p>
            <a:r>
              <a:t>Aus der Kreuztabelle ergibt sich P von Z gleich 0.388 und P von W gleich 0.405. Bei Unabhängigkeit müsste P von Z geschnitten W also 0.157 sein. Beobachtet sind aber nur 0.123, rund 22 Prozent weniger.</a:t>
            </a:r>
          </a:p>
          <a:p/>
          <a:p>
            <a:r>
              <a:t>Über alle Fachbereiche zusammen sind Zulassung und Geschlecht damit stochastisch abhängig.</a:t>
            </a:r>
          </a:p>
          <a:p/>
          <a:p>
            <a:r>
              <a:t>Im Code berechnet das die Funktion pruefe_unabhaengigkeit. Sie gibt alle Kennzahlen als Dictionary zurück, damit man sie über ihren Namen ansprechen kann.</a:t>
            </a:r>
          </a:p>
          <a:p/>
          <a:p>
            <a:r>
              <a:t>Merksatz: Gesamt: 0.123 statt 0.157, also abhängig.</a:t>
            </a:r>
          </a:p>
          <a:p/>
          <a:p>
            <a:r>
              <a:t>[Ergänzung für 20 Minuten] Zur Kontrolle ergibt P(Z ∩ W) geteilt durch P(W) = 0.1231 / 0.4054 = 0.304, also genau die Zulassungsquote der Frauen.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Filip Lazic · 12:50–14:00</a:t>
            </a:r>
          </a:p>
          <a:p/>
          <a:p>
            <a:r>
              <a:t>Dieselbe Prüfung haben wir für jeden Fachbereich gemacht. Im Code liefert der Generator die Ergebnisse Fachbereich für Fachbereich.</a:t>
            </a:r>
          </a:p>
          <a:p/>
          <a:p>
            <a:r>
              <a:t>Links sehen Sie die Differenz der Quoten. In B bis F beträgt sie höchstens 5 Prozentpunkte, und die Richtung wechselt: In B, D und F liegen die Frauen vorne, in C und E die Männer. Bei B beruht das zudem auf nur 25 Bewerbungen von Frauen.</a:t>
            </a:r>
          </a:p>
          <a:p/>
          <a:p>
            <a:r>
              <a:t>Rechts liegen P von Z geschnitten W und das Produkt jeweils nahe beieinander. Innerhalb der Fachbereiche sind Zulassung und Geschlecht also annähernd unabhängig.</a:t>
            </a:r>
          </a:p>
          <a:p/>
          <a:p>
            <a:r>
              <a:t>Die einzige deutliche Abweichung ist Fachbereich A, und die geht zugunsten der Frauen.</a:t>
            </a:r>
          </a:p>
          <a:p/>
          <a:p>
            <a:r>
              <a:t>Wichtig: Unsere Beurteilung ist beschreibend. Ob kleine Abweichungen zufällig sind, würde ein Hypothesentest klären. Den behandeln wir im Kurs erst später.</a:t>
            </a:r>
          </a:p>
          <a:p/>
          <a:p>
            <a:r>
              <a:t>Merksatz: Insgesamt abhängig, innerhalb der Fachbereiche annähernd unabhängig.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Filip Lazic · 14:00–14:30</a:t>
            </a:r>
          </a:p>
          <a:p/>
          <a:p>
            <a:r>
              <a:t>Damit sind wir bei der Kernaussage: Der Fachbereich erklärt den Unterschied.</a:t>
            </a:r>
          </a:p>
          <a:p/>
          <a:p>
            <a:r>
              <a:t>Frauen bewarben sich häufiger in stark umkämpften Fachbereichen. Fasst man die Fachbereiche zusammen, kehrt sich der Zusammenhang um. Dieses Phänomen heisst nach Edward Simpson das Simpson-Paradoxon. Die Berkeley-Daten werden häufig verwendet, um es zu veranschaulichen.</a:t>
            </a:r>
          </a:p>
          <a:p/>
          <a:p>
            <a:r>
              <a:t>Merksatz: Eine Drittvariable, hier der Fachbereich, kann einen Zusammenhang beim Zusammenfassen umkehren.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Filip Lazic · 14:30–15:10</a:t>
            </a:r>
          </a:p>
          <a:p/>
          <a:p>
            <a:r>
              <a:t>Drei Punkte zum Mitnehmen. Erstens: Über alle Fachbereiche zusammen sind Zulassung und Geschlecht abhängig, 30.4 gegen 44.5 Prozent.</a:t>
            </a:r>
          </a:p>
          <a:p/>
          <a:p>
            <a:r>
              <a:t>Zweitens: In den Fachbereichen zeigt sich kein systematischer Nachteil für Frauen, in Fachbereich A liegen sie sogar deutlich vorne.</a:t>
            </a:r>
          </a:p>
          <a:p/>
          <a:p>
            <a:r>
              <a:t>Drittens: Die Ursache ist die Wahl des Fachbereichs. Bei gleicher Wahl läge die Quote der Frauen bei 43.0, die der Männer bei 38.7 Prozent.</a:t>
            </a:r>
          </a:p>
          <a:p/>
          <a:p>
            <a:r>
              <a:t>Unsere Analyse hat auch Grenzen. Es sind Beobachtungsdaten eines einzigen Jahres. Warum Frauen die selektiveren Fachbereiche wählten und wie qualifiziert die Bewerbenden waren, sagen die Daten nicht.</a:t>
            </a:r>
          </a:p>
          <a:p/>
          <a:p>
            <a:r>
              <a:t>Und programmtechnisch: Dank Funktionen konnten wir denselben Code für die Gesamtanalyse, alle sechs Fachbereiche und die Standardisierung verwenden.</a:t>
            </a:r>
          </a:p>
          <a:p/>
          <a:p>
            <a:r>
              <a:t>Merksatz: Abhängig insgesamt, kein systematischer Nachteil je Fachbereich, Ursache ist die Fachbereichswahl.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Filip Lazic · 15:10–15:20</a:t>
            </a:r>
          </a:p>
          <a:p/>
          <a:p>
            <a:r>
              <a:t>Vielen Dank für Ihre Aufmerksamkeit. Rechts finden Sie unsere Quellen. Wir freuen uns auf Ihre Fragen.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852160" y="45720"/>
            <a:ext cx="5852160" cy="1874520"/>
          </a:xfrm>
          <a:prstGeom prst="rect">
            <a:avLst/>
          </a:prstGeom>
          <a:noFill/>
          <a:ln/>
        </p:spPr>
        <p:txBody>
          <a:bodyPr wrap="square" lIns="0" tIns="0" rIns="0" bIns="0" rtlCol="0" anchor="t"/>
          <a:lstStyle/>
          <a:p>
            <a:pPr algn="r" indent="0" marL="0">
              <a:buNone/>
            </a:pPr>
            <a:r>
              <a:rPr lang="en-US" sz="15000" b="1" dirty="0">
                <a:solidFill>
                  <a:srgbClr val="1A2436"/>
                </a:solidFill>
                <a:latin typeface="Arial" pitchFamily="34" charset="0"/>
                <a:ea typeface="Arial" pitchFamily="34" charset="-122"/>
                <a:cs typeface="Arial" pitchFamily="34" charset="-120"/>
              </a:rPr>
              <a:t>1973</a:t>
            </a:r>
            <a:endParaRPr lang="en-US" sz="15000" dirty="0"/>
          </a:p>
        </p:txBody>
      </p:sp>
      <p:sp>
        <p:nvSpPr>
          <p:cNvPr id="3" name="Text 1"/>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8C97A8"/>
                </a:solidFill>
                <a:latin typeface="Arial" pitchFamily="34" charset="0"/>
                <a:ea typeface="Arial" pitchFamily="34" charset="-122"/>
                <a:cs typeface="Arial" pitchFamily="34" charset="-120"/>
              </a:rPr>
              <a:t>STATISTIK · VORTRAG 4 · KLEINKLASSE HS 2026</a:t>
            </a:r>
            <a:endParaRPr lang="en-US" sz="1050" dirty="0"/>
          </a:p>
        </p:txBody>
      </p:sp>
      <p:sp>
        <p:nvSpPr>
          <p:cNvPr id="4" name="Text 2"/>
          <p:cNvSpPr txBox="1"/>
          <p:nvPr/>
        </p:nvSpPr>
        <p:spPr>
          <a:xfrm>
            <a:off x="594360" y="1874520"/>
            <a:ext cx="10515600" cy="1828800"/>
          </a:xfrm>
          <a:prstGeom prst="rect">
            <a:avLst/>
          </a:prstGeom>
          <a:noFill/>
          <a:ln/>
        </p:spPr>
        <p:txBody>
          <a:bodyPr wrap="square" lIns="0" tIns="0" rIns="0" bIns="0" rtlCol="0" anchor="t"/>
          <a:lstStyle/>
          <a:p>
            <a:pPr indent="0" marL="0">
              <a:lnSpc>
                <a:spcPct val="95000"/>
              </a:lnSpc>
              <a:buNone/>
            </a:pPr>
            <a:r>
              <a:rPr lang="en-US" sz="5800" b="1" dirty="0">
                <a:solidFill>
                  <a:srgbClr val="FFFFFF"/>
                </a:solidFill>
                <a:latin typeface="Arial" pitchFamily="34" charset="0"/>
                <a:ea typeface="Arial" pitchFamily="34" charset="-122"/>
                <a:cs typeface="Arial" pitchFamily="34" charset="-120"/>
              </a:rPr>
              <a:t>Das Simpson-Paradoxon</a:t>
            </a:r>
            <a:endParaRPr lang="en-US" sz="5800" dirty="0"/>
          </a:p>
          <a:p>
            <a:pPr indent="0" marL="0">
              <a:lnSpc>
                <a:spcPct val="95000"/>
              </a:lnSpc>
              <a:buNone/>
            </a:pPr>
            <a:r>
              <a:rPr lang="en-US" sz="5800" b="1" dirty="0">
                <a:solidFill>
                  <a:srgbClr val="E4572E"/>
                </a:solidFill>
                <a:latin typeface="Arial" pitchFamily="34" charset="0"/>
                <a:ea typeface="Arial" pitchFamily="34" charset="-122"/>
                <a:cs typeface="Arial" pitchFamily="34" charset="-120"/>
              </a:rPr>
              <a:t>an der UC Berkeley</a:t>
            </a:r>
            <a:endParaRPr lang="en-US" sz="5800" dirty="0"/>
          </a:p>
        </p:txBody>
      </p:sp>
      <p:sp>
        <p:nvSpPr>
          <p:cNvPr id="5" name="Text 3"/>
          <p:cNvSpPr txBox="1"/>
          <p:nvPr/>
        </p:nvSpPr>
        <p:spPr>
          <a:xfrm>
            <a:off x="594360" y="3886200"/>
            <a:ext cx="6949440" cy="731520"/>
          </a:xfrm>
          <a:prstGeom prst="rect">
            <a:avLst/>
          </a:prstGeom>
          <a:noFill/>
          <a:ln/>
        </p:spPr>
        <p:txBody>
          <a:bodyPr wrap="square" lIns="0" tIns="0" rIns="0" bIns="0" rtlCol="0" anchor="t"/>
          <a:lstStyle/>
          <a:p>
            <a:pPr indent="0" marL="0">
              <a:lnSpc>
                <a:spcPct val="110000"/>
              </a:lnSpc>
              <a:buNone/>
            </a:pPr>
            <a:r>
              <a:rPr lang="en-US" sz="2000" dirty="0">
                <a:solidFill>
                  <a:srgbClr val="C9D1DC"/>
                </a:solidFill>
                <a:latin typeface="Arial" pitchFamily="34" charset="0"/>
                <a:ea typeface="Arial" pitchFamily="34" charset="-122"/>
                <a:cs typeface="Arial" pitchFamily="34" charset="-120"/>
              </a:rPr>
              <a:t>Zulassungen 1973: Funktionen in Python, Visualisierung und stochastische Unabhängigkeit</a:t>
            </a:r>
            <a:endParaRPr lang="en-US" sz="2000" dirty="0"/>
          </a:p>
        </p:txBody>
      </p:sp>
      <p:sp>
        <p:nvSpPr>
          <p:cNvPr id="6" name="Text 4"/>
          <p:cNvSpPr txBox="1"/>
          <p:nvPr/>
        </p:nvSpPr>
        <p:spPr>
          <a:xfrm>
            <a:off x="594360" y="5669280"/>
            <a:ext cx="822960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Leorat Krasniqi · Teoman-Doganay Lam · Filip Lazic</a:t>
            </a:r>
            <a:endParaRPr lang="en-US" sz="1500" dirty="0"/>
          </a:p>
        </p:txBody>
      </p:sp>
      <p:sp>
        <p:nvSpPr>
          <p:cNvPr id="7" name="Text 5"/>
          <p:cNvSpPr txBox="1"/>
          <p:nvPr/>
        </p:nvSpPr>
        <p:spPr>
          <a:xfrm>
            <a:off x="594360" y="6016752"/>
            <a:ext cx="8229600" cy="256032"/>
          </a:xfrm>
          <a:prstGeom prst="rect">
            <a:avLst/>
          </a:prstGeom>
          <a:noFill/>
          <a:ln/>
        </p:spPr>
        <p:txBody>
          <a:bodyPr wrap="square" lIns="0" tIns="0" rIns="0" bIns="0" rtlCol="0" anchor="t"/>
          <a:lstStyle/>
          <a:p>
            <a:pPr indent="0" marL="0">
              <a:buNone/>
            </a:pPr>
            <a:r>
              <a:rPr lang="en-US" sz="1200" dirty="0">
                <a:solidFill>
                  <a:srgbClr val="C9D1DC"/>
                </a:solidFill>
                <a:latin typeface="Arial" pitchFamily="34" charset="0"/>
                <a:ea typeface="Arial" pitchFamily="34" charset="-122"/>
                <a:cs typeface="Arial" pitchFamily="34" charset="-120"/>
              </a:rPr>
              <a:t>ZHAW School of Management and Law · Wirtschaftsinformatik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02 — AUSGANGSLAGE</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02 / 18</a:t>
            </a:r>
            <a:endParaRPr lang="en-US" sz="1050" dirty="0"/>
          </a:p>
        </p:txBody>
      </p:sp>
      <p:sp>
        <p:nvSpPr>
          <p:cNvPr id="4" name="Text 2"/>
          <p:cNvSpPr txBox="1"/>
          <p:nvPr/>
        </p:nvSpPr>
        <p:spPr>
          <a:xfrm>
            <a:off x="594360" y="777240"/>
            <a:ext cx="11002975" cy="320040"/>
          </a:xfrm>
          <a:prstGeom prst="rect">
            <a:avLst/>
          </a:prstGeom>
          <a:noFill/>
          <a:ln/>
        </p:spPr>
        <p:txBody>
          <a:bodyPr wrap="square" lIns="0" tIns="0" rIns="0" bIns="0" rtlCol="0" anchor="t"/>
          <a:lstStyle/>
          <a:p>
            <a:pPr indent="0" marL="0">
              <a:buNone/>
            </a:pPr>
            <a:r>
              <a:rPr lang="en-US" sz="1600" dirty="0">
                <a:solidFill>
                  <a:srgbClr val="5B6472"/>
                </a:solidFill>
                <a:latin typeface="Arial" pitchFamily="34" charset="0"/>
                <a:ea typeface="Arial" pitchFamily="34" charset="-122"/>
                <a:cs typeface="Arial" pitchFamily="34" charset="-120"/>
              </a:rPr>
              <a:t>UC Berkeley, 1973 · 4 526 Bewerbungen für ein Graduate-Studium · sechs grösste Fachbereiche</a:t>
            </a:r>
            <a:endParaRPr lang="en-US" sz="1600" dirty="0"/>
          </a:p>
        </p:txBody>
      </p:sp>
      <p:sp>
        <p:nvSpPr>
          <p:cNvPr id="5" name="Text 3"/>
          <p:cNvSpPr txBox="1"/>
          <p:nvPr/>
        </p:nvSpPr>
        <p:spPr>
          <a:xfrm>
            <a:off x="594360" y="1417320"/>
            <a:ext cx="5486400" cy="320040"/>
          </a:xfrm>
          <a:prstGeom prst="rect">
            <a:avLst/>
          </a:prstGeom>
          <a:noFill/>
          <a:ln/>
        </p:spPr>
        <p:txBody>
          <a:bodyPr wrap="square" lIns="0" tIns="0" rIns="0" bIns="0" rtlCol="0" anchor="t"/>
          <a:lstStyle/>
          <a:p>
            <a:pPr indent="0" marL="0">
              <a:buNone/>
            </a:pPr>
            <a:r>
              <a:rPr lang="en-US" sz="1600" b="1" dirty="0">
                <a:solidFill>
                  <a:srgbClr val="111827"/>
                </a:solidFill>
                <a:latin typeface="Arial" pitchFamily="34" charset="0"/>
                <a:ea typeface="Arial" pitchFamily="34" charset="-122"/>
                <a:cs typeface="Arial" pitchFamily="34" charset="-120"/>
              </a:rPr>
              <a:t>Zugelassen wurden</a:t>
            </a:r>
            <a:endParaRPr lang="en-US" sz="1600" dirty="0"/>
          </a:p>
        </p:txBody>
      </p:sp>
      <p:sp>
        <p:nvSpPr>
          <p:cNvPr id="6" name="Text 4"/>
          <p:cNvSpPr txBox="1"/>
          <p:nvPr/>
        </p:nvSpPr>
        <p:spPr>
          <a:xfrm>
            <a:off x="594360" y="1874520"/>
            <a:ext cx="5303520" cy="1554480"/>
          </a:xfrm>
          <a:prstGeom prst="rect">
            <a:avLst/>
          </a:prstGeom>
          <a:noFill/>
          <a:ln/>
        </p:spPr>
        <p:txBody>
          <a:bodyPr wrap="square" lIns="0" tIns="0" rIns="0" bIns="0" rtlCol="0" anchor="ctr"/>
          <a:lstStyle/>
          <a:p>
            <a:pPr indent="0" marL="0">
              <a:buNone/>
            </a:pPr>
            <a:r>
              <a:rPr lang="en-US" sz="11000" b="1" dirty="0">
                <a:solidFill>
                  <a:srgbClr val="2F4B7C"/>
                </a:solidFill>
                <a:latin typeface="Arial" pitchFamily="34" charset="0"/>
                <a:ea typeface="Arial" pitchFamily="34" charset="-122"/>
                <a:cs typeface="Arial" pitchFamily="34" charset="-120"/>
              </a:rPr>
              <a:t>44.5 %</a:t>
            </a:r>
            <a:endParaRPr lang="en-US" sz="11000" dirty="0"/>
          </a:p>
        </p:txBody>
      </p:sp>
      <p:sp>
        <p:nvSpPr>
          <p:cNvPr id="7" name="Text 5"/>
          <p:cNvSpPr txBox="1"/>
          <p:nvPr/>
        </p:nvSpPr>
        <p:spPr>
          <a:xfrm>
            <a:off x="594360" y="3520440"/>
            <a:ext cx="5029200" cy="365760"/>
          </a:xfrm>
          <a:prstGeom prst="rect">
            <a:avLst/>
          </a:prstGeom>
          <a:noFill/>
          <a:ln/>
        </p:spPr>
        <p:txBody>
          <a:bodyPr wrap="square" lIns="0" tIns="0" rIns="0" bIns="0" rtlCol="0" anchor="t"/>
          <a:lstStyle/>
          <a:p>
            <a:pPr indent="0" marL="0">
              <a:buNone/>
            </a:pPr>
            <a:r>
              <a:rPr lang="en-US" sz="2200" b="1" dirty="0">
                <a:solidFill>
                  <a:srgbClr val="111827"/>
                </a:solidFill>
                <a:latin typeface="Arial" pitchFamily="34" charset="0"/>
                <a:ea typeface="Arial" pitchFamily="34" charset="-122"/>
                <a:cs typeface="Arial" pitchFamily="34" charset="-120"/>
              </a:rPr>
              <a:t>der Männer</a:t>
            </a:r>
            <a:endParaRPr lang="en-US" sz="2200" dirty="0"/>
          </a:p>
        </p:txBody>
      </p:sp>
      <p:sp>
        <p:nvSpPr>
          <p:cNvPr id="8" name="Text 6"/>
          <p:cNvSpPr txBox="1"/>
          <p:nvPr/>
        </p:nvSpPr>
        <p:spPr>
          <a:xfrm>
            <a:off x="594360" y="3931920"/>
            <a:ext cx="5029200" cy="274320"/>
          </a:xfrm>
          <a:prstGeom prst="rect">
            <a:avLst/>
          </a:prstGeom>
          <a:noFill/>
          <a:ln/>
        </p:spPr>
        <p:txBody>
          <a:bodyPr wrap="square" lIns="0" tIns="0" rIns="0" bIns="0" rtlCol="0" anchor="t"/>
          <a:lstStyle/>
          <a:p>
            <a:pPr indent="0" marL="0">
              <a:buNone/>
            </a:pPr>
            <a:r>
              <a:rPr lang="en-US" sz="1400" dirty="0">
                <a:solidFill>
                  <a:srgbClr val="5B6472"/>
                </a:solidFill>
                <a:latin typeface="Arial" pitchFamily="34" charset="0"/>
                <a:ea typeface="Arial" pitchFamily="34" charset="-122"/>
                <a:cs typeface="Arial" pitchFamily="34" charset="-120"/>
              </a:rPr>
              <a:t>1 198 von 2 691 Bewerbungen</a:t>
            </a:r>
            <a:endParaRPr lang="en-US" sz="1400" dirty="0"/>
          </a:p>
        </p:txBody>
      </p:sp>
      <p:sp>
        <p:nvSpPr>
          <p:cNvPr id="9" name="Text 7"/>
          <p:cNvSpPr txBox="1"/>
          <p:nvPr/>
        </p:nvSpPr>
        <p:spPr>
          <a:xfrm>
            <a:off x="6355080" y="1874520"/>
            <a:ext cx="5303520" cy="1554480"/>
          </a:xfrm>
          <a:prstGeom prst="rect">
            <a:avLst/>
          </a:prstGeom>
          <a:noFill/>
          <a:ln/>
        </p:spPr>
        <p:txBody>
          <a:bodyPr wrap="square" lIns="0" tIns="0" rIns="0" bIns="0" rtlCol="0" anchor="ctr"/>
          <a:lstStyle/>
          <a:p>
            <a:pPr indent="0" marL="0">
              <a:buNone/>
            </a:pPr>
            <a:r>
              <a:rPr lang="en-US" sz="11000" b="1" dirty="0">
                <a:solidFill>
                  <a:srgbClr val="E4572E"/>
                </a:solidFill>
                <a:latin typeface="Arial" pitchFamily="34" charset="0"/>
                <a:ea typeface="Arial" pitchFamily="34" charset="-122"/>
                <a:cs typeface="Arial" pitchFamily="34" charset="-120"/>
              </a:rPr>
              <a:t>30.4 %</a:t>
            </a:r>
            <a:endParaRPr lang="en-US" sz="11000" dirty="0"/>
          </a:p>
        </p:txBody>
      </p:sp>
      <p:sp>
        <p:nvSpPr>
          <p:cNvPr id="10" name="Text 8"/>
          <p:cNvSpPr txBox="1"/>
          <p:nvPr/>
        </p:nvSpPr>
        <p:spPr>
          <a:xfrm>
            <a:off x="6355080" y="3520440"/>
            <a:ext cx="5029200" cy="365760"/>
          </a:xfrm>
          <a:prstGeom prst="rect">
            <a:avLst/>
          </a:prstGeom>
          <a:noFill/>
          <a:ln/>
        </p:spPr>
        <p:txBody>
          <a:bodyPr wrap="square" lIns="0" tIns="0" rIns="0" bIns="0" rtlCol="0" anchor="t"/>
          <a:lstStyle/>
          <a:p>
            <a:pPr indent="0" marL="0">
              <a:buNone/>
            </a:pPr>
            <a:r>
              <a:rPr lang="en-US" sz="2200" b="1" dirty="0">
                <a:solidFill>
                  <a:srgbClr val="111827"/>
                </a:solidFill>
                <a:latin typeface="Arial" pitchFamily="34" charset="0"/>
                <a:ea typeface="Arial" pitchFamily="34" charset="-122"/>
                <a:cs typeface="Arial" pitchFamily="34" charset="-120"/>
              </a:rPr>
              <a:t>der Frauen</a:t>
            </a:r>
            <a:endParaRPr lang="en-US" sz="2200" dirty="0"/>
          </a:p>
        </p:txBody>
      </p:sp>
      <p:sp>
        <p:nvSpPr>
          <p:cNvPr id="11" name="Text 9"/>
          <p:cNvSpPr txBox="1"/>
          <p:nvPr/>
        </p:nvSpPr>
        <p:spPr>
          <a:xfrm>
            <a:off x="6355080" y="3931920"/>
            <a:ext cx="5029200" cy="274320"/>
          </a:xfrm>
          <a:prstGeom prst="rect">
            <a:avLst/>
          </a:prstGeom>
          <a:noFill/>
          <a:ln/>
        </p:spPr>
        <p:txBody>
          <a:bodyPr wrap="square" lIns="0" tIns="0" rIns="0" bIns="0" rtlCol="0" anchor="t"/>
          <a:lstStyle/>
          <a:p>
            <a:pPr indent="0" marL="0">
              <a:buNone/>
            </a:pPr>
            <a:r>
              <a:rPr lang="en-US" sz="1400" dirty="0">
                <a:solidFill>
                  <a:srgbClr val="5B6472"/>
                </a:solidFill>
                <a:latin typeface="Arial" pitchFamily="34" charset="0"/>
                <a:ea typeface="Arial" pitchFamily="34" charset="-122"/>
                <a:cs typeface="Arial" pitchFamily="34" charset="-120"/>
              </a:rPr>
              <a:t>557 von 1 835 Bewerbungen</a:t>
            </a:r>
            <a:endParaRPr lang="en-US" sz="1400" dirty="0"/>
          </a:p>
        </p:txBody>
      </p:sp>
      <p:sp>
        <p:nvSpPr>
          <p:cNvPr id="12" name="Shape 10"/>
          <p:cNvSpPr/>
          <p:nvPr/>
        </p:nvSpPr>
        <p:spPr>
          <a:xfrm>
            <a:off x="5989320" y="1965960"/>
            <a:ext cx="0" cy="2240280"/>
          </a:xfrm>
          <a:prstGeom prst="line">
            <a:avLst/>
          </a:prstGeom>
          <a:noFill/>
          <a:ln w="9525">
            <a:solidFill>
              <a:srgbClr val="D5DAE1"/>
            </a:solidFill>
            <a:prstDash val="solid"/>
          </a:ln>
        </p:spPr>
      </p:sp>
      <p:sp>
        <p:nvSpPr>
          <p:cNvPr id="13" name="Text 11"/>
          <p:cNvSpPr txBox="1"/>
          <p:nvPr/>
        </p:nvSpPr>
        <p:spPr>
          <a:xfrm>
            <a:off x="594360" y="4983480"/>
            <a:ext cx="11002975" cy="548640"/>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Werden Frauen im Zulassungsverfahren benachteiligt?</a:t>
            </a:r>
            <a:endParaRPr lang="en-US" sz="3000" dirty="0"/>
          </a:p>
        </p:txBody>
      </p:sp>
      <p:sp>
        <p:nvSpPr>
          <p:cNvPr id="14" name="Text 12"/>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Daten: Bickel et al. (1975); R Core Team (o. J.)</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03 — ABLAUF</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03 / 18</a:t>
            </a:r>
            <a:endParaRPr lang="en-US" sz="1050" dirty="0"/>
          </a:p>
        </p:txBody>
      </p:sp>
      <p:sp>
        <p:nvSpPr>
          <p:cNvPr id="4" name="Text 2"/>
          <p:cNvSpPr txBox="1"/>
          <p:nvPr/>
        </p:nvSpPr>
        <p:spPr>
          <a:xfrm>
            <a:off x="594360" y="868680"/>
            <a:ext cx="3291840" cy="1645920"/>
          </a:xfrm>
          <a:prstGeom prst="rect">
            <a:avLst/>
          </a:prstGeom>
          <a:noFill/>
          <a:ln/>
        </p:spPr>
        <p:txBody>
          <a:bodyPr wrap="square" lIns="0" tIns="0" rIns="0" bIns="0" rtlCol="0" anchor="t"/>
          <a:lstStyle/>
          <a:p>
            <a:pPr indent="0" marL="0">
              <a:lnSpc>
                <a:spcPct val="100000"/>
              </a:lnSpc>
              <a:buNone/>
            </a:pPr>
            <a:r>
              <a:rPr lang="en-US" sz="3400" b="1" dirty="0">
                <a:solidFill>
                  <a:srgbClr val="111827"/>
                </a:solidFill>
                <a:latin typeface="Arial" pitchFamily="34" charset="0"/>
                <a:ea typeface="Arial" pitchFamily="34" charset="-122"/>
                <a:cs typeface="Arial" pitchFamily="34" charset="-120"/>
              </a:rPr>
              <a:t>Drei Aufgaben, ein Datensatz</a:t>
            </a:r>
            <a:endParaRPr lang="en-US" sz="3400" dirty="0"/>
          </a:p>
        </p:txBody>
      </p:sp>
      <p:sp>
        <p:nvSpPr>
          <p:cNvPr id="5" name="Text 3"/>
          <p:cNvSpPr txBox="1"/>
          <p:nvPr/>
        </p:nvSpPr>
        <p:spPr>
          <a:xfrm>
            <a:off x="594360" y="2697480"/>
            <a:ext cx="3291840" cy="274320"/>
          </a:xfrm>
          <a:prstGeom prst="rect">
            <a:avLst/>
          </a:prstGeom>
          <a:noFill/>
          <a:ln/>
        </p:spPr>
        <p:txBody>
          <a:bodyPr wrap="square" lIns="0" tIns="0" rIns="0" bIns="0" rtlCol="0" anchor="t"/>
          <a:lstStyle/>
          <a:p>
            <a:pPr indent="0" marL="0">
              <a:buNone/>
            </a:pPr>
            <a:r>
              <a:rPr lang="en-US" sz="1400" dirty="0">
                <a:solidFill>
                  <a:srgbClr val="5B6472"/>
                </a:solidFill>
                <a:latin typeface="Arial" pitchFamily="34" charset="0"/>
                <a:ea typeface="Arial" pitchFamily="34" charset="-122"/>
                <a:cs typeface="Arial" pitchFamily="34" charset="-120"/>
              </a:rPr>
              <a:t>15 Minuten · drei Vortragende</a:t>
            </a:r>
            <a:endParaRPr lang="en-US" sz="1400" dirty="0"/>
          </a:p>
        </p:txBody>
      </p:sp>
      <p:sp>
        <p:nvSpPr>
          <p:cNvPr id="6" name="Shape 4"/>
          <p:cNvSpPr/>
          <p:nvPr/>
        </p:nvSpPr>
        <p:spPr>
          <a:xfrm>
            <a:off x="4389120" y="914400"/>
            <a:ext cx="7205472" cy="0"/>
          </a:xfrm>
          <a:prstGeom prst="line">
            <a:avLst/>
          </a:prstGeom>
          <a:noFill/>
          <a:ln w="15875">
            <a:solidFill>
              <a:srgbClr val="111827"/>
            </a:solidFill>
            <a:prstDash val="solid"/>
          </a:ln>
        </p:spPr>
      </p:sp>
      <p:sp>
        <p:nvSpPr>
          <p:cNvPr id="7" name="Text 5"/>
          <p:cNvSpPr txBox="1"/>
          <p:nvPr/>
        </p:nvSpPr>
        <p:spPr>
          <a:xfrm>
            <a:off x="4389120" y="1097280"/>
            <a:ext cx="822960" cy="914400"/>
          </a:xfrm>
          <a:prstGeom prst="rect">
            <a:avLst/>
          </a:prstGeom>
          <a:noFill/>
          <a:ln/>
        </p:spPr>
        <p:txBody>
          <a:bodyPr wrap="square" lIns="0" tIns="0" rIns="0" bIns="0" rtlCol="0" anchor="t"/>
          <a:lstStyle/>
          <a:p>
            <a:pPr indent="0" marL="0">
              <a:buNone/>
            </a:pPr>
            <a:r>
              <a:rPr lang="en-US" sz="5400" b="1" dirty="0">
                <a:solidFill>
                  <a:srgbClr val="E4572E"/>
                </a:solidFill>
                <a:latin typeface="Arial" pitchFamily="34" charset="0"/>
                <a:ea typeface="Arial" pitchFamily="34" charset="-122"/>
                <a:cs typeface="Arial" pitchFamily="34" charset="-120"/>
              </a:rPr>
              <a:t>a</a:t>
            </a:r>
            <a:endParaRPr lang="en-US" sz="5400" dirty="0"/>
          </a:p>
        </p:txBody>
      </p:sp>
      <p:sp>
        <p:nvSpPr>
          <p:cNvPr id="8" name="Text 6"/>
          <p:cNvSpPr txBox="1"/>
          <p:nvPr/>
        </p:nvSpPr>
        <p:spPr>
          <a:xfrm>
            <a:off x="5349240" y="1170432"/>
            <a:ext cx="4206240" cy="384048"/>
          </a:xfrm>
          <a:prstGeom prst="rect">
            <a:avLst/>
          </a:prstGeom>
          <a:noFill/>
          <a:ln/>
        </p:spPr>
        <p:txBody>
          <a:bodyPr wrap="square" lIns="0" tIns="0" rIns="0" bIns="0" rtlCol="0" anchor="t"/>
          <a:lstStyle/>
          <a:p>
            <a:pPr indent="0" marL="0">
              <a:buNone/>
            </a:pPr>
            <a:r>
              <a:rPr lang="en-US" sz="2200" b="1" dirty="0">
                <a:solidFill>
                  <a:srgbClr val="111827"/>
                </a:solidFill>
                <a:latin typeface="Arial" pitchFamily="34" charset="0"/>
                <a:ea typeface="Arial" pitchFamily="34" charset="-122"/>
                <a:cs typeface="Arial" pitchFamily="34" charset="-120"/>
              </a:rPr>
              <a:t>Funktionen in Python</a:t>
            </a:r>
            <a:endParaRPr lang="en-US" sz="2200" dirty="0"/>
          </a:p>
        </p:txBody>
      </p:sp>
      <p:sp>
        <p:nvSpPr>
          <p:cNvPr id="9" name="Text 7"/>
          <p:cNvSpPr txBox="1"/>
          <p:nvPr/>
        </p:nvSpPr>
        <p:spPr>
          <a:xfrm>
            <a:off x="5349240" y="1627632"/>
            <a:ext cx="4206240" cy="640080"/>
          </a:xfrm>
          <a:prstGeom prst="rect">
            <a:avLst/>
          </a:prstGeom>
          <a:noFill/>
          <a:ln/>
        </p:spPr>
        <p:txBody>
          <a:bodyPr wrap="square" lIns="0" tIns="0" rIns="0" bIns="0" rtlCol="0" anchor="t"/>
          <a:lstStyle/>
          <a:p>
            <a:pPr indent="0" marL="0">
              <a:lnSpc>
                <a:spcPct val="110000"/>
              </a:lnSpc>
              <a:buNone/>
            </a:pPr>
            <a:r>
              <a:rPr lang="en-US" sz="1500" dirty="0">
                <a:solidFill>
                  <a:srgbClr val="5B6472"/>
                </a:solidFill>
                <a:latin typeface="Arial" pitchFamily="34" charset="0"/>
                <a:ea typeface="Arial" pitchFamily="34" charset="-122"/>
                <a:cs typeface="Arial" pitchFamily="34" charset="-120"/>
              </a:rPr>
              <a:t>Theorie nach McKinney (2018), Abschnitt 3.2, und wie wir sie im Code anwenden</a:t>
            </a:r>
            <a:endParaRPr lang="en-US" sz="1500" dirty="0"/>
          </a:p>
        </p:txBody>
      </p:sp>
      <p:sp>
        <p:nvSpPr>
          <p:cNvPr id="10" name="Text 8"/>
          <p:cNvSpPr txBox="1"/>
          <p:nvPr/>
        </p:nvSpPr>
        <p:spPr>
          <a:xfrm>
            <a:off x="9646920" y="1225296"/>
            <a:ext cx="1947672" cy="548640"/>
          </a:xfrm>
          <a:prstGeom prst="rect">
            <a:avLst/>
          </a:prstGeom>
          <a:noFill/>
          <a:ln/>
        </p:spPr>
        <p:txBody>
          <a:bodyPr wrap="square" lIns="0" tIns="0" rIns="0" bIns="0" rtlCol="0" anchor="t"/>
          <a:lstStyle/>
          <a:p>
            <a:pPr algn="r" indent="0" marL="0">
              <a:buNone/>
            </a:pPr>
            <a:r>
              <a:rPr lang="en-US" sz="1200" dirty="0">
                <a:solidFill>
                  <a:srgbClr val="5B6472"/>
                </a:solidFill>
                <a:latin typeface="Arial" pitchFamily="34" charset="0"/>
                <a:ea typeface="Arial" pitchFamily="34" charset="-122"/>
                <a:cs typeface="Arial" pitchFamily="34" charset="-120"/>
              </a:rPr>
              <a:t>Leorat Krasniqi</a:t>
            </a:r>
            <a:endParaRPr lang="en-US" sz="1200" dirty="0"/>
          </a:p>
        </p:txBody>
      </p:sp>
      <p:sp>
        <p:nvSpPr>
          <p:cNvPr id="11" name="Shape 9"/>
          <p:cNvSpPr/>
          <p:nvPr/>
        </p:nvSpPr>
        <p:spPr>
          <a:xfrm>
            <a:off x="4389120" y="2606040"/>
            <a:ext cx="7205472" cy="0"/>
          </a:xfrm>
          <a:prstGeom prst="line">
            <a:avLst/>
          </a:prstGeom>
          <a:noFill/>
          <a:ln w="9525">
            <a:solidFill>
              <a:srgbClr val="D5DAE1"/>
            </a:solidFill>
            <a:prstDash val="solid"/>
          </a:ln>
        </p:spPr>
      </p:sp>
      <p:sp>
        <p:nvSpPr>
          <p:cNvPr id="12" name="Text 10"/>
          <p:cNvSpPr txBox="1"/>
          <p:nvPr/>
        </p:nvSpPr>
        <p:spPr>
          <a:xfrm>
            <a:off x="4389120" y="2788920"/>
            <a:ext cx="822960" cy="914400"/>
          </a:xfrm>
          <a:prstGeom prst="rect">
            <a:avLst/>
          </a:prstGeom>
          <a:noFill/>
          <a:ln/>
        </p:spPr>
        <p:txBody>
          <a:bodyPr wrap="square" lIns="0" tIns="0" rIns="0" bIns="0" rtlCol="0" anchor="t"/>
          <a:lstStyle/>
          <a:p>
            <a:pPr indent="0" marL="0">
              <a:buNone/>
            </a:pPr>
            <a:r>
              <a:rPr lang="en-US" sz="5400" b="1" dirty="0">
                <a:solidFill>
                  <a:srgbClr val="E4572E"/>
                </a:solidFill>
                <a:latin typeface="Arial" pitchFamily="34" charset="0"/>
                <a:ea typeface="Arial" pitchFamily="34" charset="-122"/>
                <a:cs typeface="Arial" pitchFamily="34" charset="-120"/>
              </a:rPr>
              <a:t>b</a:t>
            </a:r>
            <a:endParaRPr lang="en-US" sz="5400" dirty="0"/>
          </a:p>
        </p:txBody>
      </p:sp>
      <p:sp>
        <p:nvSpPr>
          <p:cNvPr id="13" name="Text 11"/>
          <p:cNvSpPr txBox="1"/>
          <p:nvPr/>
        </p:nvSpPr>
        <p:spPr>
          <a:xfrm>
            <a:off x="5349240" y="2862072"/>
            <a:ext cx="4206240" cy="384048"/>
          </a:xfrm>
          <a:prstGeom prst="rect">
            <a:avLst/>
          </a:prstGeom>
          <a:noFill/>
          <a:ln/>
        </p:spPr>
        <p:txBody>
          <a:bodyPr wrap="square" lIns="0" tIns="0" rIns="0" bIns="0" rtlCol="0" anchor="t"/>
          <a:lstStyle/>
          <a:p>
            <a:pPr indent="0" marL="0">
              <a:buNone/>
            </a:pPr>
            <a:r>
              <a:rPr lang="en-US" sz="2200" b="1" dirty="0">
                <a:solidFill>
                  <a:srgbClr val="111827"/>
                </a:solidFill>
                <a:latin typeface="Arial" pitchFamily="34" charset="0"/>
                <a:ea typeface="Arial" pitchFamily="34" charset="-122"/>
                <a:cs typeface="Arial" pitchFamily="34" charset="-120"/>
              </a:rPr>
              <a:t>Die Ungerechtigkeit zeigen</a:t>
            </a:r>
            <a:endParaRPr lang="en-US" sz="2200" dirty="0"/>
          </a:p>
        </p:txBody>
      </p:sp>
      <p:sp>
        <p:nvSpPr>
          <p:cNvPr id="14" name="Text 12"/>
          <p:cNvSpPr txBox="1"/>
          <p:nvPr/>
        </p:nvSpPr>
        <p:spPr>
          <a:xfrm>
            <a:off x="5349240" y="3319272"/>
            <a:ext cx="4206240" cy="640080"/>
          </a:xfrm>
          <a:prstGeom prst="rect">
            <a:avLst/>
          </a:prstGeom>
          <a:noFill/>
          <a:ln/>
        </p:spPr>
        <p:txBody>
          <a:bodyPr wrap="square" lIns="0" tIns="0" rIns="0" bIns="0" rtlCol="0" anchor="t"/>
          <a:lstStyle/>
          <a:p>
            <a:pPr indent="0" marL="0">
              <a:lnSpc>
                <a:spcPct val="110000"/>
              </a:lnSpc>
              <a:buNone/>
            </a:pPr>
            <a:r>
              <a:rPr lang="en-US" sz="1500" dirty="0">
                <a:solidFill>
                  <a:srgbClr val="5B6472"/>
                </a:solidFill>
                <a:latin typeface="Arial" pitchFamily="34" charset="0"/>
                <a:ea typeface="Arial" pitchFamily="34" charset="-122"/>
                <a:cs typeface="Arial" pitchFamily="34" charset="-120"/>
              </a:rPr>
              <a:t>Vorüberlegungen zur Umsetzung und ein Diagramm mit einer klaren Botschaft</a:t>
            </a:r>
            <a:endParaRPr lang="en-US" sz="1500" dirty="0"/>
          </a:p>
        </p:txBody>
      </p:sp>
      <p:sp>
        <p:nvSpPr>
          <p:cNvPr id="15" name="Text 13"/>
          <p:cNvSpPr txBox="1"/>
          <p:nvPr/>
        </p:nvSpPr>
        <p:spPr>
          <a:xfrm>
            <a:off x="9646920" y="2916936"/>
            <a:ext cx="1947672" cy="548640"/>
          </a:xfrm>
          <a:prstGeom prst="rect">
            <a:avLst/>
          </a:prstGeom>
          <a:noFill/>
          <a:ln/>
        </p:spPr>
        <p:txBody>
          <a:bodyPr wrap="square" lIns="0" tIns="0" rIns="0" bIns="0" rtlCol="0" anchor="t"/>
          <a:lstStyle/>
          <a:p>
            <a:pPr algn="r" indent="0" marL="0">
              <a:buNone/>
            </a:pPr>
            <a:r>
              <a:rPr lang="en-US" sz="1200" dirty="0">
                <a:solidFill>
                  <a:srgbClr val="5B6472"/>
                </a:solidFill>
                <a:latin typeface="Arial" pitchFamily="34" charset="0"/>
                <a:ea typeface="Arial" pitchFamily="34" charset="-122"/>
                <a:cs typeface="Arial" pitchFamily="34" charset="-120"/>
              </a:rPr>
              <a:t>Teoman-Doganay Lam</a:t>
            </a:r>
            <a:endParaRPr lang="en-US" sz="1200" dirty="0"/>
          </a:p>
        </p:txBody>
      </p:sp>
      <p:sp>
        <p:nvSpPr>
          <p:cNvPr id="16" name="Shape 14"/>
          <p:cNvSpPr/>
          <p:nvPr/>
        </p:nvSpPr>
        <p:spPr>
          <a:xfrm>
            <a:off x="4389120" y="4297680"/>
            <a:ext cx="7205472" cy="0"/>
          </a:xfrm>
          <a:prstGeom prst="line">
            <a:avLst/>
          </a:prstGeom>
          <a:noFill/>
          <a:ln w="9525">
            <a:solidFill>
              <a:srgbClr val="D5DAE1"/>
            </a:solidFill>
            <a:prstDash val="solid"/>
          </a:ln>
        </p:spPr>
      </p:sp>
      <p:sp>
        <p:nvSpPr>
          <p:cNvPr id="17" name="Text 15"/>
          <p:cNvSpPr txBox="1"/>
          <p:nvPr/>
        </p:nvSpPr>
        <p:spPr>
          <a:xfrm>
            <a:off x="4389120" y="4480560"/>
            <a:ext cx="822960" cy="914400"/>
          </a:xfrm>
          <a:prstGeom prst="rect">
            <a:avLst/>
          </a:prstGeom>
          <a:noFill/>
          <a:ln/>
        </p:spPr>
        <p:txBody>
          <a:bodyPr wrap="square" lIns="0" tIns="0" rIns="0" bIns="0" rtlCol="0" anchor="t"/>
          <a:lstStyle/>
          <a:p>
            <a:pPr indent="0" marL="0">
              <a:buNone/>
            </a:pPr>
            <a:r>
              <a:rPr lang="en-US" sz="5400" b="1" dirty="0">
                <a:solidFill>
                  <a:srgbClr val="E4572E"/>
                </a:solidFill>
                <a:latin typeface="Arial" pitchFamily="34" charset="0"/>
                <a:ea typeface="Arial" pitchFamily="34" charset="-122"/>
                <a:cs typeface="Arial" pitchFamily="34" charset="-120"/>
              </a:rPr>
              <a:t>c</a:t>
            </a:r>
            <a:endParaRPr lang="en-US" sz="5400" dirty="0"/>
          </a:p>
        </p:txBody>
      </p:sp>
      <p:sp>
        <p:nvSpPr>
          <p:cNvPr id="18" name="Text 16"/>
          <p:cNvSpPr txBox="1"/>
          <p:nvPr/>
        </p:nvSpPr>
        <p:spPr>
          <a:xfrm>
            <a:off x="5349240" y="4553712"/>
            <a:ext cx="4206240" cy="384048"/>
          </a:xfrm>
          <a:prstGeom prst="rect">
            <a:avLst/>
          </a:prstGeom>
          <a:noFill/>
          <a:ln/>
        </p:spPr>
        <p:txBody>
          <a:bodyPr wrap="square" lIns="0" tIns="0" rIns="0" bIns="0" rtlCol="0" anchor="t"/>
          <a:lstStyle/>
          <a:p>
            <a:pPr indent="0" marL="0">
              <a:buNone/>
            </a:pPr>
            <a:r>
              <a:rPr lang="en-US" sz="2200" b="1" dirty="0">
                <a:solidFill>
                  <a:srgbClr val="111827"/>
                </a:solidFill>
                <a:latin typeface="Arial" pitchFamily="34" charset="0"/>
                <a:ea typeface="Arial" pitchFamily="34" charset="-122"/>
                <a:cs typeface="Arial" pitchFamily="34" charset="-120"/>
              </a:rPr>
              <a:t>Genauer hinschauen</a:t>
            </a:r>
            <a:endParaRPr lang="en-US" sz="2200" dirty="0"/>
          </a:p>
        </p:txBody>
      </p:sp>
      <p:sp>
        <p:nvSpPr>
          <p:cNvPr id="19" name="Text 17"/>
          <p:cNvSpPr txBox="1"/>
          <p:nvPr/>
        </p:nvSpPr>
        <p:spPr>
          <a:xfrm>
            <a:off x="5349240" y="5010912"/>
            <a:ext cx="4206240" cy="640080"/>
          </a:xfrm>
          <a:prstGeom prst="rect">
            <a:avLst/>
          </a:prstGeom>
          <a:noFill/>
          <a:ln/>
        </p:spPr>
        <p:txBody>
          <a:bodyPr wrap="square" lIns="0" tIns="0" rIns="0" bIns="0" rtlCol="0" anchor="t"/>
          <a:lstStyle/>
          <a:p>
            <a:pPr indent="0" marL="0">
              <a:lnSpc>
                <a:spcPct val="110000"/>
              </a:lnSpc>
              <a:buNone/>
            </a:pPr>
            <a:r>
              <a:rPr lang="en-US" sz="1500" dirty="0">
                <a:solidFill>
                  <a:srgbClr val="5B6472"/>
                </a:solidFill>
                <a:latin typeface="Arial" pitchFamily="34" charset="0"/>
                <a:ea typeface="Arial" pitchFamily="34" charset="-122"/>
                <a:cs typeface="Arial" pitchFamily="34" charset="-120"/>
              </a:rPr>
              <a:t>Verteilungen vergleichen und die stochastische Unabhängigkeit prüfen</a:t>
            </a:r>
            <a:endParaRPr lang="en-US" sz="1500" dirty="0"/>
          </a:p>
        </p:txBody>
      </p:sp>
      <p:sp>
        <p:nvSpPr>
          <p:cNvPr id="20" name="Text 18"/>
          <p:cNvSpPr txBox="1"/>
          <p:nvPr/>
        </p:nvSpPr>
        <p:spPr>
          <a:xfrm>
            <a:off x="9646920" y="4608576"/>
            <a:ext cx="1947672" cy="548640"/>
          </a:xfrm>
          <a:prstGeom prst="rect">
            <a:avLst/>
          </a:prstGeom>
          <a:noFill/>
          <a:ln/>
        </p:spPr>
        <p:txBody>
          <a:bodyPr wrap="square" lIns="0" tIns="0" rIns="0" bIns="0" rtlCol="0" anchor="t"/>
          <a:lstStyle/>
          <a:p>
            <a:pPr algn="r" indent="0" marL="0">
              <a:buNone/>
            </a:pPr>
            <a:r>
              <a:rPr lang="en-US" sz="1200" dirty="0">
                <a:solidFill>
                  <a:srgbClr val="5B6472"/>
                </a:solidFill>
                <a:latin typeface="Arial" pitchFamily="34" charset="0"/>
                <a:ea typeface="Arial" pitchFamily="34" charset="-122"/>
                <a:cs typeface="Arial" pitchFamily="34" charset="-120"/>
              </a:rPr>
              <a:t>Teoman-Doganay Lam · Filip Lazic</a:t>
            </a:r>
            <a:endParaRPr lang="en-US" sz="1200" dirty="0"/>
          </a:p>
        </p:txBody>
      </p:sp>
      <p:sp>
        <p:nvSpPr>
          <p:cNvPr id="21" name="Text 19"/>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Aufgabenstellung: ZHAW SML (2026), Aufgabe 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04 / 18</a:t>
            </a:r>
            <a:endParaRPr lang="en-US" sz="1050" dirty="0"/>
          </a:p>
        </p:txBody>
      </p:sp>
      <p:sp>
        <p:nvSpPr>
          <p:cNvPr id="3" name="Text 1"/>
          <p:cNvSpPr txBox="1"/>
          <p:nvPr/>
        </p:nvSpPr>
        <p:spPr>
          <a:xfrm>
            <a:off x="320040" y="502920"/>
            <a:ext cx="4023360" cy="5120640"/>
          </a:xfrm>
          <a:prstGeom prst="rect">
            <a:avLst/>
          </a:prstGeom>
          <a:noFill/>
          <a:ln/>
        </p:spPr>
        <p:txBody>
          <a:bodyPr wrap="square" lIns="0" tIns="0" rIns="0" bIns="0" rtlCol="0" anchor="ctr"/>
          <a:lstStyle/>
          <a:p>
            <a:pPr indent="0" marL="0">
              <a:buNone/>
            </a:pPr>
            <a:r>
              <a:rPr lang="en-US" sz="30000" b="1" dirty="0">
                <a:solidFill>
                  <a:srgbClr val="E4572E"/>
                </a:solidFill>
                <a:latin typeface="Arial" pitchFamily="34" charset="0"/>
                <a:ea typeface="Arial" pitchFamily="34" charset="-122"/>
                <a:cs typeface="Arial" pitchFamily="34" charset="-120"/>
              </a:rPr>
              <a:t>a</a:t>
            </a:r>
            <a:endParaRPr lang="en-US" sz="30000" dirty="0"/>
          </a:p>
        </p:txBody>
      </p:sp>
      <p:sp>
        <p:nvSpPr>
          <p:cNvPr id="4" name="Text 2"/>
          <p:cNvSpPr txBox="1"/>
          <p:nvPr/>
        </p:nvSpPr>
        <p:spPr>
          <a:xfrm>
            <a:off x="4754880" y="2148840"/>
            <a:ext cx="5486400" cy="274320"/>
          </a:xfrm>
          <a:prstGeom prst="rect">
            <a:avLst/>
          </a:prstGeom>
          <a:noFill/>
          <a:ln/>
        </p:spPr>
        <p:txBody>
          <a:bodyPr wrap="square" lIns="0" tIns="0" rIns="0" bIns="0" rtlCol="0" anchor="t"/>
          <a:lstStyle/>
          <a:p>
            <a:pPr indent="0" marL="0">
              <a:buNone/>
            </a:pPr>
            <a:r>
              <a:rPr lang="en-US" sz="1100" b="1" spc="150" kern="0" dirty="0">
                <a:solidFill>
                  <a:srgbClr val="5B6472"/>
                </a:solidFill>
                <a:latin typeface="Arial" pitchFamily="34" charset="0"/>
                <a:ea typeface="Arial" pitchFamily="34" charset="-122"/>
                <a:cs typeface="Arial" pitchFamily="34" charset="-120"/>
              </a:rPr>
              <a:t>AUFGABE A</a:t>
            </a:r>
            <a:endParaRPr lang="en-US" sz="1100" dirty="0"/>
          </a:p>
        </p:txBody>
      </p:sp>
      <p:sp>
        <p:nvSpPr>
          <p:cNvPr id="5" name="Text 3"/>
          <p:cNvSpPr txBox="1"/>
          <p:nvPr/>
        </p:nvSpPr>
        <p:spPr>
          <a:xfrm>
            <a:off x="4754880" y="2514600"/>
            <a:ext cx="6766560" cy="731520"/>
          </a:xfrm>
          <a:prstGeom prst="rect">
            <a:avLst/>
          </a:prstGeom>
          <a:noFill/>
          <a:ln/>
        </p:spPr>
        <p:txBody>
          <a:bodyPr wrap="square" lIns="0" tIns="0" rIns="0" bIns="0" rtlCol="0" anchor="t"/>
          <a:lstStyle/>
          <a:p>
            <a:pPr indent="0" marL="0">
              <a:buNone/>
            </a:pPr>
            <a:r>
              <a:rPr lang="en-US" sz="4000" b="1" dirty="0">
                <a:solidFill>
                  <a:srgbClr val="111827"/>
                </a:solidFill>
                <a:latin typeface="Arial" pitchFamily="34" charset="0"/>
                <a:ea typeface="Arial" pitchFamily="34" charset="-122"/>
                <a:cs typeface="Arial" pitchFamily="34" charset="-120"/>
              </a:rPr>
              <a:t>Funktionen in Python</a:t>
            </a:r>
            <a:endParaRPr lang="en-US" sz="4000" dirty="0"/>
          </a:p>
        </p:txBody>
      </p:sp>
      <p:sp>
        <p:nvSpPr>
          <p:cNvPr id="6" name="Text 4"/>
          <p:cNvSpPr txBox="1"/>
          <p:nvPr/>
        </p:nvSpPr>
        <p:spPr>
          <a:xfrm>
            <a:off x="4754880" y="3337560"/>
            <a:ext cx="6035040" cy="914400"/>
          </a:xfrm>
          <a:prstGeom prst="rect">
            <a:avLst/>
          </a:prstGeom>
          <a:noFill/>
          <a:ln/>
        </p:spPr>
        <p:txBody>
          <a:bodyPr wrap="square" lIns="0" tIns="0" rIns="0" bIns="0" rtlCol="0" anchor="t"/>
          <a:lstStyle/>
          <a:p>
            <a:pPr indent="0" marL="0">
              <a:lnSpc>
                <a:spcPct val="115000"/>
              </a:lnSpc>
              <a:buNone/>
            </a:pPr>
            <a:r>
              <a:rPr lang="en-US" sz="1800" dirty="0">
                <a:solidFill>
                  <a:srgbClr val="5B6472"/>
                </a:solidFill>
                <a:latin typeface="Arial" pitchFamily="34" charset="0"/>
                <a:ea typeface="Arial" pitchFamily="34" charset="-122"/>
                <a:cs typeface="Arial" pitchFamily="34" charset="-120"/>
              </a:rPr>
              <a:t>Grundlagen und fünf weitere Konzepte nach McKinney (2018), Abschnitt 3.2 – angewendet in unserem Code</a:t>
            </a:r>
            <a:endParaRPr lang="en-US" sz="1800" dirty="0"/>
          </a:p>
        </p:txBody>
      </p:sp>
      <p:sp>
        <p:nvSpPr>
          <p:cNvPr id="7" name="Text 5"/>
          <p:cNvSpPr txBox="1"/>
          <p:nvPr/>
        </p:nvSpPr>
        <p:spPr>
          <a:xfrm>
            <a:off x="4754880" y="4480560"/>
            <a:ext cx="6035040" cy="320040"/>
          </a:xfrm>
          <a:prstGeom prst="rect">
            <a:avLst/>
          </a:prstGeom>
          <a:noFill/>
          <a:ln/>
        </p:spPr>
        <p:txBody>
          <a:bodyPr wrap="square" lIns="0" tIns="0" rIns="0" bIns="0" rtlCol="0" anchor="t"/>
          <a:lstStyle/>
          <a:p>
            <a:pPr indent="0" marL="0">
              <a:buNone/>
            </a:pPr>
            <a:r>
              <a:rPr lang="en-US" sz="1400" b="1" dirty="0">
                <a:solidFill>
                  <a:srgbClr val="111827"/>
                </a:solidFill>
                <a:latin typeface="Arial" pitchFamily="34" charset="0"/>
                <a:ea typeface="Arial" pitchFamily="34" charset="-122"/>
                <a:cs typeface="Arial" pitchFamily="34" charset="-120"/>
              </a:rPr>
              <a:t>Leorat Krasniqi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0" y="0"/>
            <a:ext cx="6156655" cy="6858000"/>
          </a:xfrm>
          <a:prstGeom prst="rect">
            <a:avLst/>
          </a:prstGeom>
          <a:solidFill>
            <a:srgbClr val="111827"/>
          </a:solidFill>
          <a:ln w="12700">
            <a:solidFill>
              <a:srgbClr val="111827"/>
            </a:solidFill>
            <a:prstDash val="solid"/>
          </a:ln>
        </p:spPr>
      </p:sp>
      <p:sp>
        <p:nvSpPr>
          <p:cNvPr id="3" name="Text 1"/>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05 — AUFGABE A · FUNKTIONEN</a:t>
            </a:r>
            <a:endParaRPr lang="en-US" sz="1050" dirty="0"/>
          </a:p>
        </p:txBody>
      </p:sp>
      <p:sp>
        <p:nvSpPr>
          <p:cNvPr id="4" name="Text 2"/>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8C97A8"/>
                </a:solidFill>
                <a:latin typeface="Arial" pitchFamily="34" charset="0"/>
                <a:ea typeface="Arial" pitchFamily="34" charset="-122"/>
                <a:cs typeface="Arial" pitchFamily="34" charset="-120"/>
              </a:rPr>
              <a:t>05 / 18</a:t>
            </a:r>
            <a:endParaRPr lang="en-US" sz="1050" dirty="0"/>
          </a:p>
        </p:txBody>
      </p:sp>
      <p:sp>
        <p:nvSpPr>
          <p:cNvPr id="5" name="Text 3"/>
          <p:cNvSpPr txBox="1"/>
          <p:nvPr/>
        </p:nvSpPr>
        <p:spPr>
          <a:xfrm>
            <a:off x="594360" y="749808"/>
            <a:ext cx="5120640" cy="566928"/>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Funktionen: die Grundlagen</a:t>
            </a:r>
            <a:endParaRPr lang="en-US" sz="3000" dirty="0"/>
          </a:p>
        </p:txBody>
      </p:sp>
      <p:sp>
        <p:nvSpPr>
          <p:cNvPr id="6" name="Text 4"/>
          <p:cNvSpPr txBox="1"/>
          <p:nvPr/>
        </p:nvSpPr>
        <p:spPr>
          <a:xfrm>
            <a:off x="594360" y="1709928"/>
            <a:ext cx="457200" cy="274320"/>
          </a:xfrm>
          <a:prstGeom prst="rect">
            <a:avLst/>
          </a:prstGeom>
          <a:noFill/>
          <a:ln/>
        </p:spPr>
        <p:txBody>
          <a:bodyPr wrap="square" lIns="0" tIns="0" rIns="0" bIns="0" rtlCol="0" anchor="t"/>
          <a:lstStyle/>
          <a:p>
            <a:pPr indent="0" marL="0">
              <a:buNone/>
            </a:pPr>
            <a:r>
              <a:rPr lang="en-US" sz="1200" b="1" dirty="0">
                <a:solidFill>
                  <a:srgbClr val="B93C17"/>
                </a:solidFill>
                <a:latin typeface="Arial" pitchFamily="34" charset="0"/>
                <a:ea typeface="Arial" pitchFamily="34" charset="-122"/>
                <a:cs typeface="Arial" pitchFamily="34" charset="-120"/>
              </a:rPr>
              <a:t>01</a:t>
            </a:r>
            <a:endParaRPr lang="en-US" sz="1200" dirty="0"/>
          </a:p>
        </p:txBody>
      </p:sp>
      <p:sp>
        <p:nvSpPr>
          <p:cNvPr id="7" name="Text 5"/>
          <p:cNvSpPr txBox="1"/>
          <p:nvPr/>
        </p:nvSpPr>
        <p:spPr>
          <a:xfrm>
            <a:off x="1097280" y="1691640"/>
            <a:ext cx="4572000" cy="320040"/>
          </a:xfrm>
          <a:prstGeom prst="rect">
            <a:avLst/>
          </a:prstGeom>
          <a:noFill/>
          <a:ln/>
        </p:spPr>
        <p:txBody>
          <a:bodyPr wrap="square" lIns="0" tIns="0" rIns="0" bIns="0" rtlCol="0" anchor="t"/>
          <a:lstStyle/>
          <a:p>
            <a:pPr indent="0" marL="0">
              <a:buNone/>
            </a:pPr>
            <a:r>
              <a:rPr lang="en-US" sz="1800" b="1" dirty="0">
                <a:solidFill>
                  <a:srgbClr val="111827"/>
                </a:solidFill>
                <a:latin typeface="Arial" pitchFamily="34" charset="0"/>
                <a:ea typeface="Arial" pitchFamily="34" charset="-122"/>
                <a:cs typeface="Arial" pitchFamily="34" charset="-120"/>
              </a:rPr>
              <a:t>def und return</a:t>
            </a:r>
            <a:endParaRPr lang="en-US" sz="1800" dirty="0"/>
          </a:p>
        </p:txBody>
      </p:sp>
      <p:sp>
        <p:nvSpPr>
          <p:cNvPr id="8" name="Text 6"/>
          <p:cNvSpPr txBox="1"/>
          <p:nvPr/>
        </p:nvSpPr>
        <p:spPr>
          <a:xfrm>
            <a:off x="1097280" y="2057400"/>
            <a:ext cx="4572000" cy="54864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Deklarieren und verlassen; ohne return liefert Python None  </a:t>
            </a:r>
            <a:pPr indent="0" marL="0">
              <a:lnSpc>
                <a:spcPct val="110000"/>
              </a:lnSpc>
              <a:buNone/>
            </a:pPr>
            <a:r>
              <a:rPr lang="en-US" sz="1400" b="1" dirty="0">
                <a:solidFill>
                  <a:srgbClr val="5B6472"/>
                </a:solidFill>
                <a:latin typeface="Arial" pitchFamily="34" charset="0"/>
                <a:ea typeface="Arial" pitchFamily="34" charset="-122"/>
                <a:cs typeface="Arial" pitchFamily="34" charset="-120"/>
              </a:rPr>
              <a:t>S. 71–72</a:t>
            </a:r>
            <a:endParaRPr lang="en-US" sz="1400" dirty="0"/>
          </a:p>
        </p:txBody>
      </p:sp>
      <p:sp>
        <p:nvSpPr>
          <p:cNvPr id="9" name="Text 7"/>
          <p:cNvSpPr txBox="1"/>
          <p:nvPr/>
        </p:nvSpPr>
        <p:spPr>
          <a:xfrm>
            <a:off x="594360" y="2788920"/>
            <a:ext cx="457200" cy="274320"/>
          </a:xfrm>
          <a:prstGeom prst="rect">
            <a:avLst/>
          </a:prstGeom>
          <a:noFill/>
          <a:ln/>
        </p:spPr>
        <p:txBody>
          <a:bodyPr wrap="square" lIns="0" tIns="0" rIns="0" bIns="0" rtlCol="0" anchor="t"/>
          <a:lstStyle/>
          <a:p>
            <a:pPr indent="0" marL="0">
              <a:buNone/>
            </a:pPr>
            <a:r>
              <a:rPr lang="en-US" sz="1200" b="1" dirty="0">
                <a:solidFill>
                  <a:srgbClr val="B93C17"/>
                </a:solidFill>
                <a:latin typeface="Arial" pitchFamily="34" charset="0"/>
                <a:ea typeface="Arial" pitchFamily="34" charset="-122"/>
                <a:cs typeface="Arial" pitchFamily="34" charset="-120"/>
              </a:rPr>
              <a:t>02</a:t>
            </a:r>
            <a:endParaRPr lang="en-US" sz="1200" dirty="0"/>
          </a:p>
        </p:txBody>
      </p:sp>
      <p:sp>
        <p:nvSpPr>
          <p:cNvPr id="10" name="Text 8"/>
          <p:cNvSpPr txBox="1"/>
          <p:nvPr/>
        </p:nvSpPr>
        <p:spPr>
          <a:xfrm>
            <a:off x="1097280" y="2770632"/>
            <a:ext cx="4572000" cy="320040"/>
          </a:xfrm>
          <a:prstGeom prst="rect">
            <a:avLst/>
          </a:prstGeom>
          <a:noFill/>
          <a:ln/>
        </p:spPr>
        <p:txBody>
          <a:bodyPr wrap="square" lIns="0" tIns="0" rIns="0" bIns="0" rtlCol="0" anchor="t"/>
          <a:lstStyle/>
          <a:p>
            <a:pPr indent="0" marL="0">
              <a:buNone/>
            </a:pPr>
            <a:r>
              <a:rPr lang="en-US" sz="1800" b="1" dirty="0">
                <a:solidFill>
                  <a:srgbClr val="111827"/>
                </a:solidFill>
                <a:latin typeface="Arial" pitchFamily="34" charset="0"/>
                <a:ea typeface="Arial" pitchFamily="34" charset="-122"/>
                <a:cs typeface="Arial" pitchFamily="34" charset="-120"/>
              </a:rPr>
              <a:t>Positions- und Keyword-Argumente</a:t>
            </a:r>
            <a:endParaRPr lang="en-US" sz="1800" dirty="0"/>
          </a:p>
        </p:txBody>
      </p:sp>
      <p:sp>
        <p:nvSpPr>
          <p:cNvPr id="11" name="Text 9"/>
          <p:cNvSpPr txBox="1"/>
          <p:nvPr/>
        </p:nvSpPr>
        <p:spPr>
          <a:xfrm>
            <a:off x="1097280" y="3136392"/>
            <a:ext cx="4572000" cy="54864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Keyword-Argumente tragen Standardwerte und stehen hinten  </a:t>
            </a:r>
            <a:pPr indent="0" marL="0">
              <a:lnSpc>
                <a:spcPct val="110000"/>
              </a:lnSpc>
              <a:buNone/>
            </a:pPr>
            <a:r>
              <a:rPr lang="en-US" sz="1400" b="1" dirty="0">
                <a:solidFill>
                  <a:srgbClr val="5B6472"/>
                </a:solidFill>
                <a:latin typeface="Arial" pitchFamily="34" charset="0"/>
                <a:ea typeface="Arial" pitchFamily="34" charset="-122"/>
                <a:cs typeface="Arial" pitchFamily="34" charset="-120"/>
              </a:rPr>
              <a:t>S. 72</a:t>
            </a:r>
            <a:endParaRPr lang="en-US" sz="1400" dirty="0"/>
          </a:p>
        </p:txBody>
      </p:sp>
      <p:sp>
        <p:nvSpPr>
          <p:cNvPr id="12" name="Text 10"/>
          <p:cNvSpPr txBox="1"/>
          <p:nvPr/>
        </p:nvSpPr>
        <p:spPr>
          <a:xfrm>
            <a:off x="594360" y="3867912"/>
            <a:ext cx="457200" cy="274320"/>
          </a:xfrm>
          <a:prstGeom prst="rect">
            <a:avLst/>
          </a:prstGeom>
          <a:noFill/>
          <a:ln/>
        </p:spPr>
        <p:txBody>
          <a:bodyPr wrap="square" lIns="0" tIns="0" rIns="0" bIns="0" rtlCol="0" anchor="t"/>
          <a:lstStyle/>
          <a:p>
            <a:pPr indent="0" marL="0">
              <a:buNone/>
            </a:pPr>
            <a:r>
              <a:rPr lang="en-US" sz="1200" b="1" dirty="0">
                <a:solidFill>
                  <a:srgbClr val="B93C17"/>
                </a:solidFill>
                <a:latin typeface="Arial" pitchFamily="34" charset="0"/>
                <a:ea typeface="Arial" pitchFamily="34" charset="-122"/>
                <a:cs typeface="Arial" pitchFamily="34" charset="-120"/>
              </a:rPr>
              <a:t>03</a:t>
            </a:r>
            <a:endParaRPr lang="en-US" sz="1200" dirty="0"/>
          </a:p>
        </p:txBody>
      </p:sp>
      <p:sp>
        <p:nvSpPr>
          <p:cNvPr id="13" name="Text 11"/>
          <p:cNvSpPr txBox="1"/>
          <p:nvPr/>
        </p:nvSpPr>
        <p:spPr>
          <a:xfrm>
            <a:off x="1097280" y="3849624"/>
            <a:ext cx="4572000" cy="320040"/>
          </a:xfrm>
          <a:prstGeom prst="rect">
            <a:avLst/>
          </a:prstGeom>
          <a:noFill/>
          <a:ln/>
        </p:spPr>
        <p:txBody>
          <a:bodyPr wrap="square" lIns="0" tIns="0" rIns="0" bIns="0" rtlCol="0" anchor="t"/>
          <a:lstStyle/>
          <a:p>
            <a:pPr indent="0" marL="0">
              <a:buNone/>
            </a:pPr>
            <a:r>
              <a:rPr lang="en-US" sz="1800" b="1" dirty="0">
                <a:solidFill>
                  <a:srgbClr val="111827"/>
                </a:solidFill>
                <a:latin typeface="Arial" pitchFamily="34" charset="0"/>
                <a:ea typeface="Arial" pitchFamily="34" charset="-122"/>
                <a:cs typeface="Arial" pitchFamily="34" charset="-120"/>
              </a:rPr>
              <a:t>Lokaler Namensraum</a:t>
            </a:r>
            <a:endParaRPr lang="en-US" sz="1800" dirty="0"/>
          </a:p>
        </p:txBody>
      </p:sp>
      <p:sp>
        <p:nvSpPr>
          <p:cNvPr id="14" name="Text 12"/>
          <p:cNvSpPr txBox="1"/>
          <p:nvPr/>
        </p:nvSpPr>
        <p:spPr>
          <a:xfrm>
            <a:off x="1097280" y="4215384"/>
            <a:ext cx="4572000" cy="54864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Variablen leben nur während des Aufrufs; global vermeiden  </a:t>
            </a:r>
            <a:pPr indent="0" marL="0">
              <a:lnSpc>
                <a:spcPct val="110000"/>
              </a:lnSpc>
              <a:buNone/>
            </a:pPr>
            <a:r>
              <a:rPr lang="en-US" sz="1400" b="1" dirty="0">
                <a:solidFill>
                  <a:srgbClr val="5B6472"/>
                </a:solidFill>
                <a:latin typeface="Arial" pitchFamily="34" charset="0"/>
                <a:ea typeface="Arial" pitchFamily="34" charset="-122"/>
                <a:cs typeface="Arial" pitchFamily="34" charset="-120"/>
              </a:rPr>
              <a:t>S. 72–73</a:t>
            </a:r>
            <a:endParaRPr lang="en-US" sz="1400" dirty="0"/>
          </a:p>
        </p:txBody>
      </p:sp>
      <p:sp>
        <p:nvSpPr>
          <p:cNvPr id="15" name="Text 13"/>
          <p:cNvSpPr txBox="1"/>
          <p:nvPr/>
        </p:nvSpPr>
        <p:spPr>
          <a:xfrm>
            <a:off x="594360" y="4946904"/>
            <a:ext cx="457200" cy="274320"/>
          </a:xfrm>
          <a:prstGeom prst="rect">
            <a:avLst/>
          </a:prstGeom>
          <a:noFill/>
          <a:ln/>
        </p:spPr>
        <p:txBody>
          <a:bodyPr wrap="square" lIns="0" tIns="0" rIns="0" bIns="0" rtlCol="0" anchor="t"/>
          <a:lstStyle/>
          <a:p>
            <a:pPr indent="0" marL="0">
              <a:buNone/>
            </a:pPr>
            <a:r>
              <a:rPr lang="en-US" sz="1200" b="1" dirty="0">
                <a:solidFill>
                  <a:srgbClr val="B93C17"/>
                </a:solidFill>
                <a:latin typeface="Arial" pitchFamily="34" charset="0"/>
                <a:ea typeface="Arial" pitchFamily="34" charset="-122"/>
                <a:cs typeface="Arial" pitchFamily="34" charset="-120"/>
              </a:rPr>
              <a:t>04</a:t>
            </a:r>
            <a:endParaRPr lang="en-US" sz="1200" dirty="0"/>
          </a:p>
        </p:txBody>
      </p:sp>
      <p:sp>
        <p:nvSpPr>
          <p:cNvPr id="16" name="Text 14"/>
          <p:cNvSpPr txBox="1"/>
          <p:nvPr/>
        </p:nvSpPr>
        <p:spPr>
          <a:xfrm>
            <a:off x="1097280" y="4928616"/>
            <a:ext cx="4572000" cy="320040"/>
          </a:xfrm>
          <a:prstGeom prst="rect">
            <a:avLst/>
          </a:prstGeom>
          <a:noFill/>
          <a:ln/>
        </p:spPr>
        <p:txBody>
          <a:bodyPr wrap="square" lIns="0" tIns="0" rIns="0" bIns="0" rtlCol="0" anchor="t"/>
          <a:lstStyle/>
          <a:p>
            <a:pPr indent="0" marL="0">
              <a:buNone/>
            </a:pPr>
            <a:r>
              <a:rPr lang="en-US" sz="1800" b="1" dirty="0">
                <a:solidFill>
                  <a:srgbClr val="111827"/>
                </a:solidFill>
                <a:latin typeface="Arial" pitchFamily="34" charset="0"/>
                <a:ea typeface="Arial" pitchFamily="34" charset="-122"/>
                <a:cs typeface="Arial" pitchFamily="34" charset="-120"/>
              </a:rPr>
              <a:t>Mehrere Rückgabewerte</a:t>
            </a:r>
            <a:endParaRPr lang="en-US" sz="1800" dirty="0"/>
          </a:p>
        </p:txBody>
      </p:sp>
      <p:sp>
        <p:nvSpPr>
          <p:cNvPr id="17" name="Text 15"/>
          <p:cNvSpPr txBox="1"/>
          <p:nvPr/>
        </p:nvSpPr>
        <p:spPr>
          <a:xfrm>
            <a:off x="1097280" y="5294376"/>
            <a:ext cx="4572000" cy="54864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Eigentlich ein Tupel, alternativ ein Dictionary  </a:t>
            </a:r>
            <a:pPr indent="0" marL="0">
              <a:lnSpc>
                <a:spcPct val="110000"/>
              </a:lnSpc>
              <a:buNone/>
            </a:pPr>
            <a:r>
              <a:rPr lang="en-US" sz="1400" b="1" dirty="0">
                <a:solidFill>
                  <a:srgbClr val="5B6472"/>
                </a:solidFill>
                <a:latin typeface="Arial" pitchFamily="34" charset="0"/>
                <a:ea typeface="Arial" pitchFamily="34" charset="-122"/>
                <a:cs typeface="Arial" pitchFamily="34" charset="-120"/>
              </a:rPr>
              <a:t>S. 73–74</a:t>
            </a:r>
            <a:endParaRPr lang="en-US" sz="1400" dirty="0"/>
          </a:p>
        </p:txBody>
      </p:sp>
      <p:sp>
        <p:nvSpPr>
          <p:cNvPr id="18" name="Text 16"/>
          <p:cNvSpPr txBox="1"/>
          <p:nvPr/>
        </p:nvSpPr>
        <p:spPr>
          <a:xfrm>
            <a:off x="6446520" y="914400"/>
            <a:ext cx="5120640" cy="256032"/>
          </a:xfrm>
          <a:prstGeom prst="rect">
            <a:avLst/>
          </a:prstGeom>
          <a:noFill/>
          <a:ln/>
        </p:spPr>
        <p:txBody>
          <a:bodyPr wrap="square" lIns="0" tIns="0" rIns="0" bIns="0" rtlCol="0" anchor="t"/>
          <a:lstStyle/>
          <a:p>
            <a:pPr indent="0" marL="0">
              <a:buNone/>
            </a:pPr>
            <a:r>
              <a:rPr lang="en-US" sz="1050" b="1" spc="150" kern="0" dirty="0">
                <a:solidFill>
                  <a:srgbClr val="8C97A8"/>
                </a:solidFill>
                <a:latin typeface="Arial" pitchFamily="34" charset="0"/>
                <a:ea typeface="Arial" pitchFamily="34" charset="-122"/>
                <a:cs typeface="Arial" pitchFamily="34" charset="-120"/>
              </a:rPr>
              <a:t>BEISPIEL AUS UNSEREM NOTEBOOK</a:t>
            </a:r>
            <a:endParaRPr lang="en-US" sz="1050" dirty="0"/>
          </a:p>
        </p:txBody>
      </p:sp>
      <p:sp>
        <p:nvSpPr>
          <p:cNvPr id="19" name="Text 17"/>
          <p:cNvSpPr txBox="1"/>
          <p:nvPr/>
        </p:nvSpPr>
        <p:spPr>
          <a:xfrm>
            <a:off x="6446520" y="1371600"/>
            <a:ext cx="5394960" cy="3566160"/>
          </a:xfrm>
          <a:prstGeom prst="rect">
            <a:avLst/>
          </a:prstGeom>
          <a:noFill/>
          <a:ln/>
        </p:spPr>
        <p:txBody>
          <a:bodyPr wrap="square" lIns="0" tIns="0" rIns="0" bIns="0" rtlCol="0" anchor="t"/>
          <a:lstStyle/>
          <a:p>
            <a:pPr indent="0" marL="0">
              <a:lnSpc>
                <a:spcPct val="115000"/>
              </a:lnSpc>
              <a:buNone/>
            </a:pPr>
            <a:r>
              <a:rPr lang="en-US" sz="1200" b="1" dirty="0">
                <a:solidFill>
                  <a:srgbClr val="F4A285"/>
                </a:solidFill>
                <a:latin typeface="Courier New" pitchFamily="34" charset="0"/>
                <a:ea typeface="Courier New" pitchFamily="34" charset="-122"/>
                <a:cs typeface="Courier New" pitchFamily="34" charset="-120"/>
              </a:rPr>
              <a:t>def </a:t>
            </a:r>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kreuztabelle(daten, fachbereich=None):</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    </a:t>
            </a:r>
            <a:pPr indent="0" marL="0">
              <a:lnSpc>
                <a:spcPct val="115000"/>
              </a:lnSpc>
              <a:buNone/>
            </a:pPr>
            <a:r>
              <a:rPr lang="en-US" sz="1200" b="1" dirty="0">
                <a:solidFill>
                  <a:srgbClr val="F4A285"/>
                </a:solidFill>
                <a:latin typeface="Courier New" pitchFamily="34" charset="0"/>
                <a:ea typeface="Courier New" pitchFamily="34" charset="-122"/>
                <a:cs typeface="Courier New" pitchFamily="34" charset="-120"/>
              </a:rPr>
              <a:t>if </a:t>
            </a:r>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fachbereich </a:t>
            </a:r>
            <a:pPr indent="0" marL="0">
              <a:lnSpc>
                <a:spcPct val="115000"/>
              </a:lnSpc>
              <a:buNone/>
            </a:pPr>
            <a:r>
              <a:rPr lang="en-US" sz="1200" b="1" dirty="0">
                <a:solidFill>
                  <a:srgbClr val="F4A285"/>
                </a:solidFill>
                <a:latin typeface="Courier New" pitchFamily="34" charset="0"/>
                <a:ea typeface="Courier New" pitchFamily="34" charset="-122"/>
                <a:cs typeface="Courier New" pitchFamily="34" charset="-120"/>
              </a:rPr>
              <a:t>is not </a:t>
            </a:r>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None:</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        daten = daten[daten.Fachbereich == fachbereich]</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    </a:t>
            </a:r>
            <a:pPr indent="0" marL="0">
              <a:lnSpc>
                <a:spcPct val="115000"/>
              </a:lnSpc>
              <a:buNone/>
            </a:pPr>
            <a:r>
              <a:rPr lang="en-US" sz="1200" b="1" dirty="0">
                <a:solidFill>
                  <a:srgbClr val="F4A285"/>
                </a:solidFill>
                <a:latin typeface="Courier New" pitchFamily="34" charset="0"/>
                <a:ea typeface="Courier New" pitchFamily="34" charset="-122"/>
                <a:cs typeface="Courier New" pitchFamily="34" charset="-120"/>
              </a:rPr>
              <a:t>return </a:t>
            </a:r>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daten.pivot_table(...)</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kreuztabelle(daten)                    </a:t>
            </a:r>
            <a:pPr indent="0" marL="0">
              <a:lnSpc>
                <a:spcPct val="115000"/>
              </a:lnSpc>
              <a:buNone/>
            </a:pPr>
            <a:r>
              <a:rPr lang="en-US" sz="1200" dirty="0">
                <a:solidFill>
                  <a:srgbClr val="8C97A8"/>
                </a:solidFill>
                <a:latin typeface="Courier New" pitchFamily="34" charset="0"/>
                <a:ea typeface="Courier New" pitchFamily="34" charset="-122"/>
                <a:cs typeface="Courier New" pitchFamily="34" charset="-120"/>
              </a:rPr>
              <a:t># alle</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kreuztabelle(daten, fachbereich="A")   </a:t>
            </a:r>
            <a:pPr indent="0" marL="0">
              <a:lnSpc>
                <a:spcPct val="115000"/>
              </a:lnSpc>
              <a:buNone/>
            </a:pPr>
            <a:r>
              <a:rPr lang="en-US" sz="1200" dirty="0">
                <a:solidFill>
                  <a:srgbClr val="8C97A8"/>
                </a:solidFill>
                <a:latin typeface="Courier New" pitchFamily="34" charset="0"/>
                <a:ea typeface="Courier New" pitchFamily="34" charset="-122"/>
                <a:cs typeface="Courier New" pitchFamily="34" charset="-120"/>
              </a:rPr>
              <a:t># nur A</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b="1" dirty="0">
                <a:solidFill>
                  <a:srgbClr val="F4A285"/>
                </a:solidFill>
                <a:latin typeface="Courier New" pitchFamily="34" charset="0"/>
                <a:ea typeface="Courier New" pitchFamily="34" charset="-122"/>
                <a:cs typeface="Courier New" pitchFamily="34" charset="-120"/>
              </a:rPr>
              <a:t>def </a:t>
            </a:r>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kennzahlen(zugelassen, abgelehnt, total):</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    bewerbungen = zugelassen + abgelehnt</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    </a:t>
            </a:r>
            <a:pPr indent="0" marL="0">
              <a:lnSpc>
                <a:spcPct val="115000"/>
              </a:lnSpc>
              <a:buNone/>
            </a:pPr>
            <a:r>
              <a:rPr lang="en-US" sz="1200" b="1" dirty="0">
                <a:solidFill>
                  <a:srgbClr val="F4A285"/>
                </a:solidFill>
                <a:latin typeface="Courier New" pitchFamily="34" charset="0"/>
                <a:ea typeface="Courier New" pitchFamily="34" charset="-122"/>
                <a:cs typeface="Courier New" pitchFamily="34" charset="-120"/>
              </a:rPr>
              <a:t>return </a:t>
            </a:r>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zugelassen / bewerbungen, bewerbungen / total</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5E7EB"/>
                </a:solidFill>
                <a:latin typeface="Courier New" pitchFamily="34" charset="0"/>
                <a:ea typeface="Courier New" pitchFamily="34" charset="-122"/>
                <a:cs typeface="Courier New" pitchFamily="34" charset="-120"/>
              </a:rPr>
              <a:t>quote, anteil = kennzahlen(89, 19, 1835)   </a:t>
            </a:r>
            <a:pPr indent="0" marL="0">
              <a:lnSpc>
                <a:spcPct val="115000"/>
              </a:lnSpc>
              <a:buNone/>
            </a:pPr>
            <a:r>
              <a:rPr lang="en-US" sz="1200" dirty="0">
                <a:solidFill>
                  <a:srgbClr val="8C97A8"/>
                </a:solidFill>
                <a:latin typeface="Courier New" pitchFamily="34" charset="0"/>
                <a:ea typeface="Courier New" pitchFamily="34" charset="-122"/>
                <a:cs typeface="Courier New" pitchFamily="34" charset="-120"/>
              </a:rPr>
              <a:t># Tupel</a:t>
            </a:r>
            <a:endParaRPr lang="en-US" sz="1200" dirty="0"/>
          </a:p>
        </p:txBody>
      </p:sp>
      <p:sp>
        <p:nvSpPr>
          <p:cNvPr id="20" name="Text 18"/>
          <p:cNvSpPr txBox="1"/>
          <p:nvPr/>
        </p:nvSpPr>
        <p:spPr>
          <a:xfrm>
            <a:off x="6446520" y="5212080"/>
            <a:ext cx="5120640" cy="640080"/>
          </a:xfrm>
          <a:prstGeom prst="rect">
            <a:avLst/>
          </a:prstGeom>
          <a:noFill/>
          <a:ln/>
        </p:spPr>
        <p:txBody>
          <a:bodyPr wrap="square" lIns="0" tIns="0" rIns="0" bIns="0" rtlCol="0" anchor="t"/>
          <a:lstStyle/>
          <a:p>
            <a:pPr indent="0" marL="0">
              <a:lnSpc>
                <a:spcPct val="130000"/>
              </a:lnSpc>
              <a:buNone/>
            </a:pPr>
            <a:r>
              <a:rPr lang="en-US" sz="1300" b="1" dirty="0">
                <a:solidFill>
                  <a:srgbClr val="FFFFFF"/>
                </a:solidFill>
                <a:latin typeface="Arial" pitchFamily="34" charset="0"/>
                <a:ea typeface="Arial" pitchFamily="34" charset="-122"/>
                <a:cs typeface="Arial" pitchFamily="34" charset="-120"/>
              </a:rPr>
              <a:t>fachbereich=None</a:t>
            </a:r>
            <a:pPr indent="0" marL="0">
              <a:lnSpc>
                <a:spcPct val="130000"/>
              </a:lnSpc>
              <a:buNone/>
            </a:pPr>
            <a:r>
              <a:rPr lang="en-US" sz="1300" dirty="0">
                <a:solidFill>
                  <a:srgbClr val="C9D1DC"/>
                </a:solidFill>
                <a:latin typeface="Arial" pitchFamily="34" charset="0"/>
                <a:ea typeface="Arial" pitchFamily="34" charset="-122"/>
                <a:cs typeface="Arial" pitchFamily="34" charset="-120"/>
              </a:rPr>
              <a:t>  Keyword-Argument mit Standardwert</a:t>
            </a:r>
            <a:endParaRPr lang="en-US" sz="1300" dirty="0"/>
          </a:p>
          <a:p>
            <a:pPr indent="0" marL="0">
              <a:lnSpc>
                <a:spcPct val="130000"/>
              </a:lnSpc>
              <a:buNone/>
            </a:pPr>
            <a:r>
              <a:rPr lang="en-US" sz="1300" b="1" dirty="0">
                <a:solidFill>
                  <a:srgbClr val="FFFFFF"/>
                </a:solidFill>
                <a:latin typeface="Arial" pitchFamily="34" charset="0"/>
                <a:ea typeface="Arial" pitchFamily="34" charset="-122"/>
                <a:cs typeface="Arial" pitchFamily="34" charset="-120"/>
              </a:rPr>
              <a:t>return a, b</a:t>
            </a:r>
            <a:pPr indent="0" marL="0">
              <a:lnSpc>
                <a:spcPct val="130000"/>
              </a:lnSpc>
              <a:buNone/>
            </a:pPr>
            <a:r>
              <a:rPr lang="en-US" sz="1300" dirty="0">
                <a:solidFill>
                  <a:srgbClr val="C9D1DC"/>
                </a:solidFill>
                <a:latin typeface="Arial" pitchFamily="34" charset="0"/>
                <a:ea typeface="Arial" pitchFamily="34" charset="-122"/>
                <a:cs typeface="Arial" pitchFamily="34" charset="-120"/>
              </a:rPr>
              <a:t>  ein Tupel, direkt entpackt</a:t>
            </a:r>
            <a:endParaRPr lang="en-US" sz="1300" dirty="0"/>
          </a:p>
        </p:txBody>
      </p:sp>
      <p:sp>
        <p:nvSpPr>
          <p:cNvPr id="21" name="Text 19"/>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Quelle: McKinney (2018, S. 71–74); Code: eigenes Notebook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06 — AUFGABE A · FUNKTIONEN</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06 / 18</a:t>
            </a:r>
            <a:endParaRPr lang="en-US" sz="1050" dirty="0"/>
          </a:p>
        </p:txBody>
      </p:sp>
      <p:sp>
        <p:nvSpPr>
          <p:cNvPr id="4" name="Text 2"/>
          <p:cNvSpPr txBox="1"/>
          <p:nvPr/>
        </p:nvSpPr>
        <p:spPr>
          <a:xfrm>
            <a:off x="594360" y="868680"/>
            <a:ext cx="3566160" cy="1188720"/>
          </a:xfrm>
          <a:prstGeom prst="rect">
            <a:avLst/>
          </a:prstGeom>
          <a:noFill/>
          <a:ln/>
        </p:spPr>
        <p:txBody>
          <a:bodyPr wrap="square" lIns="0" tIns="0" rIns="0" bIns="0" rtlCol="0" anchor="t"/>
          <a:lstStyle/>
          <a:p>
            <a:pPr indent="0" marL="0">
              <a:lnSpc>
                <a:spcPct val="100000"/>
              </a:lnSpc>
              <a:buNone/>
            </a:pPr>
            <a:r>
              <a:rPr lang="en-US" sz="3000" b="1" dirty="0">
                <a:solidFill>
                  <a:srgbClr val="111827"/>
                </a:solidFill>
                <a:latin typeface="Arial" pitchFamily="34" charset="0"/>
                <a:ea typeface="Arial" pitchFamily="34" charset="-122"/>
                <a:cs typeface="Arial" pitchFamily="34" charset="-120"/>
              </a:rPr>
              <a:t>Fünf weitere Konzepte im Code</a:t>
            </a:r>
            <a:endParaRPr lang="en-US" sz="3000" dirty="0"/>
          </a:p>
        </p:txBody>
      </p:sp>
      <p:sp>
        <p:nvSpPr>
          <p:cNvPr id="5" name="Text 3"/>
          <p:cNvSpPr txBox="1"/>
          <p:nvPr/>
        </p:nvSpPr>
        <p:spPr>
          <a:xfrm>
            <a:off x="594360" y="3383280"/>
            <a:ext cx="3474720" cy="1463040"/>
          </a:xfrm>
          <a:prstGeom prst="rect">
            <a:avLst/>
          </a:prstGeom>
          <a:noFill/>
          <a:ln/>
        </p:spPr>
        <p:txBody>
          <a:bodyPr wrap="square" lIns="0" tIns="0" rIns="0" bIns="0" rtlCol="0" anchor="t"/>
          <a:lstStyle/>
          <a:p>
            <a:pPr indent="0" marL="0">
              <a:lnSpc>
                <a:spcPct val="110000"/>
              </a:lnSpc>
              <a:buNone/>
            </a:pPr>
            <a:r>
              <a:rPr lang="en-US" sz="2400" i="1" dirty="0">
                <a:solidFill>
                  <a:srgbClr val="111827"/>
                </a:solidFill>
                <a:latin typeface="Arial" pitchFamily="34" charset="0"/>
                <a:ea typeface="Arial" pitchFamily="34" charset="-122"/>
                <a:cs typeface="Arial" pitchFamily="34" charset="-120"/>
              </a:rPr>
              <a:t>«Code, den man mehr als einmal braucht, gehört in eine Funktion.»</a:t>
            </a:r>
            <a:endParaRPr lang="en-US" sz="2400" dirty="0"/>
          </a:p>
        </p:txBody>
      </p:sp>
      <p:sp>
        <p:nvSpPr>
          <p:cNvPr id="6" name="Text 4"/>
          <p:cNvSpPr txBox="1"/>
          <p:nvPr/>
        </p:nvSpPr>
        <p:spPr>
          <a:xfrm>
            <a:off x="594360" y="4983480"/>
            <a:ext cx="3474720" cy="256032"/>
          </a:xfrm>
          <a:prstGeom prst="rect">
            <a:avLst/>
          </a:prstGeom>
          <a:noFill/>
          <a:ln/>
        </p:spPr>
        <p:txBody>
          <a:bodyPr wrap="square" lIns="0" tIns="0" rIns="0" bIns="0" rtlCol="0" anchor="t"/>
          <a:lstStyle/>
          <a:p>
            <a:pPr indent="0" marL="0">
              <a:buNone/>
            </a:pPr>
            <a:r>
              <a:rPr lang="en-US" sz="1050" b="1" spc="120" kern="0" dirty="0">
                <a:solidFill>
                  <a:srgbClr val="5B6472"/>
                </a:solidFill>
                <a:latin typeface="Arial" pitchFamily="34" charset="0"/>
                <a:ea typeface="Arial" pitchFamily="34" charset="-122"/>
                <a:cs typeface="Arial" pitchFamily="34" charset="-120"/>
              </a:rPr>
              <a:t>FAUSTREGEL · McKINNEY (2018, S. 71)</a:t>
            </a:r>
            <a:endParaRPr lang="en-US" sz="1050" dirty="0"/>
          </a:p>
        </p:txBody>
      </p:sp>
      <p:sp>
        <p:nvSpPr>
          <p:cNvPr id="7" name="Shape 5"/>
          <p:cNvSpPr/>
          <p:nvPr/>
        </p:nvSpPr>
        <p:spPr>
          <a:xfrm>
            <a:off x="4572000" y="868680"/>
            <a:ext cx="7022592" cy="0"/>
          </a:xfrm>
          <a:prstGeom prst="line">
            <a:avLst/>
          </a:prstGeom>
          <a:noFill/>
          <a:ln w="15875">
            <a:solidFill>
              <a:srgbClr val="111827"/>
            </a:solidFill>
            <a:prstDash val="solid"/>
          </a:ln>
        </p:spPr>
      </p:sp>
      <p:sp>
        <p:nvSpPr>
          <p:cNvPr id="8" name="Text 6"/>
          <p:cNvSpPr txBox="1"/>
          <p:nvPr/>
        </p:nvSpPr>
        <p:spPr>
          <a:xfrm>
            <a:off x="4572000" y="1033272"/>
            <a:ext cx="1783080" cy="640080"/>
          </a:xfrm>
          <a:prstGeom prst="rect">
            <a:avLst/>
          </a:prstGeom>
          <a:noFill/>
          <a:ln/>
        </p:spPr>
        <p:txBody>
          <a:bodyPr wrap="square" lIns="0" tIns="0" rIns="0" bIns="0" rtlCol="0" anchor="t"/>
          <a:lstStyle/>
          <a:p>
            <a:pPr indent="0" marL="0">
              <a:lnSpc>
                <a:spcPct val="105000"/>
              </a:lnSpc>
              <a:buNone/>
            </a:pPr>
            <a:r>
              <a:rPr lang="en-US" sz="1500" b="1" dirty="0">
                <a:solidFill>
                  <a:srgbClr val="111827"/>
                </a:solidFill>
                <a:latin typeface="Arial" pitchFamily="34" charset="0"/>
                <a:ea typeface="Arial" pitchFamily="34" charset="-122"/>
                <a:cs typeface="Arial" pitchFamily="34" charset="-120"/>
              </a:rPr>
              <a:t>Funktionen als Objekte</a:t>
            </a:r>
            <a:endParaRPr lang="en-US" sz="1500" dirty="0"/>
          </a:p>
        </p:txBody>
      </p:sp>
      <p:sp>
        <p:nvSpPr>
          <p:cNvPr id="9" name="Text 7"/>
          <p:cNvSpPr txBox="1"/>
          <p:nvPr/>
        </p:nvSpPr>
        <p:spPr>
          <a:xfrm>
            <a:off x="6446520" y="1033272"/>
            <a:ext cx="4160520" cy="274320"/>
          </a:xfrm>
          <a:prstGeom prst="rect">
            <a:avLst/>
          </a:prstGeom>
          <a:noFill/>
          <a:ln/>
        </p:spPr>
        <p:txBody>
          <a:bodyPr wrap="square" lIns="0" tIns="0" rIns="0" bIns="0" rtlCol="0" anchor="t"/>
          <a:lstStyle/>
          <a:p>
            <a:pPr indent="0" marL="0">
              <a:buNone/>
            </a:pPr>
            <a:r>
              <a:rPr lang="en-US" sz="1100" b="1" dirty="0">
                <a:solidFill>
                  <a:srgbClr val="B93C17"/>
                </a:solidFill>
                <a:latin typeface="Courier New" pitchFamily="34" charset="0"/>
                <a:ea typeface="Courier New" pitchFamily="34" charset="-122"/>
                <a:cs typeface="Courier New" pitchFamily="34" charset="-120"/>
              </a:rPr>
              <a:t>[str.strip, entferne_prozentzeichen, in_anteil]</a:t>
            </a:r>
            <a:endParaRPr lang="en-US" sz="1100" dirty="0"/>
          </a:p>
        </p:txBody>
      </p:sp>
      <p:sp>
        <p:nvSpPr>
          <p:cNvPr id="10" name="Text 8"/>
          <p:cNvSpPr txBox="1"/>
          <p:nvPr/>
        </p:nvSpPr>
        <p:spPr>
          <a:xfrm>
            <a:off x="6446520" y="1325880"/>
            <a:ext cx="4160520" cy="45720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Bereinigungsschritte als Liste, nacheinander angewendet</a:t>
            </a:r>
            <a:endParaRPr lang="en-US" sz="1300" dirty="0"/>
          </a:p>
        </p:txBody>
      </p:sp>
      <p:sp>
        <p:nvSpPr>
          <p:cNvPr id="11" name="Text 9"/>
          <p:cNvSpPr txBox="1"/>
          <p:nvPr/>
        </p:nvSpPr>
        <p:spPr>
          <a:xfrm>
            <a:off x="10607040" y="1033272"/>
            <a:ext cx="987552" cy="274320"/>
          </a:xfrm>
          <a:prstGeom prst="rect">
            <a:avLst/>
          </a:prstGeom>
          <a:noFill/>
          <a:ln/>
        </p:spPr>
        <p:txBody>
          <a:bodyPr wrap="square" lIns="0" tIns="0" rIns="0" bIns="0" rtlCol="0" anchor="t"/>
          <a:lstStyle/>
          <a:p>
            <a:pPr algn="r" indent="0" marL="0">
              <a:buNone/>
            </a:pPr>
            <a:r>
              <a:rPr lang="en-US" sz="1200" dirty="0">
                <a:solidFill>
                  <a:srgbClr val="5B6472"/>
                </a:solidFill>
                <a:latin typeface="Arial" pitchFamily="34" charset="0"/>
                <a:ea typeface="Arial" pitchFamily="34" charset="-122"/>
                <a:cs typeface="Arial" pitchFamily="34" charset="-120"/>
              </a:rPr>
              <a:t>S. 74–75</a:t>
            </a:r>
            <a:endParaRPr lang="en-US" sz="1200" dirty="0"/>
          </a:p>
        </p:txBody>
      </p:sp>
      <p:sp>
        <p:nvSpPr>
          <p:cNvPr id="12" name="Shape 10"/>
          <p:cNvSpPr/>
          <p:nvPr/>
        </p:nvSpPr>
        <p:spPr>
          <a:xfrm>
            <a:off x="4572000" y="1874520"/>
            <a:ext cx="7022592" cy="0"/>
          </a:xfrm>
          <a:prstGeom prst="line">
            <a:avLst/>
          </a:prstGeom>
          <a:noFill/>
          <a:ln w="9525">
            <a:solidFill>
              <a:srgbClr val="D5DAE1"/>
            </a:solidFill>
            <a:prstDash val="solid"/>
          </a:ln>
        </p:spPr>
      </p:sp>
      <p:sp>
        <p:nvSpPr>
          <p:cNvPr id="13" name="Text 11"/>
          <p:cNvSpPr txBox="1"/>
          <p:nvPr/>
        </p:nvSpPr>
        <p:spPr>
          <a:xfrm>
            <a:off x="4572000" y="2039112"/>
            <a:ext cx="1783080" cy="640080"/>
          </a:xfrm>
          <a:prstGeom prst="rect">
            <a:avLst/>
          </a:prstGeom>
          <a:noFill/>
          <a:ln/>
        </p:spPr>
        <p:txBody>
          <a:bodyPr wrap="square" lIns="0" tIns="0" rIns="0" bIns="0" rtlCol="0" anchor="t"/>
          <a:lstStyle/>
          <a:p>
            <a:pPr indent="0" marL="0">
              <a:lnSpc>
                <a:spcPct val="105000"/>
              </a:lnSpc>
              <a:buNone/>
            </a:pPr>
            <a:r>
              <a:rPr lang="en-US" sz="1500" b="1" dirty="0">
                <a:solidFill>
                  <a:srgbClr val="111827"/>
                </a:solidFill>
                <a:latin typeface="Arial" pitchFamily="34" charset="0"/>
                <a:ea typeface="Arial" pitchFamily="34" charset="-122"/>
                <a:cs typeface="Arial" pitchFamily="34" charset="-120"/>
              </a:rPr>
              <a:t>Lambda-Funktionen</a:t>
            </a:r>
            <a:endParaRPr lang="en-US" sz="1500" dirty="0"/>
          </a:p>
        </p:txBody>
      </p:sp>
      <p:sp>
        <p:nvSpPr>
          <p:cNvPr id="14" name="Text 12"/>
          <p:cNvSpPr txBox="1"/>
          <p:nvPr/>
        </p:nvSpPr>
        <p:spPr>
          <a:xfrm>
            <a:off x="6446520" y="2039112"/>
            <a:ext cx="4160520" cy="274320"/>
          </a:xfrm>
          <a:prstGeom prst="rect">
            <a:avLst/>
          </a:prstGeom>
          <a:noFill/>
          <a:ln/>
        </p:spPr>
        <p:txBody>
          <a:bodyPr wrap="square" lIns="0" tIns="0" rIns="0" bIns="0" rtlCol="0" anchor="t"/>
          <a:lstStyle/>
          <a:p>
            <a:pPr indent="0" marL="0">
              <a:buNone/>
            </a:pPr>
            <a:r>
              <a:rPr lang="en-US" sz="1100" b="1" dirty="0">
                <a:solidFill>
                  <a:srgbClr val="B93C17"/>
                </a:solidFill>
                <a:latin typeface="Courier New" pitchFamily="34" charset="0"/>
                <a:ea typeface="Courier New" pitchFamily="34" charset="-122"/>
                <a:cs typeface="Courier New" pitchFamily="34" charset="-120"/>
              </a:rPr>
              <a:t>prozent = lambda x: f"{x:.1%}"</a:t>
            </a:r>
            <a:endParaRPr lang="en-US" sz="1100" dirty="0"/>
          </a:p>
        </p:txBody>
      </p:sp>
      <p:sp>
        <p:nvSpPr>
          <p:cNvPr id="15" name="Text 13"/>
          <p:cNvSpPr txBox="1"/>
          <p:nvPr/>
        </p:nvSpPr>
        <p:spPr>
          <a:xfrm>
            <a:off x="6446520" y="2331720"/>
            <a:ext cx="4160520" cy="45720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Einzeiler als Argument, z. B. für Beschriftungen</a:t>
            </a:r>
            <a:endParaRPr lang="en-US" sz="1300" dirty="0"/>
          </a:p>
        </p:txBody>
      </p:sp>
      <p:sp>
        <p:nvSpPr>
          <p:cNvPr id="16" name="Text 14"/>
          <p:cNvSpPr txBox="1"/>
          <p:nvPr/>
        </p:nvSpPr>
        <p:spPr>
          <a:xfrm>
            <a:off x="10607040" y="2039112"/>
            <a:ext cx="987552" cy="274320"/>
          </a:xfrm>
          <a:prstGeom prst="rect">
            <a:avLst/>
          </a:prstGeom>
          <a:noFill/>
          <a:ln/>
        </p:spPr>
        <p:txBody>
          <a:bodyPr wrap="square" lIns="0" tIns="0" rIns="0" bIns="0" rtlCol="0" anchor="t"/>
          <a:lstStyle/>
          <a:p>
            <a:pPr algn="r" indent="0" marL="0">
              <a:buNone/>
            </a:pPr>
            <a:r>
              <a:rPr lang="en-US" sz="1200" dirty="0">
                <a:solidFill>
                  <a:srgbClr val="5B6472"/>
                </a:solidFill>
                <a:latin typeface="Arial" pitchFamily="34" charset="0"/>
                <a:ea typeface="Arial" pitchFamily="34" charset="-122"/>
                <a:cs typeface="Arial" pitchFamily="34" charset="-120"/>
              </a:rPr>
              <a:t>S. 75–76</a:t>
            </a:r>
            <a:endParaRPr lang="en-US" sz="1200" dirty="0"/>
          </a:p>
        </p:txBody>
      </p:sp>
      <p:sp>
        <p:nvSpPr>
          <p:cNvPr id="17" name="Shape 15"/>
          <p:cNvSpPr/>
          <p:nvPr/>
        </p:nvSpPr>
        <p:spPr>
          <a:xfrm>
            <a:off x="4572000" y="2880360"/>
            <a:ext cx="7022592" cy="0"/>
          </a:xfrm>
          <a:prstGeom prst="line">
            <a:avLst/>
          </a:prstGeom>
          <a:noFill/>
          <a:ln w="9525">
            <a:solidFill>
              <a:srgbClr val="D5DAE1"/>
            </a:solidFill>
            <a:prstDash val="solid"/>
          </a:ln>
        </p:spPr>
      </p:sp>
      <p:sp>
        <p:nvSpPr>
          <p:cNvPr id="18" name="Text 16"/>
          <p:cNvSpPr txBox="1"/>
          <p:nvPr/>
        </p:nvSpPr>
        <p:spPr>
          <a:xfrm>
            <a:off x="4572000" y="3044952"/>
            <a:ext cx="1783080" cy="640080"/>
          </a:xfrm>
          <a:prstGeom prst="rect">
            <a:avLst/>
          </a:prstGeom>
          <a:noFill/>
          <a:ln/>
        </p:spPr>
        <p:txBody>
          <a:bodyPr wrap="square" lIns="0" tIns="0" rIns="0" bIns="0" rtlCol="0" anchor="t"/>
          <a:lstStyle/>
          <a:p>
            <a:pPr indent="0" marL="0">
              <a:lnSpc>
                <a:spcPct val="105000"/>
              </a:lnSpc>
              <a:buNone/>
            </a:pPr>
            <a:r>
              <a:rPr lang="en-US" sz="1500" b="1" dirty="0">
                <a:solidFill>
                  <a:srgbClr val="111827"/>
                </a:solidFill>
                <a:latin typeface="Arial" pitchFamily="34" charset="0"/>
                <a:ea typeface="Arial" pitchFamily="34" charset="-122"/>
                <a:cs typeface="Arial" pitchFamily="34" charset="-120"/>
              </a:rPr>
              <a:t>Currying mit partial</a:t>
            </a:r>
            <a:endParaRPr lang="en-US" sz="1500" dirty="0"/>
          </a:p>
        </p:txBody>
      </p:sp>
      <p:sp>
        <p:nvSpPr>
          <p:cNvPr id="19" name="Text 17"/>
          <p:cNvSpPr txBox="1"/>
          <p:nvPr/>
        </p:nvSpPr>
        <p:spPr>
          <a:xfrm>
            <a:off x="6446520" y="3044952"/>
            <a:ext cx="4160520" cy="274320"/>
          </a:xfrm>
          <a:prstGeom prst="rect">
            <a:avLst/>
          </a:prstGeom>
          <a:noFill/>
          <a:ln/>
        </p:spPr>
        <p:txBody>
          <a:bodyPr wrap="square" lIns="0" tIns="0" rIns="0" bIns="0" rtlCol="0" anchor="t"/>
          <a:lstStyle/>
          <a:p>
            <a:pPr indent="0" marL="0">
              <a:buNone/>
            </a:pPr>
            <a:r>
              <a:rPr lang="en-US" sz="1100" b="1" dirty="0">
                <a:solidFill>
                  <a:srgbClr val="B93C17"/>
                </a:solidFill>
                <a:latin typeface="Courier New" pitchFamily="34" charset="0"/>
                <a:ea typeface="Courier New" pitchFamily="34" charset="-122"/>
                <a:cs typeface="Courier New" pitchFamily="34" charset="-120"/>
              </a:rPr>
              <a:t>partial(bedingte_quote, geschlecht="Frauen")</a:t>
            </a:r>
            <a:endParaRPr lang="en-US" sz="1100" dirty="0"/>
          </a:p>
        </p:txBody>
      </p:sp>
      <p:sp>
        <p:nvSpPr>
          <p:cNvPr id="20" name="Text 18"/>
          <p:cNvSpPr txBox="1"/>
          <p:nvPr/>
        </p:nvSpPr>
        <p:spPr>
          <a:xfrm>
            <a:off x="6446520" y="3337560"/>
            <a:ext cx="4160520" cy="45720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Aus einer allgemeinen Funktion wird P(Z | W)</a:t>
            </a:r>
            <a:endParaRPr lang="en-US" sz="1300" dirty="0"/>
          </a:p>
        </p:txBody>
      </p:sp>
      <p:sp>
        <p:nvSpPr>
          <p:cNvPr id="21" name="Text 19"/>
          <p:cNvSpPr txBox="1"/>
          <p:nvPr/>
        </p:nvSpPr>
        <p:spPr>
          <a:xfrm>
            <a:off x="10607040" y="3044952"/>
            <a:ext cx="987552" cy="274320"/>
          </a:xfrm>
          <a:prstGeom prst="rect">
            <a:avLst/>
          </a:prstGeom>
          <a:noFill/>
          <a:ln/>
        </p:spPr>
        <p:txBody>
          <a:bodyPr wrap="square" lIns="0" tIns="0" rIns="0" bIns="0" rtlCol="0" anchor="t"/>
          <a:lstStyle/>
          <a:p>
            <a:pPr algn="r" indent="0" marL="0">
              <a:buNone/>
            </a:pPr>
            <a:r>
              <a:rPr lang="en-US" sz="1200" dirty="0">
                <a:solidFill>
                  <a:srgbClr val="5B6472"/>
                </a:solidFill>
                <a:latin typeface="Arial" pitchFamily="34" charset="0"/>
                <a:ea typeface="Arial" pitchFamily="34" charset="-122"/>
                <a:cs typeface="Arial" pitchFamily="34" charset="-120"/>
              </a:rPr>
              <a:t>S. 76–77</a:t>
            </a:r>
            <a:endParaRPr lang="en-US" sz="1200" dirty="0"/>
          </a:p>
        </p:txBody>
      </p:sp>
      <p:sp>
        <p:nvSpPr>
          <p:cNvPr id="22" name="Shape 20"/>
          <p:cNvSpPr/>
          <p:nvPr/>
        </p:nvSpPr>
        <p:spPr>
          <a:xfrm>
            <a:off x="4572000" y="3886200"/>
            <a:ext cx="7022592" cy="0"/>
          </a:xfrm>
          <a:prstGeom prst="line">
            <a:avLst/>
          </a:prstGeom>
          <a:noFill/>
          <a:ln w="9525">
            <a:solidFill>
              <a:srgbClr val="D5DAE1"/>
            </a:solidFill>
            <a:prstDash val="solid"/>
          </a:ln>
        </p:spPr>
      </p:sp>
      <p:sp>
        <p:nvSpPr>
          <p:cNvPr id="23" name="Text 21"/>
          <p:cNvSpPr txBox="1"/>
          <p:nvPr/>
        </p:nvSpPr>
        <p:spPr>
          <a:xfrm>
            <a:off x="4572000" y="4050792"/>
            <a:ext cx="1783080" cy="640080"/>
          </a:xfrm>
          <a:prstGeom prst="rect">
            <a:avLst/>
          </a:prstGeom>
          <a:noFill/>
          <a:ln/>
        </p:spPr>
        <p:txBody>
          <a:bodyPr wrap="square" lIns="0" tIns="0" rIns="0" bIns="0" rtlCol="0" anchor="t"/>
          <a:lstStyle/>
          <a:p>
            <a:pPr indent="0" marL="0">
              <a:lnSpc>
                <a:spcPct val="105000"/>
              </a:lnSpc>
              <a:buNone/>
            </a:pPr>
            <a:r>
              <a:rPr lang="en-US" sz="1500" b="1" dirty="0">
                <a:solidFill>
                  <a:srgbClr val="111827"/>
                </a:solidFill>
                <a:latin typeface="Arial" pitchFamily="34" charset="0"/>
                <a:ea typeface="Arial" pitchFamily="34" charset="-122"/>
                <a:cs typeface="Arial" pitchFamily="34" charset="-120"/>
              </a:rPr>
              <a:t>Generator mit yield</a:t>
            </a:r>
            <a:endParaRPr lang="en-US" sz="1500" dirty="0"/>
          </a:p>
        </p:txBody>
      </p:sp>
      <p:sp>
        <p:nvSpPr>
          <p:cNvPr id="24" name="Text 22"/>
          <p:cNvSpPr txBox="1"/>
          <p:nvPr/>
        </p:nvSpPr>
        <p:spPr>
          <a:xfrm>
            <a:off x="6446520" y="4050792"/>
            <a:ext cx="4160520" cy="274320"/>
          </a:xfrm>
          <a:prstGeom prst="rect">
            <a:avLst/>
          </a:prstGeom>
          <a:noFill/>
          <a:ln/>
        </p:spPr>
        <p:txBody>
          <a:bodyPr wrap="square" lIns="0" tIns="0" rIns="0" bIns="0" rtlCol="0" anchor="t"/>
          <a:lstStyle/>
          <a:p>
            <a:pPr indent="0" marL="0">
              <a:buNone/>
            </a:pPr>
            <a:r>
              <a:rPr lang="en-US" sz="1100" b="1" dirty="0">
                <a:solidFill>
                  <a:srgbClr val="B93C17"/>
                </a:solidFill>
                <a:latin typeface="Courier New" pitchFamily="34" charset="0"/>
                <a:ea typeface="Courier New" pitchFamily="34" charset="-122"/>
                <a:cs typeface="Courier New" pitchFamily="34" charset="-120"/>
              </a:rPr>
              <a:t>yield fb, pruefe_unabhaengigkeit(...)</a:t>
            </a:r>
            <a:endParaRPr lang="en-US" sz="1100" dirty="0"/>
          </a:p>
        </p:txBody>
      </p:sp>
      <p:sp>
        <p:nvSpPr>
          <p:cNvPr id="25" name="Text 23"/>
          <p:cNvSpPr txBox="1"/>
          <p:nvPr/>
        </p:nvSpPr>
        <p:spPr>
          <a:xfrm>
            <a:off x="6446520" y="4343400"/>
            <a:ext cx="4160520" cy="45720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Liefert Fachbereich für Fachbereich, erst auf Anfrage</a:t>
            </a:r>
            <a:endParaRPr lang="en-US" sz="1300" dirty="0"/>
          </a:p>
        </p:txBody>
      </p:sp>
      <p:sp>
        <p:nvSpPr>
          <p:cNvPr id="26" name="Text 24"/>
          <p:cNvSpPr txBox="1"/>
          <p:nvPr/>
        </p:nvSpPr>
        <p:spPr>
          <a:xfrm>
            <a:off x="10607040" y="4050792"/>
            <a:ext cx="987552" cy="274320"/>
          </a:xfrm>
          <a:prstGeom prst="rect">
            <a:avLst/>
          </a:prstGeom>
          <a:noFill/>
          <a:ln/>
        </p:spPr>
        <p:txBody>
          <a:bodyPr wrap="square" lIns="0" tIns="0" rIns="0" bIns="0" rtlCol="0" anchor="t"/>
          <a:lstStyle/>
          <a:p>
            <a:pPr algn="r" indent="0" marL="0">
              <a:buNone/>
            </a:pPr>
            <a:r>
              <a:rPr lang="en-US" sz="1200" dirty="0">
                <a:solidFill>
                  <a:srgbClr val="5B6472"/>
                </a:solidFill>
                <a:latin typeface="Arial" pitchFamily="34" charset="0"/>
                <a:ea typeface="Arial" pitchFamily="34" charset="-122"/>
                <a:cs typeface="Arial" pitchFamily="34" charset="-120"/>
              </a:rPr>
              <a:t>S. 77–78</a:t>
            </a:r>
            <a:endParaRPr lang="en-US" sz="1200" dirty="0"/>
          </a:p>
        </p:txBody>
      </p:sp>
      <p:sp>
        <p:nvSpPr>
          <p:cNvPr id="27" name="Shape 25"/>
          <p:cNvSpPr/>
          <p:nvPr/>
        </p:nvSpPr>
        <p:spPr>
          <a:xfrm>
            <a:off x="4572000" y="4892040"/>
            <a:ext cx="7022592" cy="0"/>
          </a:xfrm>
          <a:prstGeom prst="line">
            <a:avLst/>
          </a:prstGeom>
          <a:noFill/>
          <a:ln w="9525">
            <a:solidFill>
              <a:srgbClr val="D5DAE1"/>
            </a:solidFill>
            <a:prstDash val="solid"/>
          </a:ln>
        </p:spPr>
      </p:sp>
      <p:sp>
        <p:nvSpPr>
          <p:cNvPr id="28" name="Text 26"/>
          <p:cNvSpPr txBox="1"/>
          <p:nvPr/>
        </p:nvSpPr>
        <p:spPr>
          <a:xfrm>
            <a:off x="4572000" y="5056632"/>
            <a:ext cx="1783080" cy="640080"/>
          </a:xfrm>
          <a:prstGeom prst="rect">
            <a:avLst/>
          </a:prstGeom>
          <a:noFill/>
          <a:ln/>
        </p:spPr>
        <p:txBody>
          <a:bodyPr wrap="square" lIns="0" tIns="0" rIns="0" bIns="0" rtlCol="0" anchor="t"/>
          <a:lstStyle/>
          <a:p>
            <a:pPr indent="0" marL="0">
              <a:lnSpc>
                <a:spcPct val="105000"/>
              </a:lnSpc>
              <a:buNone/>
            </a:pPr>
            <a:r>
              <a:rPr lang="en-US" sz="1500" b="1" dirty="0">
                <a:solidFill>
                  <a:srgbClr val="111827"/>
                </a:solidFill>
                <a:latin typeface="Arial" pitchFamily="34" charset="0"/>
                <a:ea typeface="Arial" pitchFamily="34" charset="-122"/>
                <a:cs typeface="Arial" pitchFamily="34" charset="-120"/>
              </a:rPr>
              <a:t>Fehlerbehandlung</a:t>
            </a:r>
            <a:endParaRPr lang="en-US" sz="1500" dirty="0"/>
          </a:p>
        </p:txBody>
      </p:sp>
      <p:sp>
        <p:nvSpPr>
          <p:cNvPr id="29" name="Text 27"/>
          <p:cNvSpPr txBox="1"/>
          <p:nvPr/>
        </p:nvSpPr>
        <p:spPr>
          <a:xfrm>
            <a:off x="6446520" y="5056632"/>
            <a:ext cx="4160520" cy="274320"/>
          </a:xfrm>
          <a:prstGeom prst="rect">
            <a:avLst/>
          </a:prstGeom>
          <a:noFill/>
          <a:ln/>
        </p:spPr>
        <p:txBody>
          <a:bodyPr wrap="square" lIns="0" tIns="0" rIns="0" bIns="0" rtlCol="0" anchor="t"/>
          <a:lstStyle/>
          <a:p>
            <a:pPr indent="0" marL="0">
              <a:buNone/>
            </a:pPr>
            <a:r>
              <a:rPr lang="en-US" sz="1100" b="1" dirty="0">
                <a:solidFill>
                  <a:srgbClr val="B93C17"/>
                </a:solidFill>
                <a:latin typeface="Courier New" pitchFamily="34" charset="0"/>
                <a:ea typeface="Courier New" pitchFamily="34" charset="-122"/>
                <a:cs typeface="Courier New" pitchFamily="34" charset="-120"/>
              </a:rPr>
              <a:t>except ValueError:</a:t>
            </a:r>
            <a:endParaRPr lang="en-US" sz="1100" dirty="0"/>
          </a:p>
        </p:txBody>
      </p:sp>
      <p:sp>
        <p:nvSpPr>
          <p:cNvPr id="30" name="Text 28"/>
          <p:cNvSpPr txBox="1"/>
          <p:nvPr/>
        </p:nvSpPr>
        <p:spPr>
          <a:xfrm>
            <a:off x="6446520" y="5349240"/>
            <a:ext cx="4160520" cy="45720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Nur den erwarteten Fehler abfangen: Tippfehler in Tabelle 4 fallen auf</a:t>
            </a:r>
            <a:endParaRPr lang="en-US" sz="1300" dirty="0"/>
          </a:p>
        </p:txBody>
      </p:sp>
      <p:sp>
        <p:nvSpPr>
          <p:cNvPr id="31" name="Text 29"/>
          <p:cNvSpPr txBox="1"/>
          <p:nvPr/>
        </p:nvSpPr>
        <p:spPr>
          <a:xfrm>
            <a:off x="10607040" y="5056632"/>
            <a:ext cx="987552" cy="274320"/>
          </a:xfrm>
          <a:prstGeom prst="rect">
            <a:avLst/>
          </a:prstGeom>
          <a:noFill/>
          <a:ln/>
        </p:spPr>
        <p:txBody>
          <a:bodyPr wrap="square" lIns="0" tIns="0" rIns="0" bIns="0" rtlCol="0" anchor="t"/>
          <a:lstStyle/>
          <a:p>
            <a:pPr algn="r" indent="0" marL="0">
              <a:buNone/>
            </a:pPr>
            <a:r>
              <a:rPr lang="en-US" sz="1200" dirty="0">
                <a:solidFill>
                  <a:srgbClr val="5B6472"/>
                </a:solidFill>
                <a:latin typeface="Arial" pitchFamily="34" charset="0"/>
                <a:ea typeface="Arial" pitchFamily="34" charset="-122"/>
                <a:cs typeface="Arial" pitchFamily="34" charset="-120"/>
              </a:rPr>
              <a:t>S. 79–81</a:t>
            </a:r>
            <a:endParaRPr lang="en-US" sz="1200" dirty="0"/>
          </a:p>
        </p:txBody>
      </p:sp>
      <p:sp>
        <p:nvSpPr>
          <p:cNvPr id="32" name="Shape 30"/>
          <p:cNvSpPr/>
          <p:nvPr/>
        </p:nvSpPr>
        <p:spPr>
          <a:xfrm>
            <a:off x="4572000" y="5897880"/>
            <a:ext cx="7022592" cy="0"/>
          </a:xfrm>
          <a:prstGeom prst="line">
            <a:avLst/>
          </a:prstGeom>
          <a:noFill/>
          <a:ln w="9525">
            <a:solidFill>
              <a:srgbClr val="D5DAE1"/>
            </a:solidFill>
            <a:prstDash val="solid"/>
          </a:ln>
        </p:spPr>
      </p:sp>
      <p:sp>
        <p:nvSpPr>
          <p:cNvPr id="33" name="Text 31"/>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Quelle: McKinney (2018, S. 71–81); Code: eigenes Notebook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07 / 18</a:t>
            </a:r>
            <a:endParaRPr lang="en-US" sz="1050" dirty="0"/>
          </a:p>
        </p:txBody>
      </p:sp>
      <p:sp>
        <p:nvSpPr>
          <p:cNvPr id="3" name="Text 1"/>
          <p:cNvSpPr txBox="1"/>
          <p:nvPr/>
        </p:nvSpPr>
        <p:spPr>
          <a:xfrm>
            <a:off x="320040" y="502920"/>
            <a:ext cx="4023360" cy="5120640"/>
          </a:xfrm>
          <a:prstGeom prst="rect">
            <a:avLst/>
          </a:prstGeom>
          <a:noFill/>
          <a:ln/>
        </p:spPr>
        <p:txBody>
          <a:bodyPr wrap="square" lIns="0" tIns="0" rIns="0" bIns="0" rtlCol="0" anchor="ctr"/>
          <a:lstStyle/>
          <a:p>
            <a:pPr indent="0" marL="0">
              <a:buNone/>
            </a:pPr>
            <a:r>
              <a:rPr lang="en-US" sz="30000" b="1" dirty="0">
                <a:solidFill>
                  <a:srgbClr val="E4572E"/>
                </a:solidFill>
                <a:latin typeface="Arial" pitchFamily="34" charset="0"/>
                <a:ea typeface="Arial" pitchFamily="34" charset="-122"/>
                <a:cs typeface="Arial" pitchFamily="34" charset="-120"/>
              </a:rPr>
              <a:t>b</a:t>
            </a:r>
            <a:endParaRPr lang="en-US" sz="30000" dirty="0"/>
          </a:p>
        </p:txBody>
      </p:sp>
      <p:sp>
        <p:nvSpPr>
          <p:cNvPr id="4" name="Text 2"/>
          <p:cNvSpPr txBox="1"/>
          <p:nvPr/>
        </p:nvSpPr>
        <p:spPr>
          <a:xfrm>
            <a:off x="4754880" y="2148840"/>
            <a:ext cx="5486400" cy="274320"/>
          </a:xfrm>
          <a:prstGeom prst="rect">
            <a:avLst/>
          </a:prstGeom>
          <a:noFill/>
          <a:ln/>
        </p:spPr>
        <p:txBody>
          <a:bodyPr wrap="square" lIns="0" tIns="0" rIns="0" bIns="0" rtlCol="0" anchor="t"/>
          <a:lstStyle/>
          <a:p>
            <a:pPr indent="0" marL="0">
              <a:buNone/>
            </a:pPr>
            <a:r>
              <a:rPr lang="en-US" sz="1100" b="1" spc="150" kern="0" dirty="0">
                <a:solidFill>
                  <a:srgbClr val="5B6472"/>
                </a:solidFill>
                <a:latin typeface="Arial" pitchFamily="34" charset="0"/>
                <a:ea typeface="Arial" pitchFamily="34" charset="-122"/>
                <a:cs typeface="Arial" pitchFamily="34" charset="-120"/>
              </a:rPr>
              <a:t>AUFGABE B</a:t>
            </a:r>
            <a:endParaRPr lang="en-US" sz="1100" dirty="0"/>
          </a:p>
        </p:txBody>
      </p:sp>
      <p:sp>
        <p:nvSpPr>
          <p:cNvPr id="5" name="Text 3"/>
          <p:cNvSpPr txBox="1"/>
          <p:nvPr/>
        </p:nvSpPr>
        <p:spPr>
          <a:xfrm>
            <a:off x="4754880" y="2514600"/>
            <a:ext cx="6766560" cy="731520"/>
          </a:xfrm>
          <a:prstGeom prst="rect">
            <a:avLst/>
          </a:prstGeom>
          <a:noFill/>
          <a:ln/>
        </p:spPr>
        <p:txBody>
          <a:bodyPr wrap="square" lIns="0" tIns="0" rIns="0" bIns="0" rtlCol="0" anchor="t"/>
          <a:lstStyle/>
          <a:p>
            <a:pPr indent="0" marL="0">
              <a:buNone/>
            </a:pPr>
            <a:r>
              <a:rPr lang="en-US" sz="4000" b="1" dirty="0">
                <a:solidFill>
                  <a:srgbClr val="111827"/>
                </a:solidFill>
                <a:latin typeface="Arial" pitchFamily="34" charset="0"/>
                <a:ea typeface="Arial" pitchFamily="34" charset="-122"/>
                <a:cs typeface="Arial" pitchFamily="34" charset="-120"/>
              </a:rPr>
              <a:t>Von den Daten zur Darstellung</a:t>
            </a:r>
            <a:endParaRPr lang="en-US" sz="4000" dirty="0"/>
          </a:p>
        </p:txBody>
      </p:sp>
      <p:sp>
        <p:nvSpPr>
          <p:cNvPr id="6" name="Text 4"/>
          <p:cNvSpPr txBox="1"/>
          <p:nvPr/>
        </p:nvSpPr>
        <p:spPr>
          <a:xfrm>
            <a:off x="4754880" y="3337560"/>
            <a:ext cx="6035040" cy="914400"/>
          </a:xfrm>
          <a:prstGeom prst="rect">
            <a:avLst/>
          </a:prstGeom>
          <a:noFill/>
          <a:ln/>
        </p:spPr>
        <p:txBody>
          <a:bodyPr wrap="square" lIns="0" tIns="0" rIns="0" bIns="0" rtlCol="0" anchor="t"/>
          <a:lstStyle/>
          <a:p>
            <a:pPr indent="0" marL="0">
              <a:lnSpc>
                <a:spcPct val="115000"/>
              </a:lnSpc>
              <a:buNone/>
            </a:pPr>
            <a:r>
              <a:rPr lang="en-US" sz="1800" dirty="0">
                <a:solidFill>
                  <a:srgbClr val="5B6472"/>
                </a:solidFill>
                <a:latin typeface="Arial" pitchFamily="34" charset="0"/>
                <a:ea typeface="Arial" pitchFamily="34" charset="-122"/>
                <a:cs typeface="Arial" pitchFamily="34" charset="-120"/>
              </a:rPr>
              <a:t>Vorüberlegungen zur Umsetzung und die scheinbare Ungerechtigkeit</a:t>
            </a:r>
            <a:endParaRPr lang="en-US" sz="1800" dirty="0"/>
          </a:p>
        </p:txBody>
      </p:sp>
      <p:sp>
        <p:nvSpPr>
          <p:cNvPr id="7" name="Text 5"/>
          <p:cNvSpPr txBox="1"/>
          <p:nvPr/>
        </p:nvSpPr>
        <p:spPr>
          <a:xfrm>
            <a:off x="4754880" y="4480560"/>
            <a:ext cx="6035040" cy="320040"/>
          </a:xfrm>
          <a:prstGeom prst="rect">
            <a:avLst/>
          </a:prstGeom>
          <a:noFill/>
          <a:ln/>
        </p:spPr>
        <p:txBody>
          <a:bodyPr wrap="square" lIns="0" tIns="0" rIns="0" bIns="0" rtlCol="0" anchor="t"/>
          <a:lstStyle/>
          <a:p>
            <a:pPr indent="0" marL="0">
              <a:buNone/>
            </a:pPr>
            <a:r>
              <a:rPr lang="en-US" sz="1400" b="1" dirty="0">
                <a:solidFill>
                  <a:srgbClr val="111827"/>
                </a:solidFill>
                <a:latin typeface="Arial" pitchFamily="34" charset="0"/>
                <a:ea typeface="Arial" pitchFamily="34" charset="-122"/>
                <a:cs typeface="Arial" pitchFamily="34" charset="-120"/>
              </a:rPr>
              <a:t>Teoman-Doganay Lam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08 — VORÜBERLEGUNGEN ZUR UMSETZUNG</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08 / 18</a:t>
            </a:r>
            <a:endParaRPr lang="en-US" sz="1050" dirty="0"/>
          </a:p>
        </p:txBody>
      </p:sp>
      <p:sp>
        <p:nvSpPr>
          <p:cNvPr id="4" name="Text 2"/>
          <p:cNvSpPr txBox="1"/>
          <p:nvPr/>
        </p:nvSpPr>
        <p:spPr>
          <a:xfrm>
            <a:off x="594360" y="749808"/>
            <a:ext cx="11002975" cy="566928"/>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Vom Aufgabenblatt zur Analyse in fünf Schritten</a:t>
            </a:r>
            <a:endParaRPr lang="en-US" sz="3000" dirty="0"/>
          </a:p>
        </p:txBody>
      </p:sp>
      <p:sp>
        <p:nvSpPr>
          <p:cNvPr id="5" name="Shape 3"/>
          <p:cNvSpPr/>
          <p:nvPr/>
        </p:nvSpPr>
        <p:spPr>
          <a:xfrm>
            <a:off x="841248" y="2148840"/>
            <a:ext cx="8961120" cy="0"/>
          </a:xfrm>
          <a:prstGeom prst="line">
            <a:avLst/>
          </a:prstGeom>
          <a:noFill/>
          <a:ln w="19050">
            <a:solidFill>
              <a:srgbClr val="D5DAE1"/>
            </a:solidFill>
            <a:prstDash val="solid"/>
          </a:ln>
        </p:spPr>
      </p:sp>
      <p:sp>
        <p:nvSpPr>
          <p:cNvPr id="6" name="Shape 4"/>
          <p:cNvSpPr/>
          <p:nvPr/>
        </p:nvSpPr>
        <p:spPr>
          <a:xfrm>
            <a:off x="594360" y="1901952"/>
            <a:ext cx="493776" cy="493776"/>
          </a:xfrm>
          <a:prstGeom prst="ellipse">
            <a:avLst/>
          </a:prstGeom>
          <a:solidFill>
            <a:srgbClr val="111827"/>
          </a:solidFill>
          <a:ln w="38100">
            <a:solidFill>
              <a:srgbClr val="FFFFFF"/>
            </a:solidFill>
            <a:prstDash val="solid"/>
          </a:ln>
        </p:spPr>
      </p:sp>
      <p:sp>
        <p:nvSpPr>
          <p:cNvPr id="7" name="Text 5"/>
          <p:cNvSpPr txBox="1"/>
          <p:nvPr/>
        </p:nvSpPr>
        <p:spPr>
          <a:xfrm>
            <a:off x="594360" y="190195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594360" y="2697480"/>
            <a:ext cx="2011680" cy="365760"/>
          </a:xfrm>
          <a:prstGeom prst="rect">
            <a:avLst/>
          </a:prstGeom>
          <a:noFill/>
          <a:ln/>
        </p:spPr>
        <p:txBody>
          <a:bodyPr wrap="square" lIns="0" tIns="0" rIns="0" bIns="0" rtlCol="0" anchor="t"/>
          <a:lstStyle/>
          <a:p>
            <a:pPr indent="0" marL="0">
              <a:buNone/>
            </a:pPr>
            <a:r>
              <a:rPr lang="en-US" sz="1900" b="1" dirty="0">
                <a:solidFill>
                  <a:srgbClr val="111827"/>
                </a:solidFill>
                <a:latin typeface="Arial" pitchFamily="34" charset="0"/>
                <a:ea typeface="Arial" pitchFamily="34" charset="-122"/>
                <a:cs typeface="Arial" pitchFamily="34" charset="-120"/>
              </a:rPr>
              <a:t>Erfassen</a:t>
            </a:r>
            <a:endParaRPr lang="en-US" sz="1900" dirty="0"/>
          </a:p>
        </p:txBody>
      </p:sp>
      <p:sp>
        <p:nvSpPr>
          <p:cNvPr id="9" name="Text 7"/>
          <p:cNvSpPr txBox="1"/>
          <p:nvPr/>
        </p:nvSpPr>
        <p:spPr>
          <a:xfrm>
            <a:off x="594360" y="3127248"/>
            <a:ext cx="1965960" cy="82296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Tabelle 4 wortgetreu als Text, z. B. "82.4%"</a:t>
            </a:r>
            <a:endParaRPr lang="en-US" sz="1400" dirty="0"/>
          </a:p>
        </p:txBody>
      </p:sp>
      <p:sp>
        <p:nvSpPr>
          <p:cNvPr id="10" name="Shape 8"/>
          <p:cNvSpPr/>
          <p:nvPr/>
        </p:nvSpPr>
        <p:spPr>
          <a:xfrm>
            <a:off x="2834640" y="1901952"/>
            <a:ext cx="493776" cy="493776"/>
          </a:xfrm>
          <a:prstGeom prst="ellipse">
            <a:avLst/>
          </a:prstGeom>
          <a:solidFill>
            <a:srgbClr val="111827"/>
          </a:solidFill>
          <a:ln w="38100">
            <a:solidFill>
              <a:srgbClr val="FFFFFF"/>
            </a:solidFill>
            <a:prstDash val="solid"/>
          </a:ln>
        </p:spPr>
      </p:sp>
      <p:sp>
        <p:nvSpPr>
          <p:cNvPr id="11" name="Text 9"/>
          <p:cNvSpPr txBox="1"/>
          <p:nvPr/>
        </p:nvSpPr>
        <p:spPr>
          <a:xfrm>
            <a:off x="2834640" y="190195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2834640" y="2697480"/>
            <a:ext cx="2011680" cy="365760"/>
          </a:xfrm>
          <a:prstGeom prst="rect">
            <a:avLst/>
          </a:prstGeom>
          <a:noFill/>
          <a:ln/>
        </p:spPr>
        <p:txBody>
          <a:bodyPr wrap="square" lIns="0" tIns="0" rIns="0" bIns="0" rtlCol="0" anchor="t"/>
          <a:lstStyle/>
          <a:p>
            <a:pPr indent="0" marL="0">
              <a:buNone/>
            </a:pPr>
            <a:r>
              <a:rPr lang="en-US" sz="1900" b="1" dirty="0">
                <a:solidFill>
                  <a:srgbClr val="111827"/>
                </a:solidFill>
                <a:latin typeface="Arial" pitchFamily="34" charset="0"/>
                <a:ea typeface="Arial" pitchFamily="34" charset="-122"/>
                <a:cs typeface="Arial" pitchFamily="34" charset="-120"/>
              </a:rPr>
              <a:t>Bereinigen</a:t>
            </a:r>
            <a:endParaRPr lang="en-US" sz="1900" dirty="0"/>
          </a:p>
        </p:txBody>
      </p:sp>
      <p:sp>
        <p:nvSpPr>
          <p:cNvPr id="13" name="Text 11"/>
          <p:cNvSpPr txBox="1"/>
          <p:nvPr/>
        </p:nvSpPr>
        <p:spPr>
          <a:xfrm>
            <a:off x="2834640" y="3127248"/>
            <a:ext cx="1965960" cy="82296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Eine Liste von Funktionen macht Zahlen daraus</a:t>
            </a:r>
            <a:endParaRPr lang="en-US" sz="1400" dirty="0"/>
          </a:p>
        </p:txBody>
      </p:sp>
      <p:sp>
        <p:nvSpPr>
          <p:cNvPr id="14" name="Shape 12"/>
          <p:cNvSpPr/>
          <p:nvPr/>
        </p:nvSpPr>
        <p:spPr>
          <a:xfrm>
            <a:off x="5074920" y="1901952"/>
            <a:ext cx="493776" cy="493776"/>
          </a:xfrm>
          <a:prstGeom prst="ellipse">
            <a:avLst/>
          </a:prstGeom>
          <a:solidFill>
            <a:srgbClr val="E4572E"/>
          </a:solidFill>
          <a:ln w="38100">
            <a:solidFill>
              <a:srgbClr val="FFFFFF"/>
            </a:solidFill>
            <a:prstDash val="solid"/>
          </a:ln>
        </p:spPr>
      </p:sp>
      <p:sp>
        <p:nvSpPr>
          <p:cNvPr id="15" name="Text 13"/>
          <p:cNvSpPr txBox="1"/>
          <p:nvPr/>
        </p:nvSpPr>
        <p:spPr>
          <a:xfrm>
            <a:off x="5074920" y="190195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txBox="1"/>
          <p:nvPr/>
        </p:nvSpPr>
        <p:spPr>
          <a:xfrm>
            <a:off x="5074920" y="2697480"/>
            <a:ext cx="2011680" cy="365760"/>
          </a:xfrm>
          <a:prstGeom prst="rect">
            <a:avLst/>
          </a:prstGeom>
          <a:noFill/>
          <a:ln/>
        </p:spPr>
        <p:txBody>
          <a:bodyPr wrap="square" lIns="0" tIns="0" rIns="0" bIns="0" rtlCol="0" anchor="t"/>
          <a:lstStyle/>
          <a:p>
            <a:pPr indent="0" marL="0">
              <a:buNone/>
            </a:pPr>
            <a:r>
              <a:rPr lang="en-US" sz="1900" b="1" dirty="0">
                <a:solidFill>
                  <a:srgbClr val="111827"/>
                </a:solidFill>
                <a:latin typeface="Arial" pitchFamily="34" charset="0"/>
                <a:ea typeface="Arial" pitchFamily="34" charset="-122"/>
                <a:cs typeface="Arial" pitchFamily="34" charset="-120"/>
              </a:rPr>
              <a:t>Prüfen</a:t>
            </a:r>
            <a:endParaRPr lang="en-US" sz="1900" dirty="0"/>
          </a:p>
        </p:txBody>
      </p:sp>
      <p:sp>
        <p:nvSpPr>
          <p:cNvPr id="17" name="Text 15"/>
          <p:cNvSpPr txBox="1"/>
          <p:nvPr/>
        </p:nvSpPr>
        <p:spPr>
          <a:xfrm>
            <a:off x="5074920" y="3127248"/>
            <a:ext cx="1965960" cy="82296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Originaldaten gegen Tabelle 4: 0 Abweichungen</a:t>
            </a:r>
            <a:endParaRPr lang="en-US" sz="1400" dirty="0"/>
          </a:p>
        </p:txBody>
      </p:sp>
      <p:sp>
        <p:nvSpPr>
          <p:cNvPr id="18" name="Shape 16"/>
          <p:cNvSpPr/>
          <p:nvPr/>
        </p:nvSpPr>
        <p:spPr>
          <a:xfrm>
            <a:off x="7315200" y="1901952"/>
            <a:ext cx="493776" cy="493776"/>
          </a:xfrm>
          <a:prstGeom prst="ellipse">
            <a:avLst/>
          </a:prstGeom>
          <a:solidFill>
            <a:srgbClr val="111827"/>
          </a:solidFill>
          <a:ln w="38100">
            <a:solidFill>
              <a:srgbClr val="FFFFFF"/>
            </a:solidFill>
            <a:prstDash val="solid"/>
          </a:ln>
        </p:spPr>
      </p:sp>
      <p:sp>
        <p:nvSpPr>
          <p:cNvPr id="19" name="Text 17"/>
          <p:cNvSpPr txBox="1"/>
          <p:nvPr/>
        </p:nvSpPr>
        <p:spPr>
          <a:xfrm>
            <a:off x="7315200" y="190195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0" name="Text 18"/>
          <p:cNvSpPr txBox="1"/>
          <p:nvPr/>
        </p:nvSpPr>
        <p:spPr>
          <a:xfrm>
            <a:off x="7315200" y="2697480"/>
            <a:ext cx="2011680" cy="365760"/>
          </a:xfrm>
          <a:prstGeom prst="rect">
            <a:avLst/>
          </a:prstGeom>
          <a:noFill/>
          <a:ln/>
        </p:spPr>
        <p:txBody>
          <a:bodyPr wrap="square" lIns="0" tIns="0" rIns="0" bIns="0" rtlCol="0" anchor="t"/>
          <a:lstStyle/>
          <a:p>
            <a:pPr indent="0" marL="0">
              <a:buNone/>
            </a:pPr>
            <a:r>
              <a:rPr lang="en-US" sz="1900" b="1" dirty="0">
                <a:solidFill>
                  <a:srgbClr val="111827"/>
                </a:solidFill>
                <a:latin typeface="Arial" pitchFamily="34" charset="0"/>
                <a:ea typeface="Arial" pitchFamily="34" charset="-122"/>
                <a:cs typeface="Arial" pitchFamily="34" charset="-120"/>
              </a:rPr>
              <a:t>Analysieren</a:t>
            </a:r>
            <a:endParaRPr lang="en-US" sz="1900" dirty="0"/>
          </a:p>
        </p:txBody>
      </p:sp>
      <p:sp>
        <p:nvSpPr>
          <p:cNvPr id="21" name="Text 19"/>
          <p:cNvSpPr txBox="1"/>
          <p:nvPr/>
        </p:nvSpPr>
        <p:spPr>
          <a:xfrm>
            <a:off x="7315200" y="3127248"/>
            <a:ext cx="1965960" cy="82296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Kreuztabellen gesamt und je Fachbereich</a:t>
            </a:r>
            <a:endParaRPr lang="en-US" sz="1400" dirty="0"/>
          </a:p>
        </p:txBody>
      </p:sp>
      <p:sp>
        <p:nvSpPr>
          <p:cNvPr id="22" name="Shape 20"/>
          <p:cNvSpPr/>
          <p:nvPr/>
        </p:nvSpPr>
        <p:spPr>
          <a:xfrm>
            <a:off x="9555480" y="1901952"/>
            <a:ext cx="493776" cy="493776"/>
          </a:xfrm>
          <a:prstGeom prst="ellipse">
            <a:avLst/>
          </a:prstGeom>
          <a:solidFill>
            <a:srgbClr val="111827"/>
          </a:solidFill>
          <a:ln w="38100">
            <a:solidFill>
              <a:srgbClr val="FFFFFF"/>
            </a:solidFill>
            <a:prstDash val="solid"/>
          </a:ln>
        </p:spPr>
      </p:sp>
      <p:sp>
        <p:nvSpPr>
          <p:cNvPr id="23" name="Text 21"/>
          <p:cNvSpPr txBox="1"/>
          <p:nvPr/>
        </p:nvSpPr>
        <p:spPr>
          <a:xfrm>
            <a:off x="9555480" y="190195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4" name="Text 22"/>
          <p:cNvSpPr txBox="1"/>
          <p:nvPr/>
        </p:nvSpPr>
        <p:spPr>
          <a:xfrm>
            <a:off x="9555480" y="2697480"/>
            <a:ext cx="2011680" cy="365760"/>
          </a:xfrm>
          <a:prstGeom prst="rect">
            <a:avLst/>
          </a:prstGeom>
          <a:noFill/>
          <a:ln/>
        </p:spPr>
        <p:txBody>
          <a:bodyPr wrap="square" lIns="0" tIns="0" rIns="0" bIns="0" rtlCol="0" anchor="t"/>
          <a:lstStyle/>
          <a:p>
            <a:pPr indent="0" marL="0">
              <a:buNone/>
            </a:pPr>
            <a:r>
              <a:rPr lang="en-US" sz="1900" b="1" dirty="0">
                <a:solidFill>
                  <a:srgbClr val="111827"/>
                </a:solidFill>
                <a:latin typeface="Arial" pitchFamily="34" charset="0"/>
                <a:ea typeface="Arial" pitchFamily="34" charset="-122"/>
                <a:cs typeface="Arial" pitchFamily="34" charset="-120"/>
              </a:rPr>
              <a:t>Darstellen</a:t>
            </a:r>
            <a:endParaRPr lang="en-US" sz="1900" dirty="0"/>
          </a:p>
        </p:txBody>
      </p:sp>
      <p:sp>
        <p:nvSpPr>
          <p:cNvPr id="25" name="Text 23"/>
          <p:cNvSpPr txBox="1"/>
          <p:nvPr/>
        </p:nvSpPr>
        <p:spPr>
          <a:xfrm>
            <a:off x="9555480" y="3127248"/>
            <a:ext cx="1965960" cy="82296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Säulen- und Streudiagramme wie im Kurs</a:t>
            </a:r>
            <a:endParaRPr lang="en-US" sz="1400" dirty="0"/>
          </a:p>
        </p:txBody>
      </p:sp>
      <p:sp>
        <p:nvSpPr>
          <p:cNvPr id="26" name="Shape 24"/>
          <p:cNvSpPr/>
          <p:nvPr/>
        </p:nvSpPr>
        <p:spPr>
          <a:xfrm>
            <a:off x="0" y="4434840"/>
            <a:ext cx="12191695" cy="1600200"/>
          </a:xfrm>
          <a:prstGeom prst="rect">
            <a:avLst/>
          </a:prstGeom>
          <a:solidFill>
            <a:srgbClr val="F2F4F7"/>
          </a:solidFill>
          <a:ln w="12700">
            <a:solidFill>
              <a:srgbClr val="F2F4F7"/>
            </a:solidFill>
            <a:prstDash val="solid"/>
          </a:ln>
        </p:spPr>
      </p:sp>
      <p:sp>
        <p:nvSpPr>
          <p:cNvPr id="27" name="Text 25"/>
          <p:cNvSpPr txBox="1"/>
          <p:nvPr/>
        </p:nvSpPr>
        <p:spPr>
          <a:xfrm>
            <a:off x="594360" y="4754880"/>
            <a:ext cx="1371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LIBRARIES</a:t>
            </a:r>
            <a:endParaRPr lang="en-US" sz="1050" dirty="0"/>
          </a:p>
        </p:txBody>
      </p:sp>
      <p:sp>
        <p:nvSpPr>
          <p:cNvPr id="28" name="Text 26"/>
          <p:cNvSpPr txBox="1"/>
          <p:nvPr/>
        </p:nvSpPr>
        <p:spPr>
          <a:xfrm>
            <a:off x="2194560" y="4709160"/>
            <a:ext cx="2194560" cy="320040"/>
          </a:xfrm>
          <a:prstGeom prst="rect">
            <a:avLst/>
          </a:prstGeom>
          <a:noFill/>
          <a:ln/>
        </p:spPr>
        <p:txBody>
          <a:bodyPr wrap="square" lIns="0" tIns="0" rIns="0" bIns="0" rtlCol="0" anchor="t"/>
          <a:lstStyle/>
          <a:p>
            <a:pPr indent="0" marL="0">
              <a:buNone/>
            </a:pPr>
            <a:r>
              <a:rPr lang="en-US" sz="1600" b="1" dirty="0">
                <a:solidFill>
                  <a:srgbClr val="111827"/>
                </a:solidFill>
                <a:latin typeface="Courier New" pitchFamily="34" charset="0"/>
                <a:ea typeface="Courier New" pitchFamily="34" charset="-122"/>
                <a:cs typeface="Courier New" pitchFamily="34" charset="-120"/>
              </a:rPr>
              <a:t>pandas</a:t>
            </a:r>
            <a:endParaRPr lang="en-US" sz="1600" dirty="0"/>
          </a:p>
        </p:txBody>
      </p:sp>
      <p:sp>
        <p:nvSpPr>
          <p:cNvPr id="29" name="Text 27"/>
          <p:cNvSpPr txBox="1"/>
          <p:nvPr/>
        </p:nvSpPr>
        <p:spPr>
          <a:xfrm>
            <a:off x="2194560" y="5120640"/>
            <a:ext cx="2148840" cy="64008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Arial" pitchFamily="34" charset="0"/>
                <a:ea typeface="Arial" pitchFamily="34" charset="-122"/>
                <a:cs typeface="Arial" pitchFamily="34" charset="-120"/>
              </a:rPr>
              <a:t>Tabellen und Kreuztabellen in einer Zeile</a:t>
            </a:r>
            <a:endParaRPr lang="en-US" sz="1300" dirty="0"/>
          </a:p>
        </p:txBody>
      </p:sp>
      <p:sp>
        <p:nvSpPr>
          <p:cNvPr id="30" name="Text 28"/>
          <p:cNvSpPr txBox="1"/>
          <p:nvPr/>
        </p:nvSpPr>
        <p:spPr>
          <a:xfrm>
            <a:off x="4572000" y="4709160"/>
            <a:ext cx="2194560" cy="320040"/>
          </a:xfrm>
          <a:prstGeom prst="rect">
            <a:avLst/>
          </a:prstGeom>
          <a:noFill/>
          <a:ln/>
        </p:spPr>
        <p:txBody>
          <a:bodyPr wrap="square" lIns="0" tIns="0" rIns="0" bIns="0" rtlCol="0" anchor="t"/>
          <a:lstStyle/>
          <a:p>
            <a:pPr indent="0" marL="0">
              <a:buNone/>
            </a:pPr>
            <a:r>
              <a:rPr lang="en-US" sz="1600" b="1" dirty="0">
                <a:solidFill>
                  <a:srgbClr val="111827"/>
                </a:solidFill>
                <a:latin typeface="Courier New" pitchFamily="34" charset="0"/>
                <a:ea typeface="Courier New" pitchFamily="34" charset="-122"/>
                <a:cs typeface="Courier New" pitchFamily="34" charset="-120"/>
              </a:rPr>
              <a:t>numpy</a:t>
            </a:r>
            <a:endParaRPr lang="en-US" sz="1600" dirty="0"/>
          </a:p>
        </p:txBody>
      </p:sp>
      <p:sp>
        <p:nvSpPr>
          <p:cNvPr id="31" name="Text 29"/>
          <p:cNvSpPr txBox="1"/>
          <p:nvPr/>
        </p:nvSpPr>
        <p:spPr>
          <a:xfrm>
            <a:off x="4572000" y="5120640"/>
            <a:ext cx="2148840" cy="64008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Arial" pitchFamily="34" charset="0"/>
                <a:ea typeface="Arial" pitchFamily="34" charset="-122"/>
                <a:cs typeface="Arial" pitchFamily="34" charset="-120"/>
              </a:rPr>
              <a:t>Rechnen auf ganzen Spalten, ohne Schleifen</a:t>
            </a:r>
            <a:endParaRPr lang="en-US" sz="1300" dirty="0"/>
          </a:p>
        </p:txBody>
      </p:sp>
      <p:sp>
        <p:nvSpPr>
          <p:cNvPr id="32" name="Text 30"/>
          <p:cNvSpPr txBox="1"/>
          <p:nvPr/>
        </p:nvSpPr>
        <p:spPr>
          <a:xfrm>
            <a:off x="6949440" y="4709160"/>
            <a:ext cx="2194560" cy="320040"/>
          </a:xfrm>
          <a:prstGeom prst="rect">
            <a:avLst/>
          </a:prstGeom>
          <a:noFill/>
          <a:ln/>
        </p:spPr>
        <p:txBody>
          <a:bodyPr wrap="square" lIns="0" tIns="0" rIns="0" bIns="0" rtlCol="0" anchor="t"/>
          <a:lstStyle/>
          <a:p>
            <a:pPr indent="0" marL="0">
              <a:buNone/>
            </a:pPr>
            <a:r>
              <a:rPr lang="en-US" sz="1600" b="1" dirty="0">
                <a:solidFill>
                  <a:srgbClr val="111827"/>
                </a:solidFill>
                <a:latin typeface="Courier New" pitchFamily="34" charset="0"/>
                <a:ea typeface="Courier New" pitchFamily="34" charset="-122"/>
                <a:cs typeface="Courier New" pitchFamily="34" charset="-120"/>
              </a:rPr>
              <a:t>matplotlib</a:t>
            </a:r>
            <a:endParaRPr lang="en-US" sz="1600" dirty="0"/>
          </a:p>
        </p:txBody>
      </p:sp>
      <p:sp>
        <p:nvSpPr>
          <p:cNvPr id="33" name="Text 31"/>
          <p:cNvSpPr txBox="1"/>
          <p:nvPr/>
        </p:nvSpPr>
        <p:spPr>
          <a:xfrm>
            <a:off x="6949440" y="5120640"/>
            <a:ext cx="2148840" cy="64008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Arial" pitchFamily="34" charset="0"/>
                <a:ea typeface="Arial" pitchFamily="34" charset="-122"/>
                <a:cs typeface="Arial" pitchFamily="34" charset="-120"/>
              </a:rPr>
              <a:t>Volle Kontrolle über Diagramme und Export</a:t>
            </a:r>
            <a:endParaRPr lang="en-US" sz="1300" dirty="0"/>
          </a:p>
        </p:txBody>
      </p:sp>
      <p:sp>
        <p:nvSpPr>
          <p:cNvPr id="34" name="Text 32"/>
          <p:cNvSpPr txBox="1"/>
          <p:nvPr/>
        </p:nvSpPr>
        <p:spPr>
          <a:xfrm>
            <a:off x="9326880" y="4709160"/>
            <a:ext cx="2194560" cy="320040"/>
          </a:xfrm>
          <a:prstGeom prst="rect">
            <a:avLst/>
          </a:prstGeom>
          <a:noFill/>
          <a:ln/>
        </p:spPr>
        <p:txBody>
          <a:bodyPr wrap="square" lIns="0" tIns="0" rIns="0" bIns="0" rtlCol="0" anchor="t"/>
          <a:lstStyle/>
          <a:p>
            <a:pPr indent="0" marL="0">
              <a:buNone/>
            </a:pPr>
            <a:r>
              <a:rPr lang="en-US" sz="1600" b="1" dirty="0">
                <a:solidFill>
                  <a:srgbClr val="111827"/>
                </a:solidFill>
                <a:latin typeface="Courier New" pitchFamily="34" charset="0"/>
                <a:ea typeface="Courier New" pitchFamily="34" charset="-122"/>
                <a:cs typeface="Courier New" pitchFamily="34" charset="-120"/>
              </a:rPr>
              <a:t>re, functools</a:t>
            </a:r>
            <a:endParaRPr lang="en-US" sz="1600" dirty="0"/>
          </a:p>
        </p:txBody>
      </p:sp>
      <p:sp>
        <p:nvSpPr>
          <p:cNvPr id="35" name="Text 33"/>
          <p:cNvSpPr txBox="1"/>
          <p:nvPr/>
        </p:nvSpPr>
        <p:spPr>
          <a:xfrm>
            <a:off x="9326880" y="5120640"/>
            <a:ext cx="2148840" cy="64008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Arial" pitchFamily="34" charset="0"/>
                <a:ea typeface="Arial" pitchFamily="34" charset="-122"/>
                <a:cs typeface="Arial" pitchFamily="34" charset="-120"/>
              </a:rPr>
              <a:t>Standardbibliothek, keine Installation nötig</a:t>
            </a:r>
            <a:endParaRPr lang="en-US" sz="1300" dirty="0"/>
          </a:p>
        </p:txBody>
      </p:sp>
      <p:sp>
        <p:nvSpPr>
          <p:cNvPr id="36" name="Text 34"/>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Quellen: R Core Team (o. J.); Schnauss (o. J.-a, Folien 16, 42, 45)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09 — AUFGABE B · DARSTELLUNG</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09 / 18</a:t>
            </a:r>
            <a:endParaRPr lang="en-US" sz="1050" dirty="0"/>
          </a:p>
        </p:txBody>
      </p:sp>
      <p:sp>
        <p:nvSpPr>
          <p:cNvPr id="4" name="Text 2"/>
          <p:cNvSpPr txBox="1"/>
          <p:nvPr/>
        </p:nvSpPr>
        <p:spPr>
          <a:xfrm>
            <a:off x="594360" y="749808"/>
            <a:ext cx="11002975" cy="566928"/>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Die scheinbare Ungerechtigkeit</a:t>
            </a:r>
            <a:endParaRPr lang="en-US" sz="3000" dirty="0"/>
          </a:p>
        </p:txBody>
      </p:sp>
      <p:sp>
        <p:nvSpPr>
          <p:cNvPr id="5" name="Text 3"/>
          <p:cNvSpPr txBox="1"/>
          <p:nvPr/>
        </p:nvSpPr>
        <p:spPr>
          <a:xfrm>
            <a:off x="594360" y="1371600"/>
            <a:ext cx="6400800" cy="274320"/>
          </a:xfrm>
          <a:prstGeom prst="rect">
            <a:avLst/>
          </a:prstGeom>
          <a:noFill/>
          <a:ln/>
        </p:spPr>
        <p:txBody>
          <a:bodyPr wrap="square" lIns="0" tIns="0" rIns="0" bIns="0" rtlCol="0" anchor="t"/>
          <a:lstStyle/>
          <a:p>
            <a:pPr indent="0" marL="0">
              <a:buNone/>
            </a:pPr>
            <a:r>
              <a:rPr lang="en-US" sz="1500" dirty="0">
                <a:solidFill>
                  <a:srgbClr val="5B6472"/>
                </a:solidFill>
                <a:latin typeface="Arial" pitchFamily="34" charset="0"/>
                <a:ea typeface="Arial" pitchFamily="34" charset="-122"/>
                <a:cs typeface="Arial" pitchFamily="34" charset="-120"/>
              </a:rPr>
              <a:t>Zulassungsquote über alle sechs Fachbereiche</a:t>
            </a:r>
            <a:endParaRPr lang="en-US" sz="1500" dirty="0"/>
          </a:p>
        </p:txBody>
      </p:sp>
      <p:graphicFrame>
        <p:nvGraphicFramePr>
          <p:cNvPr id="6" name="Chart 0" descr=""/>
          <p:cNvGraphicFramePr/>
          <p:nvPr/>
        </p:nvGraphicFramePr>
        <p:xfrm>
          <a:off x="502920" y="1737360"/>
          <a:ext cx="722376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321040" y="1783080"/>
            <a:ext cx="32004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DIFFERENZ</a:t>
            </a:r>
            <a:endParaRPr lang="en-US" sz="1050" dirty="0"/>
          </a:p>
        </p:txBody>
      </p:sp>
      <p:sp>
        <p:nvSpPr>
          <p:cNvPr id="8" name="Text 5"/>
          <p:cNvSpPr txBox="1"/>
          <p:nvPr/>
        </p:nvSpPr>
        <p:spPr>
          <a:xfrm>
            <a:off x="8275320" y="2057400"/>
            <a:ext cx="3291840" cy="1280160"/>
          </a:xfrm>
          <a:prstGeom prst="rect">
            <a:avLst/>
          </a:prstGeom>
          <a:noFill/>
          <a:ln/>
        </p:spPr>
        <p:txBody>
          <a:bodyPr wrap="square" lIns="0" tIns="0" rIns="0" bIns="0" rtlCol="0" anchor="t"/>
          <a:lstStyle/>
          <a:p>
            <a:pPr indent="0" marL="0">
              <a:buNone/>
            </a:pPr>
            <a:r>
              <a:rPr lang="en-US" sz="9600" b="1" dirty="0">
                <a:solidFill>
                  <a:srgbClr val="E4572E"/>
                </a:solidFill>
                <a:latin typeface="Arial" pitchFamily="34" charset="0"/>
                <a:ea typeface="Arial" pitchFamily="34" charset="-122"/>
                <a:cs typeface="Arial" pitchFamily="34" charset="-120"/>
              </a:rPr>
              <a:t>−14.2</a:t>
            </a:r>
            <a:endParaRPr lang="en-US" sz="9600" dirty="0"/>
          </a:p>
        </p:txBody>
      </p:sp>
      <p:sp>
        <p:nvSpPr>
          <p:cNvPr id="9" name="Text 6"/>
          <p:cNvSpPr txBox="1"/>
          <p:nvPr/>
        </p:nvSpPr>
        <p:spPr>
          <a:xfrm>
            <a:off x="8321040" y="3429000"/>
            <a:ext cx="3200400" cy="640080"/>
          </a:xfrm>
          <a:prstGeom prst="rect">
            <a:avLst/>
          </a:prstGeom>
          <a:noFill/>
          <a:ln/>
        </p:spPr>
        <p:txBody>
          <a:bodyPr wrap="square" lIns="0" tIns="0" rIns="0" bIns="0" rtlCol="0" anchor="t"/>
          <a:lstStyle/>
          <a:p>
            <a:pPr indent="0" marL="0">
              <a:lnSpc>
                <a:spcPct val="105000"/>
              </a:lnSpc>
              <a:buNone/>
            </a:pPr>
            <a:r>
              <a:rPr lang="en-US" sz="1800" b="1" dirty="0">
                <a:solidFill>
                  <a:srgbClr val="111827"/>
                </a:solidFill>
                <a:latin typeface="Arial" pitchFamily="34" charset="0"/>
                <a:ea typeface="Arial" pitchFamily="34" charset="-122"/>
                <a:cs typeface="Arial" pitchFamily="34" charset="-120"/>
              </a:rPr>
              <a:t>Prozentpunkte weniger für Frauen</a:t>
            </a:r>
            <a:endParaRPr lang="en-US" sz="1800" dirty="0"/>
          </a:p>
        </p:txBody>
      </p:sp>
      <p:sp>
        <p:nvSpPr>
          <p:cNvPr id="10" name="Text 7"/>
          <p:cNvSpPr txBox="1"/>
          <p:nvPr/>
        </p:nvSpPr>
        <p:spPr>
          <a:xfrm>
            <a:off x="8321040" y="4114800"/>
            <a:ext cx="3200400" cy="274320"/>
          </a:xfrm>
          <a:prstGeom prst="rect">
            <a:avLst/>
          </a:prstGeom>
          <a:noFill/>
          <a:ln/>
        </p:spPr>
        <p:txBody>
          <a:bodyPr wrap="square" lIns="0" tIns="0" rIns="0" bIns="0" rtlCol="0" anchor="t"/>
          <a:lstStyle/>
          <a:p>
            <a:pPr indent="0" marL="0">
              <a:buNone/>
            </a:pPr>
            <a:r>
              <a:rPr lang="en-US" sz="1200" dirty="0">
                <a:solidFill>
                  <a:srgbClr val="5B6472"/>
                </a:solidFill>
                <a:latin typeface="Arial" pitchFamily="34" charset="0"/>
                <a:ea typeface="Arial" pitchFamily="34" charset="-122"/>
                <a:cs typeface="Arial" pitchFamily="34" charset="-120"/>
              </a:rPr>
              <a:t>exakt 44.52 % − 30.35 %</a:t>
            </a:r>
            <a:endParaRPr lang="en-US" sz="1200" dirty="0"/>
          </a:p>
        </p:txBody>
      </p:sp>
      <p:sp>
        <p:nvSpPr>
          <p:cNvPr id="11" name="Shape 8"/>
          <p:cNvSpPr/>
          <p:nvPr/>
        </p:nvSpPr>
        <p:spPr>
          <a:xfrm>
            <a:off x="594360" y="4892040"/>
            <a:ext cx="11002975" cy="0"/>
          </a:xfrm>
          <a:prstGeom prst="line">
            <a:avLst/>
          </a:prstGeom>
          <a:noFill/>
          <a:ln w="9525">
            <a:solidFill>
              <a:srgbClr val="D5DAE1"/>
            </a:solidFill>
            <a:prstDash val="solid"/>
          </a:ln>
        </p:spPr>
      </p:sp>
      <p:sp>
        <p:nvSpPr>
          <p:cNvPr id="12" name="Text 9"/>
          <p:cNvSpPr txBox="1"/>
          <p:nvPr/>
        </p:nvSpPr>
        <p:spPr>
          <a:xfrm>
            <a:off x="594360" y="5120640"/>
            <a:ext cx="6309360" cy="731520"/>
          </a:xfrm>
          <a:prstGeom prst="rect">
            <a:avLst/>
          </a:prstGeom>
          <a:noFill/>
          <a:ln/>
        </p:spPr>
        <p:txBody>
          <a:bodyPr wrap="square" lIns="0" tIns="0" rIns="0" bIns="0" rtlCol="0" anchor="t"/>
          <a:lstStyle/>
          <a:p>
            <a:pPr indent="0" marL="0">
              <a:lnSpc>
                <a:spcPct val="110000"/>
              </a:lnSpc>
              <a:buNone/>
            </a:pPr>
            <a:r>
              <a:rPr lang="en-US" sz="1700" dirty="0">
                <a:solidFill>
                  <a:srgbClr val="5B6472"/>
                </a:solidFill>
                <a:latin typeface="Arial" pitchFamily="34" charset="0"/>
                <a:ea typeface="Arial" pitchFamily="34" charset="-122"/>
                <a:cs typeface="Arial" pitchFamily="34" charset="-120"/>
              </a:rPr>
              <a:t>Mit der Quote der Männer wären 817 statt 557 Frauen zugelassen worden.</a:t>
            </a:r>
            <a:endParaRPr lang="en-US" sz="1700" dirty="0"/>
          </a:p>
        </p:txBody>
      </p:sp>
      <p:sp>
        <p:nvSpPr>
          <p:cNvPr id="13" name="Text 10"/>
          <p:cNvSpPr txBox="1"/>
          <p:nvPr/>
        </p:nvSpPr>
        <p:spPr>
          <a:xfrm>
            <a:off x="5760720" y="5120640"/>
            <a:ext cx="5833872" cy="548640"/>
          </a:xfrm>
          <a:prstGeom prst="rect">
            <a:avLst/>
          </a:prstGeom>
          <a:noFill/>
          <a:ln/>
        </p:spPr>
        <p:txBody>
          <a:bodyPr wrap="square" lIns="0" tIns="0" rIns="0" bIns="0" rtlCol="0" anchor="t"/>
          <a:lstStyle/>
          <a:p>
            <a:pPr algn="r" indent="0" marL="0">
              <a:buNone/>
            </a:pPr>
            <a:r>
              <a:rPr lang="en-US" sz="3000" b="1" dirty="0">
                <a:solidFill>
                  <a:srgbClr val="111827"/>
                </a:solidFill>
                <a:latin typeface="Arial" pitchFamily="34" charset="0"/>
                <a:ea typeface="Arial" pitchFamily="34" charset="-122"/>
                <a:cs typeface="Arial" pitchFamily="34" charset="-120"/>
              </a:rPr>
              <a:t>Also Diskriminierung?</a:t>
            </a:r>
            <a:endParaRPr lang="en-US" sz="3000" dirty="0"/>
          </a:p>
        </p:txBody>
      </p:sp>
      <p:sp>
        <p:nvSpPr>
          <p:cNvPr id="14" name="Text 11"/>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Eigene Darstellung; Daten: Bickel et al. (1975); ZHAW SML (2026), Tabelle 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10 / 18</a:t>
            </a:r>
            <a:endParaRPr lang="en-US" sz="1050" dirty="0"/>
          </a:p>
        </p:txBody>
      </p:sp>
      <p:sp>
        <p:nvSpPr>
          <p:cNvPr id="3" name="Text 1"/>
          <p:cNvSpPr txBox="1"/>
          <p:nvPr/>
        </p:nvSpPr>
        <p:spPr>
          <a:xfrm>
            <a:off x="320040" y="502920"/>
            <a:ext cx="4023360" cy="5120640"/>
          </a:xfrm>
          <a:prstGeom prst="rect">
            <a:avLst/>
          </a:prstGeom>
          <a:noFill/>
          <a:ln/>
        </p:spPr>
        <p:txBody>
          <a:bodyPr wrap="square" lIns="0" tIns="0" rIns="0" bIns="0" rtlCol="0" anchor="ctr"/>
          <a:lstStyle/>
          <a:p>
            <a:pPr indent="0" marL="0">
              <a:buNone/>
            </a:pPr>
            <a:r>
              <a:rPr lang="en-US" sz="30000" b="1" dirty="0">
                <a:solidFill>
                  <a:srgbClr val="E4572E"/>
                </a:solidFill>
                <a:latin typeface="Arial" pitchFamily="34" charset="0"/>
                <a:ea typeface="Arial" pitchFamily="34" charset="-122"/>
                <a:cs typeface="Arial" pitchFamily="34" charset="-120"/>
              </a:rPr>
              <a:t>c</a:t>
            </a:r>
            <a:endParaRPr lang="en-US" sz="30000" dirty="0"/>
          </a:p>
        </p:txBody>
      </p:sp>
      <p:sp>
        <p:nvSpPr>
          <p:cNvPr id="4" name="Text 2"/>
          <p:cNvSpPr txBox="1"/>
          <p:nvPr/>
        </p:nvSpPr>
        <p:spPr>
          <a:xfrm>
            <a:off x="4754880" y="2148840"/>
            <a:ext cx="5486400" cy="274320"/>
          </a:xfrm>
          <a:prstGeom prst="rect">
            <a:avLst/>
          </a:prstGeom>
          <a:noFill/>
          <a:ln/>
        </p:spPr>
        <p:txBody>
          <a:bodyPr wrap="square" lIns="0" tIns="0" rIns="0" bIns="0" rtlCol="0" anchor="t"/>
          <a:lstStyle/>
          <a:p>
            <a:pPr indent="0" marL="0">
              <a:buNone/>
            </a:pPr>
            <a:r>
              <a:rPr lang="en-US" sz="1100" b="1" spc="150" kern="0" dirty="0">
                <a:solidFill>
                  <a:srgbClr val="5B6472"/>
                </a:solidFill>
                <a:latin typeface="Arial" pitchFamily="34" charset="0"/>
                <a:ea typeface="Arial" pitchFamily="34" charset="-122"/>
                <a:cs typeface="Arial" pitchFamily="34" charset="-120"/>
              </a:rPr>
              <a:t>AUFGABE C</a:t>
            </a:r>
            <a:endParaRPr lang="en-US" sz="1100" dirty="0"/>
          </a:p>
        </p:txBody>
      </p:sp>
      <p:sp>
        <p:nvSpPr>
          <p:cNvPr id="5" name="Text 3"/>
          <p:cNvSpPr txBox="1"/>
          <p:nvPr/>
        </p:nvSpPr>
        <p:spPr>
          <a:xfrm>
            <a:off x="4754880" y="2514600"/>
            <a:ext cx="6766560" cy="731520"/>
          </a:xfrm>
          <a:prstGeom prst="rect">
            <a:avLst/>
          </a:prstGeom>
          <a:noFill/>
          <a:ln/>
        </p:spPr>
        <p:txBody>
          <a:bodyPr wrap="square" lIns="0" tIns="0" rIns="0" bIns="0" rtlCol="0" anchor="t"/>
          <a:lstStyle/>
          <a:p>
            <a:pPr indent="0" marL="0">
              <a:buNone/>
            </a:pPr>
            <a:r>
              <a:rPr lang="en-US" sz="4000" b="1" dirty="0">
                <a:solidFill>
                  <a:srgbClr val="111827"/>
                </a:solidFill>
                <a:latin typeface="Arial" pitchFamily="34" charset="0"/>
                <a:ea typeface="Arial" pitchFamily="34" charset="-122"/>
                <a:cs typeface="Arial" pitchFamily="34" charset="-120"/>
              </a:rPr>
              <a:t>Genauer hinschauen</a:t>
            </a:r>
            <a:endParaRPr lang="en-US" sz="4000" dirty="0"/>
          </a:p>
        </p:txBody>
      </p:sp>
      <p:sp>
        <p:nvSpPr>
          <p:cNvPr id="6" name="Text 4"/>
          <p:cNvSpPr txBox="1"/>
          <p:nvPr/>
        </p:nvSpPr>
        <p:spPr>
          <a:xfrm>
            <a:off x="4754880" y="3337560"/>
            <a:ext cx="6035040" cy="914400"/>
          </a:xfrm>
          <a:prstGeom prst="rect">
            <a:avLst/>
          </a:prstGeom>
          <a:noFill/>
          <a:ln/>
        </p:spPr>
        <p:txBody>
          <a:bodyPr wrap="square" lIns="0" tIns="0" rIns="0" bIns="0" rtlCol="0" anchor="t"/>
          <a:lstStyle/>
          <a:p>
            <a:pPr indent="0" marL="0">
              <a:lnSpc>
                <a:spcPct val="115000"/>
              </a:lnSpc>
              <a:buNone/>
            </a:pPr>
            <a:r>
              <a:rPr lang="en-US" sz="1800" dirty="0">
                <a:solidFill>
                  <a:srgbClr val="5B6472"/>
                </a:solidFill>
                <a:latin typeface="Arial" pitchFamily="34" charset="0"/>
                <a:ea typeface="Arial" pitchFamily="34" charset="-122"/>
                <a:cs typeface="Arial" pitchFamily="34" charset="-120"/>
              </a:rPr>
              <a:t>Verteilungen vergleichen, totale Wahrscheinlichkeit und stochastische Unabhängigkeit</a:t>
            </a:r>
            <a:endParaRPr lang="en-US" sz="1800" dirty="0"/>
          </a:p>
        </p:txBody>
      </p:sp>
      <p:sp>
        <p:nvSpPr>
          <p:cNvPr id="7" name="Text 5"/>
          <p:cNvSpPr txBox="1"/>
          <p:nvPr/>
        </p:nvSpPr>
        <p:spPr>
          <a:xfrm>
            <a:off x="4754880" y="4480560"/>
            <a:ext cx="6035040" cy="320040"/>
          </a:xfrm>
          <a:prstGeom prst="rect">
            <a:avLst/>
          </a:prstGeom>
          <a:noFill/>
          <a:ln/>
        </p:spPr>
        <p:txBody>
          <a:bodyPr wrap="square" lIns="0" tIns="0" rIns="0" bIns="0" rtlCol="0" anchor="t"/>
          <a:lstStyle/>
          <a:p>
            <a:pPr indent="0" marL="0">
              <a:buNone/>
            </a:pPr>
            <a:r>
              <a:rPr lang="en-US" sz="1400" b="1" dirty="0">
                <a:solidFill>
                  <a:srgbClr val="111827"/>
                </a:solidFill>
                <a:latin typeface="Arial" pitchFamily="34" charset="0"/>
                <a:ea typeface="Arial" pitchFamily="34" charset="-122"/>
                <a:cs typeface="Arial" pitchFamily="34" charset="-120"/>
              </a:rPr>
              <a:t>Teoman-Doganay Lam · Filip Lazic</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11 — AUFGABE C · VERGLEICH DER VERTEILUNGEN</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11 / 18</a:t>
            </a:r>
            <a:endParaRPr lang="en-US" sz="1050" dirty="0"/>
          </a:p>
        </p:txBody>
      </p:sp>
      <p:sp>
        <p:nvSpPr>
          <p:cNvPr id="4" name="Text 2"/>
          <p:cNvSpPr txBox="1"/>
          <p:nvPr/>
        </p:nvSpPr>
        <p:spPr>
          <a:xfrm>
            <a:off x="594360" y="749808"/>
            <a:ext cx="11002975" cy="566928"/>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Kein systematischer Nachteil je Fachbereich</a:t>
            </a:r>
            <a:endParaRPr lang="en-US" sz="3000" dirty="0"/>
          </a:p>
        </p:txBody>
      </p:sp>
      <p:sp>
        <p:nvSpPr>
          <p:cNvPr id="5" name="Text 3"/>
          <p:cNvSpPr txBox="1"/>
          <p:nvPr/>
        </p:nvSpPr>
        <p:spPr>
          <a:xfrm>
            <a:off x="594360" y="1371600"/>
            <a:ext cx="6858000" cy="274320"/>
          </a:xfrm>
          <a:prstGeom prst="rect">
            <a:avLst/>
          </a:prstGeom>
          <a:noFill/>
          <a:ln/>
        </p:spPr>
        <p:txBody>
          <a:bodyPr wrap="square" lIns="0" tIns="0" rIns="0" bIns="0" rtlCol="0" anchor="t"/>
          <a:lstStyle/>
          <a:p>
            <a:pPr indent="0" marL="0">
              <a:buNone/>
            </a:pPr>
            <a:r>
              <a:rPr lang="en-US" sz="1500" dirty="0">
                <a:solidFill>
                  <a:srgbClr val="5B6472"/>
                </a:solidFill>
                <a:latin typeface="Arial" pitchFamily="34" charset="0"/>
                <a:ea typeface="Arial" pitchFamily="34" charset="-122"/>
                <a:cs typeface="Arial" pitchFamily="34" charset="-120"/>
              </a:rPr>
              <a:t>Zulassungsquote in %, Frauen in 4 von 6 Fachbereichen vorne</a:t>
            </a:r>
            <a:endParaRPr lang="en-US" sz="1500" dirty="0"/>
          </a:p>
        </p:txBody>
      </p:sp>
      <p:sp>
        <p:nvSpPr>
          <p:cNvPr id="6" name="Shape 4"/>
          <p:cNvSpPr/>
          <p:nvPr/>
        </p:nvSpPr>
        <p:spPr>
          <a:xfrm>
            <a:off x="9052560" y="1435608"/>
            <a:ext cx="146304" cy="146304"/>
          </a:xfrm>
          <a:prstGeom prst="rect">
            <a:avLst/>
          </a:prstGeom>
          <a:solidFill>
            <a:srgbClr val="E4572E"/>
          </a:solidFill>
          <a:ln w="12700">
            <a:solidFill>
              <a:srgbClr val="E4572E"/>
            </a:solidFill>
            <a:prstDash val="solid"/>
          </a:ln>
        </p:spPr>
      </p:sp>
      <p:sp>
        <p:nvSpPr>
          <p:cNvPr id="7" name="Text 5"/>
          <p:cNvSpPr txBox="1"/>
          <p:nvPr/>
        </p:nvSpPr>
        <p:spPr>
          <a:xfrm>
            <a:off x="9272016" y="1389888"/>
            <a:ext cx="649224" cy="237744"/>
          </a:xfrm>
          <a:prstGeom prst="rect">
            <a:avLst/>
          </a:prstGeom>
          <a:noFill/>
          <a:ln/>
        </p:spPr>
        <p:txBody>
          <a:bodyPr wrap="square" lIns="0" tIns="0" rIns="0" bIns="0" rtlCol="0" anchor="t"/>
          <a:lstStyle/>
          <a:p>
            <a:pPr indent="0" marL="0">
              <a:buNone/>
            </a:pPr>
            <a:r>
              <a:rPr lang="en-US" sz="1200" dirty="0">
                <a:solidFill>
                  <a:srgbClr val="111827"/>
                </a:solidFill>
                <a:latin typeface="Arial" pitchFamily="34" charset="0"/>
                <a:ea typeface="Arial" pitchFamily="34" charset="-122"/>
                <a:cs typeface="Arial" pitchFamily="34" charset="-120"/>
              </a:rPr>
              <a:t>Frauen</a:t>
            </a:r>
            <a:endParaRPr lang="en-US" sz="1200" dirty="0"/>
          </a:p>
        </p:txBody>
      </p:sp>
      <p:sp>
        <p:nvSpPr>
          <p:cNvPr id="8" name="Shape 6"/>
          <p:cNvSpPr/>
          <p:nvPr/>
        </p:nvSpPr>
        <p:spPr>
          <a:xfrm>
            <a:off x="10058400" y="1435608"/>
            <a:ext cx="146304" cy="146304"/>
          </a:xfrm>
          <a:prstGeom prst="rect">
            <a:avLst/>
          </a:prstGeom>
          <a:solidFill>
            <a:srgbClr val="2F4B7C"/>
          </a:solidFill>
          <a:ln w="12700">
            <a:solidFill>
              <a:srgbClr val="2F4B7C"/>
            </a:solidFill>
            <a:prstDash val="solid"/>
          </a:ln>
        </p:spPr>
      </p:sp>
      <p:sp>
        <p:nvSpPr>
          <p:cNvPr id="9" name="Text 7"/>
          <p:cNvSpPr txBox="1"/>
          <p:nvPr/>
        </p:nvSpPr>
        <p:spPr>
          <a:xfrm>
            <a:off x="10277856" y="1389888"/>
            <a:ext cx="649224" cy="237744"/>
          </a:xfrm>
          <a:prstGeom prst="rect">
            <a:avLst/>
          </a:prstGeom>
          <a:noFill/>
          <a:ln/>
        </p:spPr>
        <p:txBody>
          <a:bodyPr wrap="square" lIns="0" tIns="0" rIns="0" bIns="0" rtlCol="0" anchor="t"/>
          <a:lstStyle/>
          <a:p>
            <a:pPr indent="0" marL="0">
              <a:buNone/>
            </a:pPr>
            <a:r>
              <a:rPr lang="en-US" sz="1200" dirty="0">
                <a:solidFill>
                  <a:srgbClr val="111827"/>
                </a:solidFill>
                <a:latin typeface="Arial" pitchFamily="34" charset="0"/>
                <a:ea typeface="Arial" pitchFamily="34" charset="-122"/>
                <a:cs typeface="Arial" pitchFamily="34" charset="-120"/>
              </a:rPr>
              <a:t>Männer</a:t>
            </a:r>
            <a:endParaRPr lang="en-US" sz="1200" dirty="0"/>
          </a:p>
        </p:txBody>
      </p:sp>
      <p:graphicFrame>
        <p:nvGraphicFramePr>
          <p:cNvPr id="10" name="Chart 0" descr=""/>
          <p:cNvGraphicFramePr/>
          <p:nvPr/>
        </p:nvGraphicFramePr>
        <p:xfrm>
          <a:off x="502920" y="1783080"/>
          <a:ext cx="11185855" cy="43434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Eigene Darstellung; Daten: ZHAW SML (2026), Tabelle 4; PP = Frauen minus Männer in Prozentpunkten, ungerundet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12 — AUFGABE C · VERTEILUNG DER BEWERBUNGEN</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12 / 18</a:t>
            </a:r>
            <a:endParaRPr lang="en-US" sz="1050" dirty="0"/>
          </a:p>
        </p:txBody>
      </p:sp>
      <p:sp>
        <p:nvSpPr>
          <p:cNvPr id="4" name="Text 2"/>
          <p:cNvSpPr txBox="1"/>
          <p:nvPr/>
        </p:nvSpPr>
        <p:spPr>
          <a:xfrm>
            <a:off x="594360" y="749808"/>
            <a:ext cx="11002975" cy="566928"/>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Frauen bewarben sich vor allem in selektiven Fachbereichen</a:t>
            </a:r>
            <a:endParaRPr lang="en-US" sz="3000" dirty="0"/>
          </a:p>
        </p:txBody>
      </p:sp>
      <p:sp>
        <p:nvSpPr>
          <p:cNvPr id="5" name="Shape 3"/>
          <p:cNvSpPr/>
          <p:nvPr/>
        </p:nvSpPr>
        <p:spPr>
          <a:xfrm>
            <a:off x="594360" y="1463040"/>
            <a:ext cx="146304" cy="146304"/>
          </a:xfrm>
          <a:prstGeom prst="rect">
            <a:avLst/>
          </a:prstGeom>
          <a:solidFill>
            <a:srgbClr val="111827"/>
          </a:solidFill>
          <a:ln w="12700">
            <a:solidFill>
              <a:srgbClr val="111827"/>
            </a:solidFill>
            <a:prstDash val="solid"/>
          </a:ln>
        </p:spPr>
      </p:sp>
      <p:sp>
        <p:nvSpPr>
          <p:cNvPr id="6" name="Text 4"/>
          <p:cNvSpPr txBox="1"/>
          <p:nvPr/>
        </p:nvSpPr>
        <p:spPr>
          <a:xfrm>
            <a:off x="813816" y="1417320"/>
            <a:ext cx="2825496" cy="237744"/>
          </a:xfrm>
          <a:prstGeom prst="rect">
            <a:avLst/>
          </a:prstGeom>
          <a:noFill/>
          <a:ln/>
        </p:spPr>
        <p:txBody>
          <a:bodyPr wrap="square" lIns="0" tIns="0" rIns="0" bIns="0" rtlCol="0" anchor="t"/>
          <a:lstStyle/>
          <a:p>
            <a:pPr indent="0" marL="0">
              <a:buNone/>
            </a:pPr>
            <a:r>
              <a:rPr lang="en-US" sz="1200" dirty="0">
                <a:solidFill>
                  <a:srgbClr val="111827"/>
                </a:solidFill>
                <a:latin typeface="Arial" pitchFamily="34" charset="0"/>
                <a:ea typeface="Arial" pitchFamily="34" charset="-122"/>
                <a:cs typeface="Arial" pitchFamily="34" charset="-120"/>
              </a:rPr>
              <a:t>A und B: Zulassungsquote rund 64 %</a:t>
            </a:r>
            <a:endParaRPr lang="en-US" sz="1200" dirty="0"/>
          </a:p>
        </p:txBody>
      </p:sp>
      <p:sp>
        <p:nvSpPr>
          <p:cNvPr id="7" name="Shape 5"/>
          <p:cNvSpPr/>
          <p:nvPr/>
        </p:nvSpPr>
        <p:spPr>
          <a:xfrm>
            <a:off x="3776472" y="1463040"/>
            <a:ext cx="146304" cy="146304"/>
          </a:xfrm>
          <a:prstGeom prst="rect">
            <a:avLst/>
          </a:prstGeom>
          <a:solidFill>
            <a:srgbClr val="6B7280"/>
          </a:solidFill>
          <a:ln w="12700">
            <a:solidFill>
              <a:srgbClr val="6B7280"/>
            </a:solidFill>
            <a:prstDash val="solid"/>
          </a:ln>
        </p:spPr>
      </p:sp>
      <p:sp>
        <p:nvSpPr>
          <p:cNvPr id="8" name="Text 6"/>
          <p:cNvSpPr txBox="1"/>
          <p:nvPr/>
        </p:nvSpPr>
        <p:spPr>
          <a:xfrm>
            <a:off x="3995928" y="1417320"/>
            <a:ext cx="2903220" cy="237744"/>
          </a:xfrm>
          <a:prstGeom prst="rect">
            <a:avLst/>
          </a:prstGeom>
          <a:noFill/>
          <a:ln/>
        </p:spPr>
        <p:txBody>
          <a:bodyPr wrap="square" lIns="0" tIns="0" rIns="0" bIns="0" rtlCol="0" anchor="t"/>
          <a:lstStyle/>
          <a:p>
            <a:pPr indent="0" marL="0">
              <a:buNone/>
            </a:pPr>
            <a:r>
              <a:rPr lang="en-US" sz="1200" dirty="0">
                <a:solidFill>
                  <a:srgbClr val="111827"/>
                </a:solidFill>
                <a:latin typeface="Arial" pitchFamily="34" charset="0"/>
                <a:ea typeface="Arial" pitchFamily="34" charset="-122"/>
                <a:cs typeface="Arial" pitchFamily="34" charset="-120"/>
              </a:rPr>
              <a:t>C bis F: Zulassungsquote 6 bis 35 %</a:t>
            </a:r>
            <a:endParaRPr lang="en-US" sz="1200" dirty="0"/>
          </a:p>
        </p:txBody>
      </p:sp>
      <p:graphicFrame>
        <p:nvGraphicFramePr>
          <p:cNvPr id="9" name="Chart 0" descr=""/>
          <p:cNvGraphicFramePr/>
          <p:nvPr/>
        </p:nvGraphicFramePr>
        <p:xfrm>
          <a:off x="502920" y="1783080"/>
          <a:ext cx="11185855" cy="201168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594360" y="4160520"/>
            <a:ext cx="3383280" cy="0"/>
          </a:xfrm>
          <a:prstGeom prst="line">
            <a:avLst/>
          </a:prstGeom>
          <a:noFill/>
          <a:ln w="9525">
            <a:solidFill>
              <a:srgbClr val="D5DAE1"/>
            </a:solidFill>
            <a:prstDash val="solid"/>
          </a:ln>
        </p:spPr>
      </p:sp>
      <p:sp>
        <p:nvSpPr>
          <p:cNvPr id="11" name="Text 8"/>
          <p:cNvSpPr txBox="1"/>
          <p:nvPr/>
        </p:nvSpPr>
        <p:spPr>
          <a:xfrm>
            <a:off x="594360" y="4297680"/>
            <a:ext cx="3383280" cy="868680"/>
          </a:xfrm>
          <a:prstGeom prst="rect">
            <a:avLst/>
          </a:prstGeom>
          <a:noFill/>
          <a:ln/>
        </p:spPr>
        <p:txBody>
          <a:bodyPr wrap="square" lIns="0" tIns="0" rIns="0" bIns="0" rtlCol="0" anchor="t"/>
          <a:lstStyle/>
          <a:p>
            <a:pPr indent="0" marL="0">
              <a:buNone/>
            </a:pPr>
            <a:r>
              <a:rPr lang="en-US" sz="5000" b="1" dirty="0">
                <a:solidFill>
                  <a:srgbClr val="E4572E"/>
                </a:solidFill>
                <a:latin typeface="Arial" pitchFamily="34" charset="0"/>
                <a:ea typeface="Arial" pitchFamily="34" charset="-122"/>
                <a:cs typeface="Arial" pitchFamily="34" charset="-120"/>
              </a:rPr>
              <a:t>7.2 %</a:t>
            </a:r>
            <a:endParaRPr lang="en-US" sz="5000" dirty="0"/>
          </a:p>
        </p:txBody>
      </p:sp>
      <p:sp>
        <p:nvSpPr>
          <p:cNvPr id="12" name="Text 9"/>
          <p:cNvSpPr txBox="1"/>
          <p:nvPr/>
        </p:nvSpPr>
        <p:spPr>
          <a:xfrm>
            <a:off x="594360" y="5212080"/>
            <a:ext cx="3291840" cy="82296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der Frauen bewarben sich in A oder B – 92.8 % in C bis F</a:t>
            </a:r>
            <a:endParaRPr lang="en-US" sz="1400" dirty="0"/>
          </a:p>
        </p:txBody>
      </p:sp>
      <p:sp>
        <p:nvSpPr>
          <p:cNvPr id="13" name="Shape 10"/>
          <p:cNvSpPr/>
          <p:nvPr/>
        </p:nvSpPr>
        <p:spPr>
          <a:xfrm>
            <a:off x="4343400" y="4160520"/>
            <a:ext cx="3383280" cy="0"/>
          </a:xfrm>
          <a:prstGeom prst="line">
            <a:avLst/>
          </a:prstGeom>
          <a:noFill/>
          <a:ln w="9525">
            <a:solidFill>
              <a:srgbClr val="D5DAE1"/>
            </a:solidFill>
            <a:prstDash val="solid"/>
          </a:ln>
        </p:spPr>
      </p:sp>
      <p:sp>
        <p:nvSpPr>
          <p:cNvPr id="14" name="Text 11"/>
          <p:cNvSpPr txBox="1"/>
          <p:nvPr/>
        </p:nvSpPr>
        <p:spPr>
          <a:xfrm>
            <a:off x="4343400" y="4297680"/>
            <a:ext cx="3383280" cy="868680"/>
          </a:xfrm>
          <a:prstGeom prst="rect">
            <a:avLst/>
          </a:prstGeom>
          <a:noFill/>
          <a:ln/>
        </p:spPr>
        <p:txBody>
          <a:bodyPr wrap="square" lIns="0" tIns="0" rIns="0" bIns="0" rtlCol="0" anchor="t"/>
          <a:lstStyle/>
          <a:p>
            <a:pPr indent="0" marL="0">
              <a:buNone/>
            </a:pPr>
            <a:r>
              <a:rPr lang="en-US" sz="5000" b="1" dirty="0">
                <a:solidFill>
                  <a:srgbClr val="2F4B7C"/>
                </a:solidFill>
                <a:latin typeface="Arial" pitchFamily="34" charset="0"/>
                <a:ea typeface="Arial" pitchFamily="34" charset="-122"/>
                <a:cs typeface="Arial" pitchFamily="34" charset="-120"/>
              </a:rPr>
              <a:t>51.5 %</a:t>
            </a:r>
            <a:endParaRPr lang="en-US" sz="5000" dirty="0"/>
          </a:p>
        </p:txBody>
      </p:sp>
      <p:sp>
        <p:nvSpPr>
          <p:cNvPr id="15" name="Text 12"/>
          <p:cNvSpPr txBox="1"/>
          <p:nvPr/>
        </p:nvSpPr>
        <p:spPr>
          <a:xfrm>
            <a:off x="4343400" y="5212080"/>
            <a:ext cx="3291840" cy="82296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der Männer bewarben sich in A oder B – über die Hälfte</a:t>
            </a:r>
            <a:endParaRPr lang="en-US" sz="1400" dirty="0"/>
          </a:p>
        </p:txBody>
      </p:sp>
      <p:sp>
        <p:nvSpPr>
          <p:cNvPr id="16" name="Shape 13"/>
          <p:cNvSpPr/>
          <p:nvPr/>
        </p:nvSpPr>
        <p:spPr>
          <a:xfrm>
            <a:off x="8092440" y="4160520"/>
            <a:ext cx="3383280" cy="0"/>
          </a:xfrm>
          <a:prstGeom prst="line">
            <a:avLst/>
          </a:prstGeom>
          <a:noFill/>
          <a:ln w="9525">
            <a:solidFill>
              <a:srgbClr val="D5DAE1"/>
            </a:solidFill>
            <a:prstDash val="solid"/>
          </a:ln>
        </p:spPr>
      </p:sp>
      <p:sp>
        <p:nvSpPr>
          <p:cNvPr id="17" name="Text 14"/>
          <p:cNvSpPr txBox="1"/>
          <p:nvPr/>
        </p:nvSpPr>
        <p:spPr>
          <a:xfrm>
            <a:off x="8092440" y="4297680"/>
            <a:ext cx="3383280" cy="868680"/>
          </a:xfrm>
          <a:prstGeom prst="rect">
            <a:avLst/>
          </a:prstGeom>
          <a:noFill/>
          <a:ln/>
        </p:spPr>
        <p:txBody>
          <a:bodyPr wrap="square" lIns="0" tIns="0" rIns="0" bIns="0" rtlCol="0" anchor="t"/>
          <a:lstStyle/>
          <a:p>
            <a:pPr indent="0" marL="0">
              <a:buNone/>
            </a:pPr>
            <a:r>
              <a:rPr lang="en-US" sz="5000" b="1" dirty="0">
                <a:solidFill>
                  <a:srgbClr val="111827"/>
                </a:solidFill>
                <a:latin typeface="Arial" pitchFamily="34" charset="0"/>
                <a:ea typeface="Arial" pitchFamily="34" charset="-122"/>
                <a:cs typeface="Arial" pitchFamily="34" charset="-120"/>
              </a:rPr>
              <a:t>−0.79</a:t>
            </a:r>
            <a:endParaRPr lang="en-US" sz="5000" dirty="0"/>
          </a:p>
        </p:txBody>
      </p:sp>
      <p:sp>
        <p:nvSpPr>
          <p:cNvPr id="18" name="Text 15"/>
          <p:cNvSpPr txBox="1"/>
          <p:nvPr/>
        </p:nvSpPr>
        <p:spPr>
          <a:xfrm>
            <a:off x="8092440" y="5212080"/>
            <a:ext cx="3291840" cy="822960"/>
          </a:xfrm>
          <a:prstGeom prst="rect">
            <a:avLst/>
          </a:prstGeom>
          <a:noFill/>
          <a:ln/>
        </p:spPr>
        <p:txBody>
          <a:bodyPr wrap="square" lIns="0" tIns="0" rIns="0" bIns="0" rtlCol="0" anchor="t"/>
          <a:lstStyle/>
          <a:p>
            <a:pPr indent="0" marL="0">
              <a:lnSpc>
                <a:spcPct val="110000"/>
              </a:lnSpc>
              <a:buNone/>
            </a:pPr>
            <a:r>
              <a:rPr lang="en-US" sz="1400" dirty="0">
                <a:solidFill>
                  <a:srgbClr val="5B6472"/>
                </a:solidFill>
                <a:latin typeface="Arial" pitchFamily="34" charset="0"/>
                <a:ea typeface="Arial" pitchFamily="34" charset="-122"/>
                <a:cs typeface="Arial" pitchFamily="34" charset="-120"/>
              </a:rPr>
              <a:t>Korrelation: Je höher der Frauenanteil eines Fachbereichs, desto tiefer seine Zulassungsquote</a:t>
            </a:r>
            <a:endParaRPr lang="en-US" sz="1400" dirty="0"/>
          </a:p>
        </p:txBody>
      </p:sp>
      <p:sp>
        <p:nvSpPr>
          <p:cNvPr id="19" name="Text 16"/>
          <p:cNvSpPr txBox="1"/>
          <p:nvPr/>
        </p:nvSpPr>
        <p:spPr>
          <a:xfrm>
            <a:off x="594360" y="6053328"/>
            <a:ext cx="11002975" cy="274320"/>
          </a:xfrm>
          <a:prstGeom prst="rect">
            <a:avLst/>
          </a:prstGeom>
          <a:noFill/>
          <a:ln/>
        </p:spPr>
        <p:txBody>
          <a:bodyPr wrap="square" lIns="0" tIns="0" rIns="0" bIns="0" rtlCol="0" anchor="t"/>
          <a:lstStyle/>
          <a:p>
            <a:pPr indent="0" marL="0">
              <a:buNone/>
            </a:pPr>
            <a:r>
              <a:rPr lang="en-US" sz="1200" b="1" dirty="0">
                <a:solidFill>
                  <a:srgbClr val="111827"/>
                </a:solidFill>
                <a:latin typeface="Arial" pitchFamily="34" charset="0"/>
                <a:ea typeface="Arial" pitchFamily="34" charset="-122"/>
                <a:cs typeface="Arial" pitchFamily="34" charset="-120"/>
              </a:rPr>
              <a:t>Beispiel: FB A 11.6 % Frauen, Quote 64.4 % · FB E 67.3 % Frauen, Quote 25.2 %</a:t>
            </a:r>
            <a:endParaRPr lang="en-US" sz="1200" dirty="0"/>
          </a:p>
        </p:txBody>
      </p:sp>
      <p:sp>
        <p:nvSpPr>
          <p:cNvPr id="20" name="Text 17"/>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Eigene Darstellung und Berechnung; Daten: Bickel et al. (1975); ZHAW SML (2026), Tabelle 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13 — AUFGABE C · SATZ DER TOTALEN WAHRSCHEINLICHKEIT</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13 / 18</a:t>
            </a:r>
            <a:endParaRPr lang="en-US" sz="1050" dirty="0"/>
          </a:p>
        </p:txBody>
      </p:sp>
      <p:sp>
        <p:nvSpPr>
          <p:cNvPr id="4" name="Text 2"/>
          <p:cNvSpPr txBox="1"/>
          <p:nvPr/>
        </p:nvSpPr>
        <p:spPr>
          <a:xfrm>
            <a:off x="594360" y="749808"/>
            <a:ext cx="11002975" cy="566928"/>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Die Gesamtquote ist ein gewichteter Mittelwert</a:t>
            </a:r>
            <a:endParaRPr lang="en-US" sz="3000" dirty="0"/>
          </a:p>
        </p:txBody>
      </p:sp>
      <p:sp>
        <p:nvSpPr>
          <p:cNvPr id="5" name="Shape 3"/>
          <p:cNvSpPr/>
          <p:nvPr/>
        </p:nvSpPr>
        <p:spPr>
          <a:xfrm>
            <a:off x="0" y="1463040"/>
            <a:ext cx="12191695" cy="1371600"/>
          </a:xfrm>
          <a:prstGeom prst="rect">
            <a:avLst/>
          </a:prstGeom>
          <a:solidFill>
            <a:srgbClr val="F2F4F7"/>
          </a:solidFill>
          <a:ln w="12700">
            <a:solidFill>
              <a:srgbClr val="F2F4F7"/>
            </a:solidFill>
            <a:prstDash val="solid"/>
          </a:ln>
        </p:spPr>
      </p:sp>
      <p:sp>
        <p:nvSpPr>
          <p:cNvPr id="6" name="Text 4"/>
          <p:cNvSpPr txBox="1"/>
          <p:nvPr/>
        </p:nvSpPr>
        <p:spPr>
          <a:xfrm>
            <a:off x="594360" y="1645920"/>
            <a:ext cx="54864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ALLE WEGE IM BAUMDIAGRAMM ADDIEREN</a:t>
            </a:r>
            <a:endParaRPr lang="en-US" sz="1050" dirty="0"/>
          </a:p>
        </p:txBody>
      </p:sp>
      <p:sp>
        <p:nvSpPr>
          <p:cNvPr id="7" name="Text 5"/>
          <p:cNvSpPr txBox="1"/>
          <p:nvPr/>
        </p:nvSpPr>
        <p:spPr>
          <a:xfrm>
            <a:off x="594360" y="1965960"/>
            <a:ext cx="6583680" cy="640080"/>
          </a:xfrm>
          <a:prstGeom prst="rect">
            <a:avLst/>
          </a:prstGeom>
          <a:noFill/>
          <a:ln/>
        </p:spPr>
        <p:txBody>
          <a:bodyPr wrap="square" lIns="0" tIns="0" rIns="0" bIns="0" rtlCol="0" anchor="t"/>
          <a:lstStyle/>
          <a:p>
            <a:pPr indent="0" marL="0">
              <a:buNone/>
            </a:pPr>
            <a:r>
              <a:rPr lang="en-US" sz="3200" b="1" dirty="0">
                <a:solidFill>
                  <a:srgbClr val="111827"/>
                </a:solidFill>
                <a:latin typeface="Arial" pitchFamily="34" charset="0"/>
                <a:ea typeface="Arial" pitchFamily="34" charset="-122"/>
                <a:cs typeface="Arial" pitchFamily="34" charset="-120"/>
              </a:rPr>
              <a:t>P(Z | G) = Σ P(F</a:t>
            </a:r>
            <a:pPr indent="0" marL="0">
              <a:buNone/>
            </a:pPr>
            <a:r>
              <a:rPr lang="en-US" sz="3200" b="1" baseline="-40000" dirty="0">
                <a:solidFill>
                  <a:srgbClr val="111827"/>
                </a:solidFill>
                <a:latin typeface="Arial" pitchFamily="34" charset="0"/>
                <a:ea typeface="Arial" pitchFamily="34" charset="-122"/>
                <a:cs typeface="Arial" pitchFamily="34" charset="-120"/>
              </a:rPr>
              <a:t>i</a:t>
            </a:r>
            <a:pPr indent="0" marL="0">
              <a:buNone/>
            </a:pPr>
            <a:r>
              <a:rPr lang="en-US" sz="3200" b="1" dirty="0">
                <a:solidFill>
                  <a:srgbClr val="111827"/>
                </a:solidFill>
                <a:latin typeface="Arial" pitchFamily="34" charset="0"/>
                <a:ea typeface="Arial" pitchFamily="34" charset="-122"/>
                <a:cs typeface="Arial" pitchFamily="34" charset="-120"/>
              </a:rPr>
              <a:t> | G) · P(Z | F</a:t>
            </a:r>
            <a:pPr indent="0" marL="0">
              <a:buNone/>
            </a:pPr>
            <a:r>
              <a:rPr lang="en-US" sz="3200" b="1" baseline="-40000" dirty="0">
                <a:solidFill>
                  <a:srgbClr val="111827"/>
                </a:solidFill>
                <a:latin typeface="Arial" pitchFamily="34" charset="0"/>
                <a:ea typeface="Arial" pitchFamily="34" charset="-122"/>
                <a:cs typeface="Arial" pitchFamily="34" charset="-120"/>
              </a:rPr>
              <a:t>i</a:t>
            </a:r>
            <a:pPr indent="0" marL="0">
              <a:buNone/>
            </a:pPr>
            <a:r>
              <a:rPr lang="en-US" sz="3200" b="1" dirty="0">
                <a:solidFill>
                  <a:srgbClr val="111827"/>
                </a:solidFill>
                <a:latin typeface="Arial" pitchFamily="34" charset="0"/>
                <a:ea typeface="Arial" pitchFamily="34" charset="-122"/>
                <a:cs typeface="Arial" pitchFamily="34" charset="-120"/>
              </a:rPr>
              <a:t>, G)</a:t>
            </a:r>
            <a:endParaRPr lang="en-US" sz="3200" dirty="0"/>
          </a:p>
        </p:txBody>
      </p:sp>
      <p:sp>
        <p:nvSpPr>
          <p:cNvPr id="8" name="Text 6"/>
          <p:cNvSpPr txBox="1"/>
          <p:nvPr/>
        </p:nvSpPr>
        <p:spPr>
          <a:xfrm>
            <a:off x="7498080" y="1691640"/>
            <a:ext cx="4096512" cy="1005840"/>
          </a:xfrm>
          <a:prstGeom prst="rect">
            <a:avLst/>
          </a:prstGeom>
          <a:noFill/>
          <a:ln/>
        </p:spPr>
        <p:txBody>
          <a:bodyPr wrap="square" lIns="0" tIns="0" rIns="0" bIns="0" rtlCol="0" anchor="t"/>
          <a:lstStyle/>
          <a:p>
            <a:pPr indent="0" marL="0">
              <a:lnSpc>
                <a:spcPct val="115000"/>
              </a:lnSpc>
              <a:buNone/>
            </a:pPr>
            <a:r>
              <a:rPr lang="en-US" sz="1500" dirty="0">
                <a:solidFill>
                  <a:srgbClr val="111827"/>
                </a:solidFill>
                <a:latin typeface="Arial" pitchFamily="34" charset="0"/>
                <a:ea typeface="Arial" pitchFamily="34" charset="-122"/>
                <a:cs typeface="Arial" pitchFamily="34" charset="-120"/>
              </a:rPr>
              <a:t>Frauen haben ihre grossen Gewichte bei den tiefen Quoten. Mit gleichen Gewichten für beide kehrt sich der Unterschied um.</a:t>
            </a:r>
            <a:endParaRPr lang="en-US" sz="1500" dirty="0"/>
          </a:p>
        </p:txBody>
      </p:sp>
      <p:sp>
        <p:nvSpPr>
          <p:cNvPr id="9" name="Text 7"/>
          <p:cNvSpPr txBox="1"/>
          <p:nvPr/>
        </p:nvSpPr>
        <p:spPr>
          <a:xfrm>
            <a:off x="594360" y="3154680"/>
            <a:ext cx="4572000" cy="274320"/>
          </a:xfrm>
          <a:prstGeom prst="rect">
            <a:avLst/>
          </a:prstGeom>
          <a:noFill/>
          <a:ln/>
        </p:spPr>
        <p:txBody>
          <a:bodyPr wrap="square" lIns="0" tIns="0" rIns="0" bIns="0" rtlCol="0" anchor="t"/>
          <a:lstStyle/>
          <a:p>
            <a:pPr indent="0" marL="0">
              <a:buNone/>
            </a:pPr>
            <a:r>
              <a:rPr lang="en-US" sz="1500" b="1" dirty="0">
                <a:solidFill>
                  <a:srgbClr val="111827"/>
                </a:solidFill>
                <a:latin typeface="Arial" pitchFamily="34" charset="0"/>
                <a:ea typeface="Arial" pitchFamily="34" charset="-122"/>
                <a:cs typeface="Arial" pitchFamily="34" charset="-120"/>
              </a:rPr>
              <a:t>Tatsächlich</a:t>
            </a:r>
            <a:endParaRPr lang="en-US" sz="1500" dirty="0"/>
          </a:p>
        </p:txBody>
      </p:sp>
      <p:graphicFrame>
        <p:nvGraphicFramePr>
          <p:cNvPr id="10" name="Chart 0" descr=""/>
          <p:cNvGraphicFramePr/>
          <p:nvPr/>
        </p:nvGraphicFramePr>
        <p:xfrm>
          <a:off x="502920" y="3474720"/>
          <a:ext cx="4754880" cy="269748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6812280" y="3154680"/>
            <a:ext cx="4572000" cy="274320"/>
          </a:xfrm>
          <a:prstGeom prst="rect">
            <a:avLst/>
          </a:prstGeom>
          <a:noFill/>
          <a:ln/>
        </p:spPr>
        <p:txBody>
          <a:bodyPr wrap="square" lIns="0" tIns="0" rIns="0" bIns="0" rtlCol="0" anchor="t"/>
          <a:lstStyle/>
          <a:p>
            <a:pPr indent="0" marL="0">
              <a:buNone/>
            </a:pPr>
            <a:r>
              <a:rPr lang="en-US" sz="1500" b="1" dirty="0">
                <a:solidFill>
                  <a:srgbClr val="111827"/>
                </a:solidFill>
                <a:latin typeface="Arial" pitchFamily="34" charset="0"/>
                <a:ea typeface="Arial" pitchFamily="34" charset="-122"/>
                <a:cs typeface="Arial" pitchFamily="34" charset="-120"/>
              </a:rPr>
              <a:t>Bei gleicher Fachbereichswahl</a:t>
            </a:r>
            <a:endParaRPr lang="en-US" sz="1500" dirty="0"/>
          </a:p>
        </p:txBody>
      </p:sp>
      <p:graphicFrame>
        <p:nvGraphicFramePr>
          <p:cNvPr id="12" name="Chart 1" descr=""/>
          <p:cNvGraphicFramePr/>
          <p:nvPr/>
        </p:nvGraphicFramePr>
        <p:xfrm>
          <a:off x="6720840" y="3474720"/>
          <a:ext cx="4754880" cy="2697480"/>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5486400" y="4526280"/>
            <a:ext cx="1005840" cy="457200"/>
          </a:xfrm>
          <a:prstGeom prst="rightArrow">
            <a:avLst/>
          </a:prstGeom>
          <a:solidFill>
            <a:srgbClr val="E4572E"/>
          </a:solidFill>
          <a:ln w="12700">
            <a:solidFill>
              <a:srgbClr val="E4572E"/>
            </a:solidFill>
            <a:prstDash val="solid"/>
          </a:ln>
        </p:spPr>
      </p:sp>
      <p:sp>
        <p:nvSpPr>
          <p:cNvPr id="14" name="Text 10"/>
          <p:cNvSpPr txBox="1"/>
          <p:nvPr/>
        </p:nvSpPr>
        <p:spPr>
          <a:xfrm>
            <a:off x="5257800" y="5074920"/>
            <a:ext cx="1463040" cy="274320"/>
          </a:xfrm>
          <a:prstGeom prst="rect">
            <a:avLst/>
          </a:prstGeom>
          <a:noFill/>
          <a:ln/>
        </p:spPr>
        <p:txBody>
          <a:bodyPr wrap="square" lIns="0" tIns="0" rIns="0" bIns="0" rtlCol="0" anchor="t"/>
          <a:lstStyle/>
          <a:p>
            <a:pPr algn="ctr" indent="0" marL="0">
              <a:buNone/>
            </a:pPr>
            <a:r>
              <a:rPr lang="en-US" sz="1200" dirty="0">
                <a:solidFill>
                  <a:srgbClr val="5B6472"/>
                </a:solidFill>
                <a:latin typeface="Arial" pitchFamily="34" charset="0"/>
                <a:ea typeface="Arial" pitchFamily="34" charset="-122"/>
                <a:cs typeface="Arial" pitchFamily="34" charset="-120"/>
              </a:rPr>
              <a:t>gleiche Gewichte</a:t>
            </a:r>
            <a:endParaRPr lang="en-US" sz="1200" dirty="0"/>
          </a:p>
        </p:txBody>
      </p:sp>
      <p:sp>
        <p:nvSpPr>
          <p:cNvPr id="15" name="Text 11"/>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Eigene Darstellung und Berechnung; Schnauss (o. J.-b, Folie 37); Daten: Bickel et al. (1975)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14 — AUFGABE C · STOCHASTISCHE UNABHÄNGIGKEIT</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14 / 18</a:t>
            </a:r>
            <a:endParaRPr lang="en-US" sz="1050" dirty="0"/>
          </a:p>
        </p:txBody>
      </p:sp>
      <p:sp>
        <p:nvSpPr>
          <p:cNvPr id="4" name="Text 2"/>
          <p:cNvSpPr txBox="1"/>
          <p:nvPr/>
        </p:nvSpPr>
        <p:spPr>
          <a:xfrm>
            <a:off x="594360" y="749808"/>
            <a:ext cx="11002975" cy="566928"/>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Insgesamt sind Zulassung und Geschlecht abhängig</a:t>
            </a:r>
            <a:endParaRPr lang="en-US" sz="3000" dirty="0"/>
          </a:p>
        </p:txBody>
      </p:sp>
      <p:sp>
        <p:nvSpPr>
          <p:cNvPr id="5" name="Text 3"/>
          <p:cNvSpPr txBox="1"/>
          <p:nvPr/>
        </p:nvSpPr>
        <p:spPr>
          <a:xfrm>
            <a:off x="594360" y="1417320"/>
            <a:ext cx="11002975" cy="320040"/>
          </a:xfrm>
          <a:prstGeom prst="rect">
            <a:avLst/>
          </a:prstGeom>
          <a:noFill/>
          <a:ln/>
        </p:spPr>
        <p:txBody>
          <a:bodyPr wrap="square" lIns="0" tIns="0" rIns="0" bIns="0" rtlCol="0" anchor="t"/>
          <a:lstStyle/>
          <a:p>
            <a:pPr indent="0" marL="0">
              <a:buNone/>
            </a:pPr>
            <a:r>
              <a:rPr lang="en-US" sz="1600" b="1" dirty="0">
                <a:solidFill>
                  <a:srgbClr val="111827"/>
                </a:solidFill>
                <a:latin typeface="Arial" pitchFamily="34" charset="0"/>
                <a:ea typeface="Arial" pitchFamily="34" charset="-122"/>
                <a:cs typeface="Arial" pitchFamily="34" charset="-120"/>
              </a:rPr>
              <a:t>Z</a:t>
            </a:r>
            <a:pPr indent="0" marL="0">
              <a:buNone/>
            </a:pPr>
            <a:r>
              <a:rPr lang="en-US" sz="1600" dirty="0">
                <a:solidFill>
                  <a:srgbClr val="111827"/>
                </a:solidFill>
                <a:latin typeface="Arial" pitchFamily="34" charset="0"/>
                <a:ea typeface="Arial" pitchFamily="34" charset="-122"/>
                <a:cs typeface="Arial" pitchFamily="34" charset="-120"/>
              </a:rPr>
              <a:t> = zugelassen,  </a:t>
            </a:r>
            <a:pPr indent="0" marL="0">
              <a:buNone/>
            </a:pPr>
            <a:r>
              <a:rPr lang="en-US" sz="1600" b="1" dirty="0">
                <a:solidFill>
                  <a:srgbClr val="111827"/>
                </a:solidFill>
                <a:latin typeface="Arial" pitchFamily="34" charset="0"/>
                <a:ea typeface="Arial" pitchFamily="34" charset="-122"/>
                <a:cs typeface="Arial" pitchFamily="34" charset="-120"/>
              </a:rPr>
              <a:t>W</a:t>
            </a:r>
            <a:pPr indent="0" marL="0">
              <a:buNone/>
            </a:pPr>
            <a:r>
              <a:rPr lang="en-US" sz="1600" dirty="0">
                <a:solidFill>
                  <a:srgbClr val="111827"/>
                </a:solidFill>
                <a:latin typeface="Arial" pitchFamily="34" charset="0"/>
                <a:ea typeface="Arial" pitchFamily="34" charset="-122"/>
                <a:cs typeface="Arial" pitchFamily="34" charset="-120"/>
              </a:rPr>
              <a:t> = Frau.  Unabhängig, falls  </a:t>
            </a:r>
            <a:pPr indent="0" marL="0">
              <a:buNone/>
            </a:pPr>
            <a:r>
              <a:rPr lang="en-US" sz="1600" b="1" dirty="0">
                <a:solidFill>
                  <a:srgbClr val="111827"/>
                </a:solidFill>
                <a:latin typeface="Arial" pitchFamily="34" charset="0"/>
                <a:ea typeface="Arial" pitchFamily="34" charset="-122"/>
                <a:cs typeface="Arial" pitchFamily="34" charset="-120"/>
              </a:rPr>
              <a:t>P(Z ∩ W) = P(Z) · P(W)</a:t>
            </a:r>
            <a:pPr indent="0" marL="0">
              <a:buNone/>
            </a:pPr>
            <a:r>
              <a:rPr lang="en-US" sz="1600" dirty="0">
                <a:solidFill>
                  <a:srgbClr val="111827"/>
                </a:solidFill>
                <a:latin typeface="Arial" pitchFamily="34" charset="0"/>
                <a:ea typeface="Arial" pitchFamily="34" charset="-122"/>
                <a:cs typeface="Arial" pitchFamily="34" charset="-120"/>
              </a:rPr>
              <a:t>,  gleichwertig  P(Z | W) = P(Z)</a:t>
            </a:r>
            <a:endParaRPr lang="en-US" sz="1600" dirty="0"/>
          </a:p>
        </p:txBody>
      </p:sp>
      <p:sp>
        <p:nvSpPr>
          <p:cNvPr id="6" name="Text 4"/>
          <p:cNvSpPr txBox="1"/>
          <p:nvPr/>
        </p:nvSpPr>
        <p:spPr>
          <a:xfrm>
            <a:off x="594360" y="2148840"/>
            <a:ext cx="54864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KREUZTABELLE, ALLE FACHBEREICHE</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2468880"/>
          <a:ext cx="5394960" cy="914400"/>
        </p:xfrm>
        <a:graphic>
          <a:graphicData uri="http://schemas.openxmlformats.org/drawingml/2006/table">
            <a:tbl>
              <a:tblPr/>
              <a:tblGrid>
                <a:gridCol w="1417320"/>
                <a:gridCol w="1325880"/>
                <a:gridCol w="1325880"/>
                <a:gridCol w="1325880"/>
              </a:tblGrid>
              <a:tr h="411480">
                <a:tc>
                  <a:txBody>
                    <a:bodyPr/>
                    <a:lstStyle/>
                    <a:p>
                      <a:pPr algn="l" indent="0" marL="0">
                        <a:buNone/>
                      </a:pP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111827"/>
                      </a:solidFill>
                      <a:prstDash val="solid"/>
                      <a:round/>
                      <a:headEnd type="none" w="med" len="med"/>
                      <a:tailEnd type="none" w="med" len="med"/>
                    </a:lnB>
                  </a:tcPr>
                </a:tc>
                <a:tc>
                  <a:txBody>
                    <a:bodyPr/>
                    <a:lstStyle/>
                    <a:p>
                      <a:pPr algn="r" indent="0" marL="0">
                        <a:buNone/>
                      </a:pPr>
                      <a:r>
                        <a:rPr lang="en-US" sz="1300" b="1" dirty="0">
                          <a:solidFill>
                            <a:srgbClr val="5B6472"/>
                          </a:solidFill>
                          <a:latin typeface="Arial" pitchFamily="34" charset="0"/>
                          <a:ea typeface="Arial" pitchFamily="34" charset="-122"/>
                          <a:cs typeface="Arial" pitchFamily="34" charset="-120"/>
                        </a:rPr>
                        <a:t>zugelassen</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111827"/>
                      </a:solidFill>
                      <a:prstDash val="solid"/>
                      <a:round/>
                      <a:headEnd type="none" w="med" len="med"/>
                      <a:tailEnd type="none" w="med" len="med"/>
                    </a:lnB>
                  </a:tcPr>
                </a:tc>
                <a:tc>
                  <a:txBody>
                    <a:bodyPr/>
                    <a:lstStyle/>
                    <a:p>
                      <a:pPr algn="r" indent="0" marL="0">
                        <a:buNone/>
                      </a:pPr>
                      <a:r>
                        <a:rPr lang="en-US" sz="1300" b="1" dirty="0">
                          <a:solidFill>
                            <a:srgbClr val="5B6472"/>
                          </a:solidFill>
                          <a:latin typeface="Arial" pitchFamily="34" charset="0"/>
                          <a:ea typeface="Arial" pitchFamily="34" charset="-122"/>
                          <a:cs typeface="Arial" pitchFamily="34" charset="-120"/>
                        </a:rPr>
                        <a:t>abgelehnt</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111827"/>
                      </a:solidFill>
                      <a:prstDash val="solid"/>
                      <a:round/>
                      <a:headEnd type="none" w="med" len="med"/>
                      <a:tailEnd type="none" w="med" len="med"/>
                    </a:lnB>
                  </a:tcPr>
                </a:tc>
                <a:tc>
                  <a:txBody>
                    <a:bodyPr/>
                    <a:lstStyle/>
                    <a:p>
                      <a:pPr algn="r" indent="0" marL="0">
                        <a:buNone/>
                      </a:pPr>
                      <a:r>
                        <a:rPr lang="en-US" sz="1300" b="1" dirty="0">
                          <a:solidFill>
                            <a:srgbClr val="5B6472"/>
                          </a:solidFill>
                          <a:latin typeface="Arial" pitchFamily="34" charset="0"/>
                          <a:ea typeface="Arial" pitchFamily="34" charset="-122"/>
                          <a:cs typeface="Arial" pitchFamily="34" charset="-120"/>
                        </a:rPr>
                        <a:t>Total</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111827"/>
                      </a:solidFill>
                      <a:prstDash val="solid"/>
                      <a:round/>
                      <a:headEnd type="none" w="med" len="med"/>
                      <a:tailEnd type="none" w="med" len="med"/>
                    </a:lnB>
                  </a:tcPr>
                </a:tc>
              </a:tr>
              <a:tr h="502920">
                <a:tc>
                  <a:txBody>
                    <a:bodyPr/>
                    <a:lstStyle/>
                    <a:p>
                      <a:pPr algn="l" indent="0" marL="0">
                        <a:buNone/>
                      </a:pPr>
                      <a:r>
                        <a:rPr lang="en-US" sz="1600" b="1" dirty="0">
                          <a:solidFill>
                            <a:srgbClr val="B93C17"/>
                          </a:solidFill>
                          <a:latin typeface="Arial" pitchFamily="34" charset="0"/>
                          <a:ea typeface="Arial" pitchFamily="34" charset="-122"/>
                          <a:cs typeface="Arial" pitchFamily="34" charset="-120"/>
                        </a:rPr>
                        <a:t>Frauen</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600" dirty="0">
                          <a:solidFill>
                            <a:srgbClr val="111827"/>
                          </a:solidFill>
                          <a:latin typeface="Arial" pitchFamily="34" charset="0"/>
                          <a:ea typeface="Arial" pitchFamily="34" charset="-122"/>
                          <a:cs typeface="Arial" pitchFamily="34" charset="-120"/>
                        </a:rPr>
                        <a:t>557</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600" dirty="0">
                          <a:solidFill>
                            <a:srgbClr val="111827"/>
                          </a:solidFill>
                          <a:latin typeface="Arial" pitchFamily="34" charset="0"/>
                          <a:ea typeface="Arial" pitchFamily="34" charset="-122"/>
                          <a:cs typeface="Arial" pitchFamily="34" charset="-120"/>
                        </a:rPr>
                        <a:t>1 278</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600" dirty="0">
                          <a:solidFill>
                            <a:srgbClr val="111827"/>
                          </a:solidFill>
                          <a:latin typeface="Arial" pitchFamily="34" charset="0"/>
                          <a:ea typeface="Arial" pitchFamily="34" charset="-122"/>
                          <a:cs typeface="Arial" pitchFamily="34" charset="-120"/>
                        </a:rPr>
                        <a:t>1 835</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02920">
                <a:tc>
                  <a:txBody>
                    <a:bodyPr/>
                    <a:lstStyle/>
                    <a:p>
                      <a:pPr algn="l" indent="0" marL="0">
                        <a:buNone/>
                      </a:pPr>
                      <a:r>
                        <a:rPr lang="en-US" sz="1600" b="1" dirty="0">
                          <a:solidFill>
                            <a:srgbClr val="2F4B7C"/>
                          </a:solidFill>
                          <a:latin typeface="Arial" pitchFamily="34" charset="0"/>
                          <a:ea typeface="Arial" pitchFamily="34" charset="-122"/>
                          <a:cs typeface="Arial" pitchFamily="34" charset="-120"/>
                        </a:rPr>
                        <a:t>Männer</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600" dirty="0">
                          <a:solidFill>
                            <a:srgbClr val="111827"/>
                          </a:solidFill>
                          <a:latin typeface="Arial" pitchFamily="34" charset="0"/>
                          <a:ea typeface="Arial" pitchFamily="34" charset="-122"/>
                          <a:cs typeface="Arial" pitchFamily="34" charset="-120"/>
                        </a:rPr>
                        <a:t>1 198</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600" dirty="0">
                          <a:solidFill>
                            <a:srgbClr val="111827"/>
                          </a:solidFill>
                          <a:latin typeface="Arial" pitchFamily="34" charset="0"/>
                          <a:ea typeface="Arial" pitchFamily="34" charset="-122"/>
                          <a:cs typeface="Arial" pitchFamily="34" charset="-120"/>
                        </a:rPr>
                        <a:t>1 493</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600" dirty="0">
                          <a:solidFill>
                            <a:srgbClr val="111827"/>
                          </a:solidFill>
                          <a:latin typeface="Arial" pitchFamily="34" charset="0"/>
                          <a:ea typeface="Arial" pitchFamily="34" charset="-122"/>
                          <a:cs typeface="Arial" pitchFamily="34" charset="-120"/>
                        </a:rPr>
                        <a:t>2 691</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02920">
                <a:tc>
                  <a:txBody>
                    <a:bodyPr/>
                    <a:lstStyle/>
                    <a:p>
                      <a:pPr algn="l" indent="0" marL="0">
                        <a:buNone/>
                      </a:pPr>
                      <a:r>
                        <a:rPr lang="en-US" sz="1600" b="1" dirty="0">
                          <a:solidFill>
                            <a:srgbClr val="111827"/>
                          </a:solidFill>
                          <a:latin typeface="Arial" pitchFamily="34" charset="0"/>
                          <a:ea typeface="Arial" pitchFamily="34" charset="-122"/>
                          <a:cs typeface="Arial" pitchFamily="34" charset="-120"/>
                        </a:rPr>
                        <a:t>Total</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600" b="1" dirty="0">
                          <a:solidFill>
                            <a:srgbClr val="111827"/>
                          </a:solidFill>
                          <a:latin typeface="Arial" pitchFamily="34" charset="0"/>
                          <a:ea typeface="Arial" pitchFamily="34" charset="-122"/>
                          <a:cs typeface="Arial" pitchFamily="34" charset="-120"/>
                        </a:rPr>
                        <a:t>1 755</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600" b="1" dirty="0">
                          <a:solidFill>
                            <a:srgbClr val="111827"/>
                          </a:solidFill>
                          <a:latin typeface="Arial" pitchFamily="34" charset="0"/>
                          <a:ea typeface="Arial" pitchFamily="34" charset="-122"/>
                          <a:cs typeface="Arial" pitchFamily="34" charset="-120"/>
                        </a:rPr>
                        <a:t>2 771</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600" b="1" dirty="0">
                          <a:solidFill>
                            <a:srgbClr val="111827"/>
                          </a:solidFill>
                          <a:latin typeface="Arial" pitchFamily="34" charset="0"/>
                          <a:ea typeface="Arial" pitchFamily="34" charset="-122"/>
                          <a:cs typeface="Arial" pitchFamily="34" charset="-120"/>
                        </a:rPr>
                        <a:t>4 526</a:t>
                      </a:r>
                      <a:endParaRPr lang="en-US" sz="16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8" name="Text 5"/>
          <p:cNvSpPr txBox="1"/>
          <p:nvPr/>
        </p:nvSpPr>
        <p:spPr>
          <a:xfrm>
            <a:off x="594360" y="4617720"/>
            <a:ext cx="5394960" cy="274320"/>
          </a:xfrm>
          <a:prstGeom prst="rect">
            <a:avLst/>
          </a:prstGeom>
          <a:noFill/>
          <a:ln/>
        </p:spPr>
        <p:txBody>
          <a:bodyPr wrap="square" lIns="0" tIns="0" rIns="0" bIns="0" rtlCol="0" anchor="t"/>
          <a:lstStyle/>
          <a:p>
            <a:pPr indent="0" marL="0">
              <a:buNone/>
            </a:pPr>
            <a:r>
              <a:rPr lang="en-US" sz="1400" dirty="0">
                <a:solidFill>
                  <a:srgbClr val="5B6472"/>
                </a:solidFill>
                <a:latin typeface="Arial" pitchFamily="34" charset="0"/>
                <a:ea typeface="Arial" pitchFamily="34" charset="-122"/>
                <a:cs typeface="Arial" pitchFamily="34" charset="-120"/>
              </a:rPr>
              <a:t>P(Z) = 0.388  ·  P(W) = 0.405  ·  P(Z | W) = 0.304</a:t>
            </a:r>
            <a:endParaRPr lang="en-US" sz="1400" dirty="0"/>
          </a:p>
        </p:txBody>
      </p:sp>
      <p:sp>
        <p:nvSpPr>
          <p:cNvPr id="9" name="Text 6"/>
          <p:cNvSpPr txBox="1"/>
          <p:nvPr/>
        </p:nvSpPr>
        <p:spPr>
          <a:xfrm>
            <a:off x="6812280" y="2103120"/>
            <a:ext cx="2651760" cy="1005840"/>
          </a:xfrm>
          <a:prstGeom prst="rect">
            <a:avLst/>
          </a:prstGeom>
          <a:noFill/>
          <a:ln/>
        </p:spPr>
        <p:txBody>
          <a:bodyPr wrap="square" lIns="0" tIns="0" rIns="0" bIns="0" rtlCol="0" anchor="t"/>
          <a:lstStyle/>
          <a:p>
            <a:pPr indent="0" marL="0">
              <a:buNone/>
            </a:pPr>
            <a:r>
              <a:rPr lang="en-US" sz="7200" b="1" dirty="0">
                <a:solidFill>
                  <a:srgbClr val="E4572E"/>
                </a:solidFill>
                <a:latin typeface="Arial" pitchFamily="34" charset="0"/>
                <a:ea typeface="Arial" pitchFamily="34" charset="-122"/>
                <a:cs typeface="Arial" pitchFamily="34" charset="-120"/>
              </a:rPr>
              <a:t>0.123</a:t>
            </a:r>
            <a:endParaRPr lang="en-US" sz="7200" dirty="0"/>
          </a:p>
        </p:txBody>
      </p:sp>
      <p:sp>
        <p:nvSpPr>
          <p:cNvPr id="10" name="Text 7"/>
          <p:cNvSpPr txBox="1"/>
          <p:nvPr/>
        </p:nvSpPr>
        <p:spPr>
          <a:xfrm>
            <a:off x="9555480" y="2331720"/>
            <a:ext cx="2011680" cy="640080"/>
          </a:xfrm>
          <a:prstGeom prst="rect">
            <a:avLst/>
          </a:prstGeom>
          <a:noFill/>
          <a:ln/>
        </p:spPr>
        <p:txBody>
          <a:bodyPr wrap="square" lIns="0" tIns="0" rIns="0" bIns="0" rtlCol="0" anchor="t"/>
          <a:lstStyle/>
          <a:p>
            <a:pPr indent="0" marL="0">
              <a:buNone/>
            </a:pPr>
            <a:r>
              <a:rPr lang="en-US" sz="1500" b="1" dirty="0">
                <a:solidFill>
                  <a:srgbClr val="111827"/>
                </a:solidFill>
                <a:latin typeface="Arial" pitchFamily="34" charset="0"/>
                <a:ea typeface="Arial" pitchFamily="34" charset="-122"/>
                <a:cs typeface="Arial" pitchFamily="34" charset="-120"/>
              </a:rPr>
              <a:t>P(Z ∩ W)</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beobachtet</a:t>
            </a:r>
            <a:endParaRPr lang="en-US" sz="1500" dirty="0"/>
          </a:p>
        </p:txBody>
      </p:sp>
      <p:sp>
        <p:nvSpPr>
          <p:cNvPr id="11" name="Text 8"/>
          <p:cNvSpPr txBox="1"/>
          <p:nvPr/>
        </p:nvSpPr>
        <p:spPr>
          <a:xfrm>
            <a:off x="6812280" y="3154680"/>
            <a:ext cx="2651760" cy="1005840"/>
          </a:xfrm>
          <a:prstGeom prst="rect">
            <a:avLst/>
          </a:prstGeom>
          <a:noFill/>
          <a:ln/>
        </p:spPr>
        <p:txBody>
          <a:bodyPr wrap="square" lIns="0" tIns="0" rIns="0" bIns="0" rtlCol="0" anchor="t"/>
          <a:lstStyle/>
          <a:p>
            <a:pPr indent="0" marL="0">
              <a:buNone/>
            </a:pPr>
            <a:r>
              <a:rPr lang="en-US" sz="7200" b="1" dirty="0">
                <a:solidFill>
                  <a:srgbClr val="111827"/>
                </a:solidFill>
                <a:latin typeface="Arial" pitchFamily="34" charset="0"/>
                <a:ea typeface="Arial" pitchFamily="34" charset="-122"/>
                <a:cs typeface="Arial" pitchFamily="34" charset="-120"/>
              </a:rPr>
              <a:t>0.157</a:t>
            </a:r>
            <a:endParaRPr lang="en-US" sz="7200" dirty="0"/>
          </a:p>
        </p:txBody>
      </p:sp>
      <p:sp>
        <p:nvSpPr>
          <p:cNvPr id="12" name="Text 9"/>
          <p:cNvSpPr txBox="1"/>
          <p:nvPr/>
        </p:nvSpPr>
        <p:spPr>
          <a:xfrm>
            <a:off x="9555480" y="3383280"/>
            <a:ext cx="2011680" cy="640080"/>
          </a:xfrm>
          <a:prstGeom prst="rect">
            <a:avLst/>
          </a:prstGeom>
          <a:noFill/>
          <a:ln/>
        </p:spPr>
        <p:txBody>
          <a:bodyPr wrap="square" lIns="0" tIns="0" rIns="0" bIns="0" rtlCol="0" anchor="t"/>
          <a:lstStyle/>
          <a:p>
            <a:pPr indent="0" marL="0">
              <a:buNone/>
            </a:pPr>
            <a:r>
              <a:rPr lang="en-US" sz="1500" b="1" dirty="0">
                <a:solidFill>
                  <a:srgbClr val="111827"/>
                </a:solidFill>
                <a:latin typeface="Arial" pitchFamily="34" charset="0"/>
                <a:ea typeface="Arial" pitchFamily="34" charset="-122"/>
                <a:cs typeface="Arial" pitchFamily="34" charset="-120"/>
              </a:rPr>
              <a:t>P(Z) · P(W)</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bei Unabhängigkeit</a:t>
            </a:r>
            <a:endParaRPr lang="en-US" sz="1500" dirty="0"/>
          </a:p>
        </p:txBody>
      </p:sp>
      <p:sp>
        <p:nvSpPr>
          <p:cNvPr id="13" name="Shape 10"/>
          <p:cNvSpPr/>
          <p:nvPr/>
        </p:nvSpPr>
        <p:spPr>
          <a:xfrm>
            <a:off x="6812280" y="4434840"/>
            <a:ext cx="4782312" cy="868680"/>
          </a:xfrm>
          <a:prstGeom prst="rect">
            <a:avLst/>
          </a:prstGeom>
          <a:solidFill>
            <a:srgbClr val="111827"/>
          </a:solidFill>
          <a:ln w="12700">
            <a:solidFill>
              <a:srgbClr val="111827"/>
            </a:solidFill>
            <a:prstDash val="solid"/>
          </a:ln>
        </p:spPr>
      </p:sp>
      <p:sp>
        <p:nvSpPr>
          <p:cNvPr id="14" name="Text 11"/>
          <p:cNvSpPr txBox="1"/>
          <p:nvPr/>
        </p:nvSpPr>
        <p:spPr>
          <a:xfrm>
            <a:off x="7040880" y="4434840"/>
            <a:ext cx="4389120" cy="8686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22 % weniger als erwartet: Zulassung und Geschlecht sind abhängig</a:t>
            </a:r>
            <a:endParaRPr lang="en-US" sz="1600" dirty="0"/>
          </a:p>
        </p:txBody>
      </p:sp>
      <p:sp>
        <p:nvSpPr>
          <p:cNvPr id="15" name="Text 12"/>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Eigene Berechnung; Definition: Schnauss (o. J.-b, Folien 34–36); Daten: Bickel et al. (1975)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15 — AUFGABE C · STOCHASTISCHE UNABHÄNGIGKEIT</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15 / 18</a:t>
            </a:r>
            <a:endParaRPr lang="en-US" sz="1050" dirty="0"/>
          </a:p>
        </p:txBody>
      </p:sp>
      <p:sp>
        <p:nvSpPr>
          <p:cNvPr id="4" name="Text 2"/>
          <p:cNvSpPr txBox="1"/>
          <p:nvPr/>
        </p:nvSpPr>
        <p:spPr>
          <a:xfrm>
            <a:off x="594360" y="749808"/>
            <a:ext cx="11002975" cy="566928"/>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Je Fachbereich annähernd unabhängig</a:t>
            </a:r>
            <a:endParaRPr lang="en-US" sz="3000" dirty="0"/>
          </a:p>
        </p:txBody>
      </p:sp>
      <p:sp>
        <p:nvSpPr>
          <p:cNvPr id="5" name="Text 3"/>
          <p:cNvSpPr txBox="1"/>
          <p:nvPr/>
        </p:nvSpPr>
        <p:spPr>
          <a:xfrm>
            <a:off x="594360" y="1371600"/>
            <a:ext cx="5486400" cy="274320"/>
          </a:xfrm>
          <a:prstGeom prst="rect">
            <a:avLst/>
          </a:prstGeom>
          <a:noFill/>
          <a:ln/>
        </p:spPr>
        <p:txBody>
          <a:bodyPr wrap="square" lIns="0" tIns="0" rIns="0" bIns="0" rtlCol="0" anchor="t"/>
          <a:lstStyle/>
          <a:p>
            <a:pPr indent="0" marL="0">
              <a:buNone/>
            </a:pPr>
            <a:r>
              <a:rPr lang="en-US" sz="1500" dirty="0">
                <a:solidFill>
                  <a:srgbClr val="5B6472"/>
                </a:solidFill>
                <a:latin typeface="Arial" pitchFamily="34" charset="0"/>
                <a:ea typeface="Arial" pitchFamily="34" charset="-122"/>
                <a:cs typeface="Arial" pitchFamily="34" charset="-120"/>
              </a:rPr>
              <a:t>Differenz der Zulassungsquoten, Frauen minus Männer (PP)</a:t>
            </a:r>
            <a:endParaRPr lang="en-US" sz="1500" dirty="0"/>
          </a:p>
        </p:txBody>
      </p:sp>
      <p:graphicFrame>
        <p:nvGraphicFramePr>
          <p:cNvPr id="6" name="Chart 0" descr=""/>
          <p:cNvGraphicFramePr/>
          <p:nvPr/>
        </p:nvGraphicFramePr>
        <p:xfrm>
          <a:off x="502920" y="1737360"/>
          <a:ext cx="5394960" cy="39776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1691640" y="5760720"/>
            <a:ext cx="4206240" cy="274320"/>
          </a:xfrm>
          <a:prstGeom prst="rect">
            <a:avLst/>
          </a:prstGeom>
          <a:noFill/>
          <a:ln/>
        </p:spPr>
        <p:txBody>
          <a:bodyPr wrap="square" lIns="0" tIns="0" rIns="0" bIns="0" rtlCol="0" anchor="t"/>
          <a:lstStyle/>
          <a:p>
            <a:pPr indent="0" marL="0">
              <a:buNone/>
            </a:pPr>
            <a:r>
              <a:rPr lang="en-US" sz="1200" b="1" dirty="0">
                <a:solidFill>
                  <a:srgbClr val="2F4B7C"/>
                </a:solidFill>
                <a:latin typeface="Arial" pitchFamily="34" charset="0"/>
                <a:ea typeface="Arial" pitchFamily="34" charset="-122"/>
                <a:cs typeface="Arial" pitchFamily="34" charset="-120"/>
              </a:rPr>
              <a:t>← zugunsten Männer</a:t>
            </a:r>
            <a:pPr indent="0" marL="0">
              <a:buNone/>
            </a:pPr>
            <a:r>
              <a:rPr lang="en-US" sz="1200" dirty="0">
                <a:solidFill>
                  <a:srgbClr val="111827"/>
                </a:solidFill>
                <a:latin typeface="Arial" pitchFamily="34" charset="0"/>
                <a:ea typeface="Arial" pitchFamily="34" charset="-122"/>
                <a:cs typeface="Arial" pitchFamily="34" charset="-120"/>
              </a:rPr>
              <a:t>     </a:t>
            </a:r>
            <a:pPr indent="0" marL="0">
              <a:buNone/>
            </a:pPr>
            <a:r>
              <a:rPr lang="en-US" sz="1200" b="1" dirty="0">
                <a:solidFill>
                  <a:srgbClr val="B93C17"/>
                </a:solidFill>
                <a:latin typeface="Arial" pitchFamily="34" charset="0"/>
                <a:ea typeface="Arial" pitchFamily="34" charset="-122"/>
                <a:cs typeface="Arial" pitchFamily="34" charset="-120"/>
              </a:rPr>
              <a:t>zugunsten Frauen →</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263640" y="1737360"/>
          <a:ext cx="5330952" cy="914400"/>
        </p:xfrm>
        <a:graphic>
          <a:graphicData uri="http://schemas.openxmlformats.org/drawingml/2006/table">
            <a:tbl>
              <a:tblPr/>
              <a:tblGrid>
                <a:gridCol w="914400"/>
                <a:gridCol w="1051560"/>
                <a:gridCol w="1143000"/>
                <a:gridCol w="2221992"/>
              </a:tblGrid>
              <a:tr h="475488">
                <a:tc>
                  <a:txBody>
                    <a:bodyPr/>
                    <a:lstStyle/>
                    <a:p>
                      <a:pPr algn="l" indent="0" marL="0">
                        <a:buNone/>
                      </a:pP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111827"/>
                      </a:solidFill>
                      <a:prstDash val="solid"/>
                      <a:round/>
                      <a:headEnd type="none" w="med" len="med"/>
                      <a:tailEnd type="none" w="med" len="med"/>
                    </a:lnB>
                  </a:tcPr>
                </a:tc>
                <a:tc>
                  <a:txBody>
                    <a:bodyPr/>
                    <a:lstStyle/>
                    <a:p>
                      <a:pPr algn="r" indent="0" marL="0">
                        <a:buNone/>
                      </a:pPr>
                      <a:r>
                        <a:rPr lang="en-US" sz="1300" b="1" dirty="0">
                          <a:solidFill>
                            <a:srgbClr val="5B6472"/>
                          </a:solidFill>
                          <a:latin typeface="Arial" pitchFamily="34" charset="0"/>
                          <a:ea typeface="Arial" pitchFamily="34" charset="-122"/>
                          <a:cs typeface="Arial" pitchFamily="34" charset="-120"/>
                        </a:rPr>
                        <a:t>P(Z∩W)</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111827"/>
                      </a:solidFill>
                      <a:prstDash val="solid"/>
                      <a:round/>
                      <a:headEnd type="none" w="med" len="med"/>
                      <a:tailEnd type="none" w="med" len="med"/>
                    </a:lnB>
                  </a:tcPr>
                </a:tc>
                <a:tc>
                  <a:txBody>
                    <a:bodyPr/>
                    <a:lstStyle/>
                    <a:p>
                      <a:pPr algn="r" indent="0" marL="0">
                        <a:buNone/>
                      </a:pPr>
                      <a:r>
                        <a:rPr lang="en-US" sz="1300" b="1" dirty="0">
                          <a:solidFill>
                            <a:srgbClr val="5B6472"/>
                          </a:solidFill>
                          <a:latin typeface="Arial" pitchFamily="34" charset="0"/>
                          <a:ea typeface="Arial" pitchFamily="34" charset="-122"/>
                          <a:cs typeface="Arial" pitchFamily="34" charset="-120"/>
                        </a:rPr>
                        <a:t>P(Z)·P(W)</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111827"/>
                      </a:solidFill>
                      <a:prstDash val="solid"/>
                      <a:round/>
                      <a:headEnd type="none" w="med" len="med"/>
                      <a:tailEnd type="none" w="med" len="med"/>
                    </a:lnB>
                  </a:tcPr>
                </a:tc>
                <a:tc>
                  <a:txBody>
                    <a:bodyPr/>
                    <a:lstStyle/>
                    <a:p>
                      <a:pPr algn="l" indent="0" marL="0">
                        <a:buNone/>
                      </a:pPr>
                      <a:r>
                        <a:rPr lang="en-US" sz="1300" b="1" dirty="0">
                          <a:solidFill>
                            <a:srgbClr val="5B6472"/>
                          </a:solidFill>
                          <a:latin typeface="Arial" pitchFamily="34" charset="0"/>
                          <a:ea typeface="Arial" pitchFamily="34" charset="-122"/>
                          <a:cs typeface="Arial" pitchFamily="34" charset="-120"/>
                        </a:rPr>
                        <a:t>Beurteilung</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15875" cap="flat" cmpd="sng" algn="ctr">
                      <a:solidFill>
                        <a:srgbClr val="111827"/>
                      </a:solidFill>
                      <a:prstDash val="solid"/>
                      <a:round/>
                      <a:headEnd type="none" w="med" len="med"/>
                      <a:tailEnd type="none" w="med" len="med"/>
                    </a:lnB>
                  </a:tcPr>
                </a:tc>
              </a:tr>
              <a:tr h="475488">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Gesamt</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0.1231</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0.1572</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abhängig</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FB A</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CE6DE"/>
                    </a:solidFill>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0.0954</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CE6DE"/>
                    </a:solidFill>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0.0746</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CE6DE"/>
                    </a:solidFill>
                  </a:tcPr>
                </a:tc>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abhängig, zugunsten Frauen</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CE6DE"/>
                    </a:solidFill>
                  </a:tcPr>
                </a:tc>
              </a:tr>
              <a:tr h="475488">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FB B</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0.0291</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0.0270</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11827"/>
                          </a:solidFill>
                          <a:latin typeface="Arial" pitchFamily="34" charset="0"/>
                          <a:ea typeface="Arial" pitchFamily="34" charset="-122"/>
                          <a:cs typeface="Arial" pitchFamily="34" charset="-120"/>
                        </a:rPr>
                        <a:t>annähernd unabhängig*</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75488">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FB C</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0.2200</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0.2266</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11827"/>
                          </a:solidFill>
                          <a:latin typeface="Arial" pitchFamily="34" charset="0"/>
                          <a:ea typeface="Arial" pitchFamily="34" charset="-122"/>
                          <a:cs typeface="Arial" pitchFamily="34" charset="-120"/>
                        </a:rPr>
                        <a:t>annähernd unabhängig</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75488">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FB D</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0.1654</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0.1608</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11827"/>
                          </a:solidFill>
                          <a:latin typeface="Arial" pitchFamily="34" charset="0"/>
                          <a:ea typeface="Arial" pitchFamily="34" charset="-122"/>
                          <a:cs typeface="Arial" pitchFamily="34" charset="-120"/>
                        </a:rPr>
                        <a:t>annähernd unabhängig</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75488">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FB E</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0.1610</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0.1694</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11827"/>
                          </a:solidFill>
                          <a:latin typeface="Arial" pitchFamily="34" charset="0"/>
                          <a:ea typeface="Arial" pitchFamily="34" charset="-122"/>
                          <a:cs typeface="Arial" pitchFamily="34" charset="-120"/>
                        </a:rPr>
                        <a:t>annähernd unabhängig</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75488">
                <a:tc>
                  <a:txBody>
                    <a:bodyPr/>
                    <a:lstStyle/>
                    <a:p>
                      <a:pPr algn="l" indent="0" marL="0">
                        <a:buNone/>
                      </a:pPr>
                      <a:r>
                        <a:rPr lang="en-US" sz="1400" b="1" dirty="0">
                          <a:solidFill>
                            <a:srgbClr val="111827"/>
                          </a:solidFill>
                          <a:latin typeface="Arial" pitchFamily="34" charset="0"/>
                          <a:ea typeface="Arial" pitchFamily="34" charset="-122"/>
                          <a:cs typeface="Arial" pitchFamily="34" charset="-120"/>
                        </a:rPr>
                        <a:t>FB F</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0.0336</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r" indent="0" marL="0">
                        <a:buNone/>
                      </a:pPr>
                      <a:r>
                        <a:rPr lang="en-US" sz="1400" dirty="0">
                          <a:solidFill>
                            <a:srgbClr val="111827"/>
                          </a:solidFill>
                          <a:latin typeface="Arial" pitchFamily="34" charset="0"/>
                          <a:ea typeface="Arial" pitchFamily="34" charset="-122"/>
                          <a:cs typeface="Arial" pitchFamily="34" charset="-120"/>
                        </a:rPr>
                        <a:t>0.0308</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11827"/>
                          </a:solidFill>
                          <a:latin typeface="Arial" pitchFamily="34" charset="0"/>
                          <a:ea typeface="Arial" pitchFamily="34" charset="-122"/>
                          <a:cs typeface="Arial" pitchFamily="34" charset="-120"/>
                        </a:rPr>
                        <a:t>annähernd unabhängig</a:t>
                      </a:r>
                      <a:endParaRPr lang="en-US" sz="1400" dirty="0">
                        <a:latin typeface="Arial" charset="0"/>
                        <a:ea typeface="Arial" charset="0"/>
                        <a:cs typeface="Arial" charset="0"/>
                      </a:endParaRPr>
                    </a:p>
                  </a:txBody>
                  <a:tcPr marL="73152" marR="73152" marT="27432" marB="27432"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9" name="Text 5"/>
          <p:cNvSpPr txBox="1"/>
          <p:nvPr/>
        </p:nvSpPr>
        <p:spPr>
          <a:xfrm>
            <a:off x="6263640" y="5669280"/>
            <a:ext cx="5330952" cy="457200"/>
          </a:xfrm>
          <a:prstGeom prst="rect">
            <a:avLst/>
          </a:prstGeom>
          <a:noFill/>
          <a:ln/>
        </p:spPr>
        <p:txBody>
          <a:bodyPr wrap="square" lIns="0" tIns="0" rIns="0" bIns="0" rtlCol="0" anchor="t"/>
          <a:lstStyle/>
          <a:p>
            <a:pPr indent="0" marL="0">
              <a:buNone/>
            </a:pPr>
            <a:r>
              <a:rPr lang="en-US" sz="1200" dirty="0">
                <a:solidFill>
                  <a:srgbClr val="5B6472"/>
                </a:solidFill>
                <a:latin typeface="Arial" pitchFamily="34" charset="0"/>
                <a:ea typeface="Arial" pitchFamily="34" charset="-122"/>
                <a:cs typeface="Arial" pitchFamily="34" charset="-120"/>
              </a:rPr>
              <a:t>B bis F: höchstens 5 PP Unterschied, mit wechselnder Richtung · * B: nur 25 Bewerbungen von Frauen</a:t>
            </a:r>
            <a:endParaRPr lang="en-US" sz="1200" dirty="0"/>
          </a:p>
        </p:txBody>
      </p:sp>
      <p:sp>
        <p:nvSpPr>
          <p:cNvPr id="10" name="Text 6"/>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Eigene Berechnung aus ungerundeten Anzahlen; PP = Prozentpunkte; Daten: Bickel et al. (1975)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8C97A8"/>
                </a:solidFill>
                <a:latin typeface="Arial" pitchFamily="34" charset="0"/>
                <a:ea typeface="Arial" pitchFamily="34" charset="-122"/>
                <a:cs typeface="Arial" pitchFamily="34" charset="-120"/>
              </a:rPr>
              <a:t>16 — KERNAUSSAGE</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8C97A8"/>
                </a:solidFill>
                <a:latin typeface="Arial" pitchFamily="34" charset="0"/>
                <a:ea typeface="Arial" pitchFamily="34" charset="-122"/>
                <a:cs typeface="Arial" pitchFamily="34" charset="-120"/>
              </a:rPr>
              <a:t>16 / 18</a:t>
            </a:r>
            <a:endParaRPr lang="en-US" sz="1050" dirty="0"/>
          </a:p>
        </p:txBody>
      </p:sp>
      <p:sp>
        <p:nvSpPr>
          <p:cNvPr id="4" name="Text 2"/>
          <p:cNvSpPr txBox="1"/>
          <p:nvPr/>
        </p:nvSpPr>
        <p:spPr>
          <a:xfrm>
            <a:off x="594360" y="2011680"/>
            <a:ext cx="10515600" cy="1737360"/>
          </a:xfrm>
          <a:prstGeom prst="rect">
            <a:avLst/>
          </a:prstGeom>
          <a:noFill/>
          <a:ln/>
        </p:spPr>
        <p:txBody>
          <a:bodyPr wrap="square" lIns="0" tIns="0" rIns="0" bIns="0" rtlCol="0" anchor="t"/>
          <a:lstStyle/>
          <a:p>
            <a:pPr indent="0" marL="0">
              <a:lnSpc>
                <a:spcPct val="100000"/>
              </a:lnSpc>
              <a:buNone/>
            </a:pPr>
            <a:r>
              <a:rPr lang="en-US" sz="5600" b="1" dirty="0">
                <a:solidFill>
                  <a:srgbClr val="FFFFFF"/>
                </a:solidFill>
                <a:latin typeface="Arial" pitchFamily="34" charset="0"/>
                <a:ea typeface="Arial" pitchFamily="34" charset="-122"/>
                <a:cs typeface="Arial" pitchFamily="34" charset="-120"/>
              </a:rPr>
              <a:t>Der </a:t>
            </a:r>
            <a:pPr indent="0" marL="0">
              <a:lnSpc>
                <a:spcPct val="100000"/>
              </a:lnSpc>
              <a:buNone/>
            </a:pPr>
            <a:r>
              <a:rPr lang="en-US" sz="5600" b="1" dirty="0">
                <a:solidFill>
                  <a:srgbClr val="E4572E"/>
                </a:solidFill>
                <a:latin typeface="Arial" pitchFamily="34" charset="0"/>
                <a:ea typeface="Arial" pitchFamily="34" charset="-122"/>
                <a:cs typeface="Arial" pitchFamily="34" charset="-120"/>
              </a:rPr>
              <a:t>Fachbereich</a:t>
            </a:r>
            <a:pPr indent="0" marL="0">
              <a:lnSpc>
                <a:spcPct val="100000"/>
              </a:lnSpc>
              <a:buNone/>
            </a:pPr>
            <a:r>
              <a:rPr lang="en-US" sz="5600" b="1" dirty="0">
                <a:solidFill>
                  <a:srgbClr val="FFFFFF"/>
                </a:solidFill>
                <a:latin typeface="Arial" pitchFamily="34" charset="0"/>
                <a:ea typeface="Arial" pitchFamily="34" charset="-122"/>
                <a:cs typeface="Arial" pitchFamily="34" charset="-120"/>
              </a:rPr>
              <a:t> erklärt den Unterschied.</a:t>
            </a:r>
            <a:endParaRPr lang="en-US" sz="5600" dirty="0"/>
          </a:p>
        </p:txBody>
      </p:sp>
      <p:sp>
        <p:nvSpPr>
          <p:cNvPr id="5" name="Text 3"/>
          <p:cNvSpPr txBox="1"/>
          <p:nvPr/>
        </p:nvSpPr>
        <p:spPr>
          <a:xfrm>
            <a:off x="594360" y="3977640"/>
            <a:ext cx="7863840" cy="1097280"/>
          </a:xfrm>
          <a:prstGeom prst="rect">
            <a:avLst/>
          </a:prstGeom>
          <a:noFill/>
          <a:ln/>
        </p:spPr>
        <p:txBody>
          <a:bodyPr wrap="square" lIns="0" tIns="0" rIns="0" bIns="0" rtlCol="0" anchor="t"/>
          <a:lstStyle/>
          <a:p>
            <a:pPr indent="0" marL="0">
              <a:lnSpc>
                <a:spcPct val="120000"/>
              </a:lnSpc>
              <a:buNone/>
            </a:pPr>
            <a:r>
              <a:rPr lang="en-US" sz="2000" dirty="0">
                <a:solidFill>
                  <a:srgbClr val="C9D1DC"/>
                </a:solidFill>
                <a:latin typeface="Arial" pitchFamily="34" charset="0"/>
                <a:ea typeface="Arial" pitchFamily="34" charset="-122"/>
                <a:cs typeface="Arial" pitchFamily="34" charset="-120"/>
              </a:rPr>
              <a:t>Frauen bewarben sich häufiger in stark umkämpften Fachbereichen. Fasst man die Fachbereiche zusammen, kehrt sich der Zusammenhang um: das Simpson-Paradoxon.</a:t>
            </a:r>
            <a:endParaRPr lang="en-US" sz="2000" dirty="0"/>
          </a:p>
        </p:txBody>
      </p:sp>
      <p:sp>
        <p:nvSpPr>
          <p:cNvPr id="6" name="Text 4"/>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8C97A8"/>
                </a:solidFill>
                <a:latin typeface="Arial" pitchFamily="34" charset="0"/>
                <a:ea typeface="Arial" pitchFamily="34" charset="-122"/>
                <a:cs typeface="Arial" pitchFamily="34" charset="-120"/>
              </a:rPr>
              <a:t>Simpson (1951); Bickel et al. (1975)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17 — FAZIT</a:t>
            </a:r>
            <a:endParaRPr lang="en-US" sz="1050" dirty="0"/>
          </a:p>
        </p:txBody>
      </p:sp>
      <p:sp>
        <p:nvSpPr>
          <p:cNvPr id="3" name="Text 1"/>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17 / 18</a:t>
            </a:r>
            <a:endParaRPr lang="en-US" sz="1050" dirty="0"/>
          </a:p>
        </p:txBody>
      </p:sp>
      <p:sp>
        <p:nvSpPr>
          <p:cNvPr id="4" name="Text 2"/>
          <p:cNvSpPr txBox="1"/>
          <p:nvPr/>
        </p:nvSpPr>
        <p:spPr>
          <a:xfrm>
            <a:off x="594360" y="749808"/>
            <a:ext cx="11002975" cy="566928"/>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Was wir gelernt haben</a:t>
            </a:r>
            <a:endParaRPr lang="en-US" sz="3000" dirty="0"/>
          </a:p>
        </p:txBody>
      </p:sp>
      <p:sp>
        <p:nvSpPr>
          <p:cNvPr id="5" name="Shape 3"/>
          <p:cNvSpPr/>
          <p:nvPr/>
        </p:nvSpPr>
        <p:spPr>
          <a:xfrm>
            <a:off x="594360" y="1691640"/>
            <a:ext cx="3383280" cy="0"/>
          </a:xfrm>
          <a:prstGeom prst="line">
            <a:avLst/>
          </a:prstGeom>
          <a:noFill/>
          <a:ln w="15875">
            <a:solidFill>
              <a:srgbClr val="111827"/>
            </a:solidFill>
            <a:prstDash val="solid"/>
          </a:ln>
        </p:spPr>
      </p:sp>
      <p:sp>
        <p:nvSpPr>
          <p:cNvPr id="6" name="Text 4"/>
          <p:cNvSpPr txBox="1"/>
          <p:nvPr/>
        </p:nvSpPr>
        <p:spPr>
          <a:xfrm>
            <a:off x="594360" y="1828800"/>
            <a:ext cx="914400" cy="914400"/>
          </a:xfrm>
          <a:prstGeom prst="rect">
            <a:avLst/>
          </a:prstGeom>
          <a:noFill/>
          <a:ln/>
        </p:spPr>
        <p:txBody>
          <a:bodyPr wrap="square" lIns="0" tIns="0" rIns="0" bIns="0" rtlCol="0" anchor="t"/>
          <a:lstStyle/>
          <a:p>
            <a:pPr indent="0" marL="0">
              <a:buNone/>
            </a:pPr>
            <a:r>
              <a:rPr lang="en-US" sz="6000" b="1" dirty="0">
                <a:solidFill>
                  <a:srgbClr val="E4572E"/>
                </a:solidFill>
                <a:latin typeface="Arial" pitchFamily="34" charset="0"/>
                <a:ea typeface="Arial" pitchFamily="34" charset="-122"/>
                <a:cs typeface="Arial" pitchFamily="34" charset="-120"/>
              </a:rPr>
              <a:t>1</a:t>
            </a:r>
            <a:endParaRPr lang="en-US" sz="6000" dirty="0"/>
          </a:p>
        </p:txBody>
      </p:sp>
      <p:sp>
        <p:nvSpPr>
          <p:cNvPr id="7" name="Text 5"/>
          <p:cNvSpPr txBox="1"/>
          <p:nvPr/>
        </p:nvSpPr>
        <p:spPr>
          <a:xfrm>
            <a:off x="594360" y="2834640"/>
            <a:ext cx="3291840" cy="731520"/>
          </a:xfrm>
          <a:prstGeom prst="rect">
            <a:avLst/>
          </a:prstGeom>
          <a:noFill/>
          <a:ln/>
        </p:spPr>
        <p:txBody>
          <a:bodyPr wrap="square" lIns="0" tIns="0" rIns="0" bIns="0" rtlCol="0" anchor="t"/>
          <a:lstStyle/>
          <a:p>
            <a:pPr indent="0" marL="0">
              <a:lnSpc>
                <a:spcPct val="105000"/>
              </a:lnSpc>
              <a:buNone/>
            </a:pPr>
            <a:r>
              <a:rPr lang="en-US" sz="2000" b="1" dirty="0">
                <a:solidFill>
                  <a:srgbClr val="111827"/>
                </a:solidFill>
                <a:latin typeface="Arial" pitchFamily="34" charset="0"/>
                <a:ea typeface="Arial" pitchFamily="34" charset="-122"/>
                <a:cs typeface="Arial" pitchFamily="34" charset="-120"/>
              </a:rPr>
              <a:t>Aggregiert abhängig</a:t>
            </a:r>
            <a:endParaRPr lang="en-US" sz="2000" dirty="0"/>
          </a:p>
        </p:txBody>
      </p:sp>
      <p:sp>
        <p:nvSpPr>
          <p:cNvPr id="8" name="Text 6"/>
          <p:cNvSpPr txBox="1"/>
          <p:nvPr/>
        </p:nvSpPr>
        <p:spPr>
          <a:xfrm>
            <a:off x="594360" y="3611880"/>
            <a:ext cx="3200400" cy="822960"/>
          </a:xfrm>
          <a:prstGeom prst="rect">
            <a:avLst/>
          </a:prstGeom>
          <a:noFill/>
          <a:ln/>
        </p:spPr>
        <p:txBody>
          <a:bodyPr wrap="square" lIns="0" tIns="0" rIns="0" bIns="0" rtlCol="0" anchor="t"/>
          <a:lstStyle/>
          <a:p>
            <a:pPr indent="0" marL="0">
              <a:lnSpc>
                <a:spcPct val="115000"/>
              </a:lnSpc>
              <a:buNone/>
            </a:pPr>
            <a:r>
              <a:rPr lang="en-US" sz="1500" dirty="0">
                <a:solidFill>
                  <a:srgbClr val="5B6472"/>
                </a:solidFill>
                <a:latin typeface="Arial" pitchFamily="34" charset="0"/>
                <a:ea typeface="Arial" pitchFamily="34" charset="-122"/>
                <a:cs typeface="Arial" pitchFamily="34" charset="-120"/>
              </a:rPr>
              <a:t>Zulassung und Geschlecht sind insgesamt abhängig: 30.4 % gegenüber 44.5 %.</a:t>
            </a:r>
            <a:endParaRPr lang="en-US" sz="1500" dirty="0"/>
          </a:p>
        </p:txBody>
      </p:sp>
      <p:sp>
        <p:nvSpPr>
          <p:cNvPr id="9" name="Shape 7"/>
          <p:cNvSpPr/>
          <p:nvPr/>
        </p:nvSpPr>
        <p:spPr>
          <a:xfrm>
            <a:off x="4343400" y="1691640"/>
            <a:ext cx="3383280" cy="0"/>
          </a:xfrm>
          <a:prstGeom prst="line">
            <a:avLst/>
          </a:prstGeom>
          <a:noFill/>
          <a:ln w="15875">
            <a:solidFill>
              <a:srgbClr val="111827"/>
            </a:solidFill>
            <a:prstDash val="solid"/>
          </a:ln>
        </p:spPr>
      </p:sp>
      <p:sp>
        <p:nvSpPr>
          <p:cNvPr id="10" name="Text 8"/>
          <p:cNvSpPr txBox="1"/>
          <p:nvPr/>
        </p:nvSpPr>
        <p:spPr>
          <a:xfrm>
            <a:off x="4343400" y="1828800"/>
            <a:ext cx="914400" cy="914400"/>
          </a:xfrm>
          <a:prstGeom prst="rect">
            <a:avLst/>
          </a:prstGeom>
          <a:noFill/>
          <a:ln/>
        </p:spPr>
        <p:txBody>
          <a:bodyPr wrap="square" lIns="0" tIns="0" rIns="0" bIns="0" rtlCol="0" anchor="t"/>
          <a:lstStyle/>
          <a:p>
            <a:pPr indent="0" marL="0">
              <a:buNone/>
            </a:pPr>
            <a:r>
              <a:rPr lang="en-US" sz="6000" b="1" dirty="0">
                <a:solidFill>
                  <a:srgbClr val="E4572E"/>
                </a:solidFill>
                <a:latin typeface="Arial" pitchFamily="34" charset="0"/>
                <a:ea typeface="Arial" pitchFamily="34" charset="-122"/>
                <a:cs typeface="Arial" pitchFamily="34" charset="-120"/>
              </a:rPr>
              <a:t>2</a:t>
            </a:r>
            <a:endParaRPr lang="en-US" sz="6000" dirty="0"/>
          </a:p>
        </p:txBody>
      </p:sp>
      <p:sp>
        <p:nvSpPr>
          <p:cNvPr id="11" name="Text 9"/>
          <p:cNvSpPr txBox="1"/>
          <p:nvPr/>
        </p:nvSpPr>
        <p:spPr>
          <a:xfrm>
            <a:off x="4343400" y="2834640"/>
            <a:ext cx="3291840" cy="731520"/>
          </a:xfrm>
          <a:prstGeom prst="rect">
            <a:avLst/>
          </a:prstGeom>
          <a:noFill/>
          <a:ln/>
        </p:spPr>
        <p:txBody>
          <a:bodyPr wrap="square" lIns="0" tIns="0" rIns="0" bIns="0" rtlCol="0" anchor="t"/>
          <a:lstStyle/>
          <a:p>
            <a:pPr indent="0" marL="0">
              <a:lnSpc>
                <a:spcPct val="105000"/>
              </a:lnSpc>
              <a:buNone/>
            </a:pPr>
            <a:r>
              <a:rPr lang="en-US" sz="2000" b="1" dirty="0">
                <a:solidFill>
                  <a:srgbClr val="111827"/>
                </a:solidFill>
                <a:latin typeface="Arial" pitchFamily="34" charset="0"/>
                <a:ea typeface="Arial" pitchFamily="34" charset="-122"/>
                <a:cs typeface="Arial" pitchFamily="34" charset="-120"/>
              </a:rPr>
              <a:t>Je Fachbereich kein systematischer Nachteil</a:t>
            </a:r>
            <a:endParaRPr lang="en-US" sz="2000" dirty="0"/>
          </a:p>
        </p:txBody>
      </p:sp>
      <p:sp>
        <p:nvSpPr>
          <p:cNvPr id="12" name="Text 10"/>
          <p:cNvSpPr txBox="1"/>
          <p:nvPr/>
        </p:nvSpPr>
        <p:spPr>
          <a:xfrm>
            <a:off x="4343400" y="3611880"/>
            <a:ext cx="3200400" cy="822960"/>
          </a:xfrm>
          <a:prstGeom prst="rect">
            <a:avLst/>
          </a:prstGeom>
          <a:noFill/>
          <a:ln/>
        </p:spPr>
        <p:txBody>
          <a:bodyPr wrap="square" lIns="0" tIns="0" rIns="0" bIns="0" rtlCol="0" anchor="t"/>
          <a:lstStyle/>
          <a:p>
            <a:pPr indent="0" marL="0">
              <a:lnSpc>
                <a:spcPct val="115000"/>
              </a:lnSpc>
              <a:buNone/>
            </a:pPr>
            <a:r>
              <a:rPr lang="en-US" sz="1500" dirty="0">
                <a:solidFill>
                  <a:srgbClr val="5B6472"/>
                </a:solidFill>
                <a:latin typeface="Arial" pitchFamily="34" charset="0"/>
                <a:ea typeface="Arial" pitchFamily="34" charset="-122"/>
                <a:cs typeface="Arial" pitchFamily="34" charset="-120"/>
              </a:rPr>
              <a:t>Annähernd unabhängig; Fachbereich A sogar zugunsten der Frauen.</a:t>
            </a:r>
            <a:endParaRPr lang="en-US" sz="1500" dirty="0"/>
          </a:p>
        </p:txBody>
      </p:sp>
      <p:sp>
        <p:nvSpPr>
          <p:cNvPr id="13" name="Shape 11"/>
          <p:cNvSpPr/>
          <p:nvPr/>
        </p:nvSpPr>
        <p:spPr>
          <a:xfrm>
            <a:off x="8092440" y="1691640"/>
            <a:ext cx="3383280" cy="0"/>
          </a:xfrm>
          <a:prstGeom prst="line">
            <a:avLst/>
          </a:prstGeom>
          <a:noFill/>
          <a:ln w="15875">
            <a:solidFill>
              <a:srgbClr val="111827"/>
            </a:solidFill>
            <a:prstDash val="solid"/>
          </a:ln>
        </p:spPr>
      </p:sp>
      <p:sp>
        <p:nvSpPr>
          <p:cNvPr id="14" name="Text 12"/>
          <p:cNvSpPr txBox="1"/>
          <p:nvPr/>
        </p:nvSpPr>
        <p:spPr>
          <a:xfrm>
            <a:off x="8092440" y="1828800"/>
            <a:ext cx="914400" cy="914400"/>
          </a:xfrm>
          <a:prstGeom prst="rect">
            <a:avLst/>
          </a:prstGeom>
          <a:noFill/>
          <a:ln/>
        </p:spPr>
        <p:txBody>
          <a:bodyPr wrap="square" lIns="0" tIns="0" rIns="0" bIns="0" rtlCol="0" anchor="t"/>
          <a:lstStyle/>
          <a:p>
            <a:pPr indent="0" marL="0">
              <a:buNone/>
            </a:pPr>
            <a:r>
              <a:rPr lang="en-US" sz="6000" b="1" dirty="0">
                <a:solidFill>
                  <a:srgbClr val="E4572E"/>
                </a:solidFill>
                <a:latin typeface="Arial" pitchFamily="34" charset="0"/>
                <a:ea typeface="Arial" pitchFamily="34" charset="-122"/>
                <a:cs typeface="Arial" pitchFamily="34" charset="-120"/>
              </a:rPr>
              <a:t>3</a:t>
            </a:r>
            <a:endParaRPr lang="en-US" sz="6000" dirty="0"/>
          </a:p>
        </p:txBody>
      </p:sp>
      <p:sp>
        <p:nvSpPr>
          <p:cNvPr id="15" name="Text 13"/>
          <p:cNvSpPr txBox="1"/>
          <p:nvPr/>
        </p:nvSpPr>
        <p:spPr>
          <a:xfrm>
            <a:off x="8092440" y="2834640"/>
            <a:ext cx="3291840" cy="731520"/>
          </a:xfrm>
          <a:prstGeom prst="rect">
            <a:avLst/>
          </a:prstGeom>
          <a:noFill/>
          <a:ln/>
        </p:spPr>
        <p:txBody>
          <a:bodyPr wrap="square" lIns="0" tIns="0" rIns="0" bIns="0" rtlCol="0" anchor="t"/>
          <a:lstStyle/>
          <a:p>
            <a:pPr indent="0" marL="0">
              <a:lnSpc>
                <a:spcPct val="105000"/>
              </a:lnSpc>
              <a:buNone/>
            </a:pPr>
            <a:r>
              <a:rPr lang="en-US" sz="2000" b="1" dirty="0">
                <a:solidFill>
                  <a:srgbClr val="111827"/>
                </a:solidFill>
                <a:latin typeface="Arial" pitchFamily="34" charset="0"/>
                <a:ea typeface="Arial" pitchFamily="34" charset="-122"/>
                <a:cs typeface="Arial" pitchFamily="34" charset="-120"/>
              </a:rPr>
              <a:t>Ursache: die Wahl des Fachbereichs</a:t>
            </a:r>
            <a:endParaRPr lang="en-US" sz="2000" dirty="0"/>
          </a:p>
        </p:txBody>
      </p:sp>
      <p:sp>
        <p:nvSpPr>
          <p:cNvPr id="16" name="Text 14"/>
          <p:cNvSpPr txBox="1"/>
          <p:nvPr/>
        </p:nvSpPr>
        <p:spPr>
          <a:xfrm>
            <a:off x="8092440" y="3611880"/>
            <a:ext cx="3200400" cy="822960"/>
          </a:xfrm>
          <a:prstGeom prst="rect">
            <a:avLst/>
          </a:prstGeom>
          <a:noFill/>
          <a:ln/>
        </p:spPr>
        <p:txBody>
          <a:bodyPr wrap="square" lIns="0" tIns="0" rIns="0" bIns="0" rtlCol="0" anchor="t"/>
          <a:lstStyle/>
          <a:p>
            <a:pPr indent="0" marL="0">
              <a:lnSpc>
                <a:spcPct val="115000"/>
              </a:lnSpc>
              <a:buNone/>
            </a:pPr>
            <a:r>
              <a:rPr lang="en-US" sz="1500" dirty="0">
                <a:solidFill>
                  <a:srgbClr val="5B6472"/>
                </a:solidFill>
                <a:latin typeface="Arial" pitchFamily="34" charset="0"/>
                <a:ea typeface="Arial" pitchFamily="34" charset="-122"/>
                <a:cs typeface="Arial" pitchFamily="34" charset="-120"/>
              </a:rPr>
              <a:t>Bei gleicher Wahl: Frauen 43.0 %, Männer 38.7 %.</a:t>
            </a:r>
            <a:endParaRPr lang="en-US" sz="1500" dirty="0"/>
          </a:p>
        </p:txBody>
      </p:sp>
      <p:sp>
        <p:nvSpPr>
          <p:cNvPr id="17" name="Shape 15"/>
          <p:cNvSpPr/>
          <p:nvPr/>
        </p:nvSpPr>
        <p:spPr>
          <a:xfrm>
            <a:off x="0" y="4800600"/>
            <a:ext cx="12191695" cy="1280160"/>
          </a:xfrm>
          <a:prstGeom prst="rect">
            <a:avLst/>
          </a:prstGeom>
          <a:solidFill>
            <a:srgbClr val="F2F4F7"/>
          </a:solidFill>
          <a:ln w="12700">
            <a:solidFill>
              <a:srgbClr val="F2F4F7"/>
            </a:solidFill>
            <a:prstDash val="solid"/>
          </a:ln>
        </p:spPr>
      </p:sp>
      <p:sp>
        <p:nvSpPr>
          <p:cNvPr id="18" name="Text 16"/>
          <p:cNvSpPr txBox="1"/>
          <p:nvPr/>
        </p:nvSpPr>
        <p:spPr>
          <a:xfrm>
            <a:off x="594360" y="5074920"/>
            <a:ext cx="512064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GRENZEN</a:t>
            </a:r>
            <a:endParaRPr lang="en-US" sz="1050" dirty="0"/>
          </a:p>
        </p:txBody>
      </p:sp>
      <p:sp>
        <p:nvSpPr>
          <p:cNvPr id="19" name="Text 17"/>
          <p:cNvSpPr txBox="1"/>
          <p:nvPr/>
        </p:nvSpPr>
        <p:spPr>
          <a:xfrm>
            <a:off x="594360" y="5376672"/>
            <a:ext cx="5120640" cy="548640"/>
          </a:xfrm>
          <a:prstGeom prst="rect">
            <a:avLst/>
          </a:prstGeom>
          <a:noFill/>
          <a:ln/>
        </p:spPr>
        <p:txBody>
          <a:bodyPr wrap="square" lIns="0" tIns="0" rIns="0" bIns="0" rtlCol="0" anchor="t"/>
          <a:lstStyle/>
          <a:p>
            <a:pPr indent="0" marL="0">
              <a:lnSpc>
                <a:spcPct val="110000"/>
              </a:lnSpc>
              <a:buNone/>
            </a:pPr>
            <a:r>
              <a:rPr lang="en-US" sz="1500" dirty="0">
                <a:solidFill>
                  <a:srgbClr val="111827"/>
                </a:solidFill>
                <a:latin typeface="Arial" pitchFamily="34" charset="0"/>
                <a:ea typeface="Arial" pitchFamily="34" charset="-122"/>
                <a:cs typeface="Arial" pitchFamily="34" charset="-120"/>
              </a:rPr>
              <a:t>Beobachtungsdaten eines Jahres; warum Frauen selektivere Fachbereiche wählten, bleibt offen.</a:t>
            </a:r>
            <a:endParaRPr lang="en-US" sz="1500" dirty="0"/>
          </a:p>
        </p:txBody>
      </p:sp>
      <p:sp>
        <p:nvSpPr>
          <p:cNvPr id="20" name="Text 18"/>
          <p:cNvSpPr txBox="1"/>
          <p:nvPr/>
        </p:nvSpPr>
        <p:spPr>
          <a:xfrm>
            <a:off x="6217920" y="5074920"/>
            <a:ext cx="5120640" cy="256032"/>
          </a:xfrm>
          <a:prstGeom prst="rect">
            <a:avLst/>
          </a:prstGeom>
          <a:noFill/>
          <a:ln/>
        </p:spPr>
        <p:txBody>
          <a:bodyPr wrap="square" lIns="0" tIns="0" rIns="0" bIns="0" rtlCol="0" anchor="t"/>
          <a:lstStyle/>
          <a:p>
            <a:pPr indent="0" marL="0">
              <a:buNone/>
            </a:pPr>
            <a:r>
              <a:rPr lang="en-US" sz="1050" b="1" spc="150" kern="0" dirty="0">
                <a:solidFill>
                  <a:srgbClr val="5B6472"/>
                </a:solidFill>
                <a:latin typeface="Arial" pitchFamily="34" charset="0"/>
                <a:ea typeface="Arial" pitchFamily="34" charset="-122"/>
                <a:cs typeface="Arial" pitchFamily="34" charset="-120"/>
              </a:rPr>
              <a:t>PYTHON</a:t>
            </a:r>
            <a:endParaRPr lang="en-US" sz="1050" dirty="0"/>
          </a:p>
        </p:txBody>
      </p:sp>
      <p:sp>
        <p:nvSpPr>
          <p:cNvPr id="21" name="Text 19"/>
          <p:cNvSpPr txBox="1"/>
          <p:nvPr/>
        </p:nvSpPr>
        <p:spPr>
          <a:xfrm>
            <a:off x="6217920" y="5376672"/>
            <a:ext cx="5120640" cy="548640"/>
          </a:xfrm>
          <a:prstGeom prst="rect">
            <a:avLst/>
          </a:prstGeom>
          <a:noFill/>
          <a:ln/>
        </p:spPr>
        <p:txBody>
          <a:bodyPr wrap="square" lIns="0" tIns="0" rIns="0" bIns="0" rtlCol="0" anchor="t"/>
          <a:lstStyle/>
          <a:p>
            <a:pPr indent="0" marL="0">
              <a:lnSpc>
                <a:spcPct val="110000"/>
              </a:lnSpc>
              <a:buNone/>
            </a:pPr>
            <a:r>
              <a:rPr lang="en-US" sz="1500" dirty="0">
                <a:solidFill>
                  <a:srgbClr val="111827"/>
                </a:solidFill>
                <a:latin typeface="Arial" pitchFamily="34" charset="0"/>
                <a:ea typeface="Arial" pitchFamily="34" charset="-122"/>
                <a:cs typeface="Arial" pitchFamily="34" charset="-120"/>
              </a:rPr>
              <a:t>Dieselben Funktionen für die Gesamtanalyse, sechs Fachbereiche und die Standardisierung.</a:t>
            </a:r>
            <a:endParaRPr lang="en-US" sz="1500" dirty="0"/>
          </a:p>
        </p:txBody>
      </p:sp>
      <p:sp>
        <p:nvSpPr>
          <p:cNvPr id="22" name="Text 20"/>
          <p:cNvSpPr txBox="1"/>
          <p:nvPr/>
        </p:nvSpPr>
        <p:spPr>
          <a:xfrm>
            <a:off x="594360" y="6382512"/>
            <a:ext cx="11002975" cy="256032"/>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Code und Ausarbeitung: Vortrag4_Berkeley_Analyse.ipynb, Vortrag4_Ausarbeitung.pdf</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11827"/>
          </a:solidFill>
          <a:ln w="12700">
            <a:solidFill>
              <a:srgbClr val="111827"/>
            </a:solidFill>
            <a:prstDash val="solid"/>
          </a:ln>
        </p:spPr>
      </p:sp>
      <p:sp>
        <p:nvSpPr>
          <p:cNvPr id="3" name="Text 1"/>
          <p:cNvSpPr txBox="1"/>
          <p:nvPr/>
        </p:nvSpPr>
        <p:spPr>
          <a:xfrm>
            <a:off x="594360" y="384048"/>
            <a:ext cx="3200400" cy="256032"/>
          </a:xfrm>
          <a:prstGeom prst="rect">
            <a:avLst/>
          </a:prstGeom>
          <a:noFill/>
          <a:ln/>
        </p:spPr>
        <p:txBody>
          <a:bodyPr wrap="square" lIns="0" tIns="0" rIns="0" bIns="0" rtlCol="0" anchor="t"/>
          <a:lstStyle/>
          <a:p>
            <a:pPr indent="0" marL="0">
              <a:buNone/>
            </a:pPr>
            <a:r>
              <a:rPr lang="en-US" sz="1050" b="1" spc="150" kern="0" dirty="0">
                <a:solidFill>
                  <a:srgbClr val="8C97A8"/>
                </a:solidFill>
                <a:latin typeface="Arial" pitchFamily="34" charset="0"/>
                <a:ea typeface="Arial" pitchFamily="34" charset="-122"/>
                <a:cs typeface="Arial" pitchFamily="34" charset="-120"/>
              </a:rPr>
              <a:t>18 — FRAGEN</a:t>
            </a:r>
            <a:endParaRPr lang="en-US" sz="1050" dirty="0"/>
          </a:p>
        </p:txBody>
      </p:sp>
      <p:sp>
        <p:nvSpPr>
          <p:cNvPr id="4" name="Text 2"/>
          <p:cNvSpPr txBox="1"/>
          <p:nvPr/>
        </p:nvSpPr>
        <p:spPr>
          <a:xfrm>
            <a:off x="594360" y="2377440"/>
            <a:ext cx="3474720" cy="109728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Fragen?</a:t>
            </a:r>
            <a:endParaRPr lang="en-US" sz="6000" dirty="0"/>
          </a:p>
        </p:txBody>
      </p:sp>
      <p:sp>
        <p:nvSpPr>
          <p:cNvPr id="5" name="Text 3"/>
          <p:cNvSpPr txBox="1"/>
          <p:nvPr/>
        </p:nvSpPr>
        <p:spPr>
          <a:xfrm>
            <a:off x="594360" y="5120640"/>
            <a:ext cx="3291840" cy="1005840"/>
          </a:xfrm>
          <a:prstGeom prst="rect">
            <a:avLst/>
          </a:prstGeom>
          <a:noFill/>
          <a:ln/>
        </p:spPr>
        <p:txBody>
          <a:bodyPr wrap="square" lIns="0" tIns="0" rIns="0" bIns="0" rtlCol="0" anchor="t"/>
          <a:lstStyle/>
          <a:p>
            <a:pPr indent="0" marL="0">
              <a:lnSpc>
                <a:spcPct val="120000"/>
              </a:lnSpc>
              <a:buNone/>
            </a:pPr>
            <a:r>
              <a:rPr lang="en-US" sz="1400" dirty="0">
                <a:solidFill>
                  <a:srgbClr val="C9D1DC"/>
                </a:solidFill>
                <a:latin typeface="Arial" pitchFamily="34" charset="0"/>
                <a:ea typeface="Arial" pitchFamily="34" charset="-122"/>
                <a:cs typeface="Arial" pitchFamily="34" charset="-120"/>
              </a:rPr>
              <a:t>Leorat Krasniqi</a:t>
            </a:r>
            <a:endParaRPr lang="en-US" sz="1400" dirty="0"/>
          </a:p>
          <a:p>
            <a:pPr indent="0" marL="0">
              <a:lnSpc>
                <a:spcPct val="120000"/>
              </a:lnSpc>
              <a:buNone/>
            </a:pPr>
            <a:r>
              <a:rPr lang="en-US" sz="1400" dirty="0">
                <a:solidFill>
                  <a:srgbClr val="C9D1DC"/>
                </a:solidFill>
                <a:latin typeface="Arial" pitchFamily="34" charset="0"/>
                <a:ea typeface="Arial" pitchFamily="34" charset="-122"/>
                <a:cs typeface="Arial" pitchFamily="34" charset="-120"/>
              </a:rPr>
              <a:t>Teoman-Doganay Lam</a:t>
            </a:r>
            <a:endParaRPr lang="en-US" sz="1400" dirty="0"/>
          </a:p>
          <a:p>
            <a:pPr indent="0" marL="0">
              <a:lnSpc>
                <a:spcPct val="120000"/>
              </a:lnSpc>
              <a:buNone/>
            </a:pPr>
            <a:r>
              <a:rPr lang="en-US" sz="1400" dirty="0">
                <a:solidFill>
                  <a:srgbClr val="C9D1DC"/>
                </a:solidFill>
                <a:latin typeface="Arial" pitchFamily="34" charset="0"/>
                <a:ea typeface="Arial" pitchFamily="34" charset="-122"/>
                <a:cs typeface="Arial" pitchFamily="34" charset="-120"/>
              </a:rPr>
              <a:t>Filip Lazic</a:t>
            </a:r>
            <a:endParaRPr lang="en-US" sz="1400" dirty="0"/>
          </a:p>
        </p:txBody>
      </p:sp>
      <p:sp>
        <p:nvSpPr>
          <p:cNvPr id="6" name="Text 4"/>
          <p:cNvSpPr txBox="1"/>
          <p:nvPr/>
        </p:nvSpPr>
        <p:spPr>
          <a:xfrm>
            <a:off x="10225735" y="384048"/>
            <a:ext cx="1371600" cy="256032"/>
          </a:xfrm>
          <a:prstGeom prst="rect">
            <a:avLst/>
          </a:prstGeom>
          <a:noFill/>
          <a:ln/>
        </p:spPr>
        <p:txBody>
          <a:bodyPr wrap="square" lIns="0" tIns="0" rIns="0" bIns="0" rtlCol="0" anchor="t"/>
          <a:lstStyle/>
          <a:p>
            <a:pPr algn="r" indent="0" marL="0">
              <a:buNone/>
            </a:pPr>
            <a:r>
              <a:rPr lang="en-US" sz="1050" dirty="0">
                <a:solidFill>
                  <a:srgbClr val="5B6472"/>
                </a:solidFill>
                <a:latin typeface="Arial" pitchFamily="34" charset="0"/>
                <a:ea typeface="Arial" pitchFamily="34" charset="-122"/>
                <a:cs typeface="Arial" pitchFamily="34" charset="-120"/>
              </a:rPr>
              <a:t>18 / 18</a:t>
            </a:r>
            <a:endParaRPr lang="en-US" sz="1050" dirty="0"/>
          </a:p>
        </p:txBody>
      </p:sp>
      <p:sp>
        <p:nvSpPr>
          <p:cNvPr id="7" name="Text 5"/>
          <p:cNvSpPr txBox="1"/>
          <p:nvPr/>
        </p:nvSpPr>
        <p:spPr>
          <a:xfrm>
            <a:off x="4754880" y="777240"/>
            <a:ext cx="6766560" cy="457200"/>
          </a:xfrm>
          <a:prstGeom prst="rect">
            <a:avLst/>
          </a:prstGeom>
          <a:noFill/>
          <a:ln/>
        </p:spPr>
        <p:txBody>
          <a:bodyPr wrap="square" lIns="0" tIns="0" rIns="0" bIns="0" rtlCol="0" anchor="t"/>
          <a:lstStyle/>
          <a:p>
            <a:pPr indent="0" marL="0">
              <a:buNone/>
            </a:pPr>
            <a:r>
              <a:rPr lang="en-US" sz="2400" b="1" dirty="0">
                <a:solidFill>
                  <a:srgbClr val="111827"/>
                </a:solidFill>
                <a:latin typeface="Arial" pitchFamily="34" charset="0"/>
                <a:ea typeface="Arial" pitchFamily="34" charset="-122"/>
                <a:cs typeface="Arial" pitchFamily="34" charset="-120"/>
              </a:rPr>
              <a:t>Literaturverzeichnis</a:t>
            </a:r>
            <a:endParaRPr lang="en-US" sz="2400" dirty="0"/>
          </a:p>
        </p:txBody>
      </p:sp>
      <p:sp>
        <p:nvSpPr>
          <p:cNvPr id="8" name="Text 6"/>
          <p:cNvSpPr txBox="1"/>
          <p:nvPr/>
        </p:nvSpPr>
        <p:spPr>
          <a:xfrm>
            <a:off x="4754880" y="1417320"/>
            <a:ext cx="6839712" cy="4846320"/>
          </a:xfrm>
          <a:prstGeom prst="rect">
            <a:avLst/>
          </a:prstGeom>
          <a:noFill/>
          <a:ln/>
        </p:spPr>
        <p:txBody>
          <a:bodyPr wrap="square" lIns="0" tIns="0" rIns="0" bIns="0" rtlCol="0" anchor="t"/>
          <a:lstStyle/>
          <a:p>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Bickel, P. J., Hammel, E. A., &amp; O'Connell, J. W. (1975). Sex bias in graduate admissions: Data from Berkeley. </a:t>
            </a:r>
            <a:pPr indent="0" marL="0">
              <a:lnSpc>
                <a:spcPct val="110000"/>
              </a:lnSpc>
              <a:spcAft>
                <a:spcPts val="900"/>
              </a:spcAft>
              <a:buNone/>
            </a:pPr>
            <a:r>
              <a:rPr lang="en-US" sz="1200" i="1" dirty="0">
                <a:solidFill>
                  <a:srgbClr val="111827"/>
                </a:solidFill>
                <a:latin typeface="Arial" pitchFamily="34" charset="0"/>
                <a:ea typeface="Arial" pitchFamily="34" charset="-122"/>
                <a:cs typeface="Arial" pitchFamily="34" charset="-120"/>
              </a:rPr>
              <a:t>Science, 187</a:t>
            </a:r>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(4175), 398–404. https://doi.org/10.1126/science.187.4175.398</a:t>
            </a:r>
            <a:endParaRPr lang="en-US" sz="1200" dirty="0"/>
          </a:p>
          <a:p>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McKinney, W. (2018). </a:t>
            </a:r>
            <a:pPr indent="0" marL="0">
              <a:lnSpc>
                <a:spcPct val="110000"/>
              </a:lnSpc>
              <a:spcAft>
                <a:spcPts val="900"/>
              </a:spcAft>
              <a:buNone/>
            </a:pPr>
            <a:r>
              <a:rPr lang="en-US" sz="1200" i="1" dirty="0">
                <a:solidFill>
                  <a:srgbClr val="111827"/>
                </a:solidFill>
                <a:latin typeface="Arial" pitchFamily="34" charset="0"/>
                <a:ea typeface="Arial" pitchFamily="34" charset="-122"/>
                <a:cs typeface="Arial" pitchFamily="34" charset="-120"/>
              </a:rPr>
              <a:t>Datenanalyse mit Python</a:t>
            </a:r>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 (2., korrigierte Aufl.). O'Reilly.</a:t>
            </a:r>
            <a:endParaRPr lang="en-US" sz="1200" dirty="0"/>
          </a:p>
          <a:p>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R Core Team. (o. J.). </a:t>
            </a:r>
            <a:pPr indent="0" marL="0">
              <a:lnSpc>
                <a:spcPct val="110000"/>
              </a:lnSpc>
              <a:spcAft>
                <a:spcPts val="900"/>
              </a:spcAft>
              <a:buNone/>
            </a:pPr>
            <a:r>
              <a:rPr lang="en-US" sz="1200" i="1" dirty="0">
                <a:solidFill>
                  <a:srgbClr val="111827"/>
                </a:solidFill>
                <a:latin typeface="Arial" pitchFamily="34" charset="0"/>
                <a:ea typeface="Arial" pitchFamily="34" charset="-122"/>
                <a:cs typeface="Arial" pitchFamily="34" charset="-120"/>
              </a:rPr>
              <a:t>UCBAdmissions: Student admissions at UC Berkeley</a:t>
            </a:r>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 [Datensatz]. R-Paket datasets. https://github.com/wch/r-source/blob/trunk/src/library/datasets/data/UCBAdmissions.R</a:t>
            </a:r>
            <a:endParaRPr lang="en-US" sz="1200" dirty="0"/>
          </a:p>
          <a:p>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Schnauss, M. (o. J.-a). </a:t>
            </a:r>
            <a:pPr indent="0" marL="0">
              <a:lnSpc>
                <a:spcPct val="110000"/>
              </a:lnSpc>
              <a:spcAft>
                <a:spcPts val="900"/>
              </a:spcAft>
              <a:buNone/>
            </a:pPr>
            <a:r>
              <a:rPr lang="en-US" sz="1200" i="1" dirty="0">
                <a:solidFill>
                  <a:srgbClr val="111827"/>
                </a:solidFill>
                <a:latin typeface="Arial" pitchFamily="34" charset="0"/>
                <a:ea typeface="Arial" pitchFamily="34" charset="-122"/>
                <a:cs typeface="Arial" pitchFamily="34" charset="-120"/>
              </a:rPr>
              <a:t>Statistik (w.BA.XX.2Stat-WIN.XX), Teil 1: Tabellen und Diagramme</a:t>
            </a:r>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 [Vorlesungsfolien]. ZHAW School of Management and Law.</a:t>
            </a:r>
            <a:endParaRPr lang="en-US" sz="1200" dirty="0"/>
          </a:p>
          <a:p>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Schnauss, M. (o. J.-b). </a:t>
            </a:r>
            <a:pPr indent="0" marL="0">
              <a:lnSpc>
                <a:spcPct val="110000"/>
              </a:lnSpc>
              <a:spcAft>
                <a:spcPts val="900"/>
              </a:spcAft>
              <a:buNone/>
            </a:pPr>
            <a:r>
              <a:rPr lang="en-US" sz="1200" i="1" dirty="0">
                <a:solidFill>
                  <a:srgbClr val="111827"/>
                </a:solidFill>
                <a:latin typeface="Arial" pitchFamily="34" charset="0"/>
                <a:ea typeface="Arial" pitchFamily="34" charset="-122"/>
                <a:cs typeface="Arial" pitchFamily="34" charset="-120"/>
              </a:rPr>
              <a:t>Statistik (w.BA.XX.2Stat-WIN.XX), Teil 3: Wahrscheinlichkeitsrechnung</a:t>
            </a:r>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 [Vorlesungsfolien]. ZHAW School of Management and Law.</a:t>
            </a:r>
            <a:endParaRPr lang="en-US" sz="1200" dirty="0"/>
          </a:p>
          <a:p>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Simpson, E. H. (1951). The interpretation of interaction in contingency tables. </a:t>
            </a:r>
            <a:pPr indent="0" marL="0">
              <a:lnSpc>
                <a:spcPct val="110000"/>
              </a:lnSpc>
              <a:spcAft>
                <a:spcPts val="900"/>
              </a:spcAft>
              <a:buNone/>
            </a:pPr>
            <a:r>
              <a:rPr lang="en-US" sz="1200" i="1" dirty="0">
                <a:solidFill>
                  <a:srgbClr val="111827"/>
                </a:solidFill>
                <a:latin typeface="Arial" pitchFamily="34" charset="0"/>
                <a:ea typeface="Arial" pitchFamily="34" charset="-122"/>
                <a:cs typeface="Arial" pitchFamily="34" charset="-120"/>
              </a:rPr>
              <a:t>Journal of the Royal Statistical Society: Series B (Methodological), 13</a:t>
            </a:r>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(2), 238–241. https://doi.org/10.1111/j.2517-6161.1951.tb00088.x</a:t>
            </a:r>
            <a:endParaRPr lang="en-US" sz="1200" dirty="0"/>
          </a:p>
          <a:p>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ZHAW School of Management and Law. (2026). </a:t>
            </a:r>
            <a:pPr indent="0" marL="0">
              <a:lnSpc>
                <a:spcPct val="110000"/>
              </a:lnSpc>
              <a:spcAft>
                <a:spcPts val="900"/>
              </a:spcAft>
              <a:buNone/>
            </a:pPr>
            <a:r>
              <a:rPr lang="en-US" sz="1200" i="1" dirty="0">
                <a:solidFill>
                  <a:srgbClr val="111827"/>
                </a:solidFill>
                <a:latin typeface="Arial" pitchFamily="34" charset="0"/>
                <a:ea typeface="Arial" pitchFamily="34" charset="-122"/>
                <a:cs typeface="Arial" pitchFamily="34" charset="-120"/>
              </a:rPr>
              <a:t>Aufgabe 4 (Vortrag-4: Python)</a:t>
            </a:r>
            <a:pPr indent="0" marL="0">
              <a:lnSpc>
                <a:spcPct val="110000"/>
              </a:lnSpc>
              <a:spcAft>
                <a:spcPts val="900"/>
              </a:spcAft>
              <a:buNone/>
            </a:pPr>
            <a:r>
              <a:rPr lang="en-US" sz="1200" dirty="0">
                <a:solidFill>
                  <a:srgbClr val="111827"/>
                </a:solidFill>
                <a:latin typeface="Arial" pitchFamily="34" charset="0"/>
                <a:ea typeface="Arial" pitchFamily="34" charset="-122"/>
                <a:cs typeface="Arial" pitchFamily="34" charset="-120"/>
              </a:rPr>
              <a:t> [Aufgabenblatt].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 Simpson-Paradoxon an der UC Berkeley</dc:title>
  <dc:subject>PptxGenJS Presentation</dc:subject>
  <dc:creator>Leorat Krasniqi, Teoman-Doganay Lam, Filip Lazic</dc:creator>
  <cp:lastModifiedBy>Leorat Krasniqi, Teoman-Doganay Lam, Filip Lazic</cp:lastModifiedBy>
  <cp:revision>1</cp:revision>
  <dcterms:created xsi:type="dcterms:W3CDTF">2026-09-30T14:33:34Z</dcterms:created>
  <dcterms:modified xsi:type="dcterms:W3CDTF">2026-09-30T14:33:34Z</dcterms:modified>
</cp:coreProperties>
</file>