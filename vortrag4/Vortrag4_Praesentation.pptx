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Begrüssung, Vorstellung der Gruppe. Ablauf: 1) Funktionen in Python, 2) die Daten und eine scheinbare Ungerechtigkeit, 3) der genaue Vergleich und stochastische Unabhängigkeit. Dauer ca. 15 Minuten.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1973 befürchtete die UC Berkeley eine Klage: aggregiert wurden deutlich weniger Frauen zugelassen. Unsere drei Aufgaben: (a) Funktionen in Python, (b) Darstellung der scheinbaren Ungerechtigkeit, (c) Vergleich der Verteilungen und stochastische Unabhängigkeit.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Faustregel McKinney: Code, den man mehr als einmal braucht, gehört in eine Funktion. def/return, Positions- vs. Keyword-Argumente (Keyword nach Position, Reihenfolge egal). Lokaler Namensraum wird beim Aufruf erzeugt und danach zerstört; global möglichst vermeiden. Mehrere Rückgabewerte sind eigentlich ein Tupel; Alternative Dictionary. Rechts: unsere Anwendung.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Funktionen lassen sich in Listen speichern und als Argument übergeben (Muster clean_strings aus McKinney). Lambda: anonyme Einzeiler, ideal als Argument. partial: Currying. yield: Generator mit Lazy Evaluation. try/except: nur erwartete Fehler (ValueError) abfangen.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4 hat nur Prozente. Für P(W) und Chi-Quadrat brauchen wir Anzahlen: aus Originaldatensatz, Code prüft Übereinstimmung mit Tabelle 4 (0 Abweichungen). Plausibilisierung: Satz der totalen Wahrscheinlichkeit reproduziert die Totalzeile. Libraries: pandas, numpy, matplotlib, scipy; alle in Anaconda.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 einziger Vergleich genügt: Gesamtquote. Balken mit Nullachse, Werte direkt beschriftet, Differenz eingezeichnet. 44.5 vs. 30.4 Prozent, 14.2 Prozentpunkte. Bei der Quote der Männer wären 817 statt 557 Frauen zugelassen worden.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Wendepunkt: In 4 von 6 Fachbereichen haben Frauen die höhere Quote, in A sogar +20 Prozentpunkte. Nur in C und E leicht tiefer (−2.8, −3.8).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51.5 % der Männer in A oder B (Quote ca. 64 %), nur 7.2 % der Frauen. 92.8 % der Frauen in C bis F mit Quoten 6 bis 35 %. Korrelation Frauenanteil zu Zulassungsquote r = −0.79.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Gesamtquote = gewichteter Mittelwert. Frauen haben hohe Gewichte bei tiefen Quoten. Gleiche Gewichte für beide (Verteilung aller Bewerbungen): Frauen 43.0 %, Männer 38.7 %. Der Unterschied kehrt sich um. Technisch: dieselbe Funktion gesamtquote, nur andere Gewichte.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 aus Teil 3: P(A|B) = P(A) bzw. P(A∩B) = P(A)P(B). Gesamt: 0.1231 statt 0.1572, also abhängig, Chi2 = 92.2, p &lt; 0.001. Je Fachbereich: B bis F unabhängig (p &gt; 0.3), nur A abhängig, aber zugunsten der Frauen. Bedingte Unabhängigkeit gegeben Fachbereich; der Fachbereich ist der Confounder.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Zusammenfassung verbirgt die Drittvariable Fachbereich: Simpson-Paradoxon. Keine Benachteiligung durch die Fachbereiche nachweisbar, aber offene Frage, warum Frauen sich in selektivere Fachbereiche bewarben. Programmtechnisch: Funktionen machen die Analyse wiederverwendbar.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Dank, Fragen aus dem Publikum entgegennehmen.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80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Das Berkeley-Paradoxon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88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DDE6F0"/>
                </a:solidFill>
                <a:latin typeface="Calibri"/>
              </a:rPr>
              <a:t>Zulassungen an der UC Berkeley 1973: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DDE6F0"/>
                </a:solidFill>
                <a:latin typeface="Calibri"/>
              </a:rPr>
              <a:t>Funktionen in Python, Visualisierung und stochastische Unabhängigkeit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86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DDE6F0"/>
                </a:solidFill>
                <a:latin typeface="Calibri"/>
              </a:rPr>
              <a:t>Vortrag 4 · Statistik · Wirtschaftsinformatik · Kleinklasse HS 2026</a:t>
            </a:r>
          </a:p>
          <a:p>
            <a:pPr>
              <a:spcAft>
                <a:spcPts val="720"/>
              </a:spcAft>
            </a:pPr>
            <a:r>
              <a:rPr sz="1600" b="0">
                <a:solidFill>
                  <a:srgbClr val="DDE6F0"/>
                </a:solidFill>
                <a:latin typeface="Calibri"/>
              </a:rPr>
              <a:t>Leorat Krasniqi · Teoman-Doganay Lam · Filip Lazic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Ausgangslage: Diskriminierung in Berkeley?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•  4 526 Bewerbungen für ein Graduate-Studium in 6 Fachbereichen (A bis F)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•  Tabelle 4: Zulassungsquote je Fachbereich und Geschlecht sowie Verteilung der Bewerbungen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(a): Funktionen in Python (McKinney 2018, Abschnitt 3.2)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(b): Die Ungerechtigkeit auf einen Blick darstellen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(c): Verteilungen vergleichen, stochastische Unabhängigkeit prüfen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(a) Funktionen in Python: Grundlagen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504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def deklariert, return gibt zurück (ohne return: None)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Positions- und Keyword-Argumente mit Standardwert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Lokaler Namensraum; global vermeiden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Mehrere Rückgabewerte = ein Tupel, alternativ Dictionary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0" y="1224000"/>
            <a:ext cx="5940000" cy="4320000"/>
          </a:xfrm>
          <a:prstGeom prst="rect">
            <a:avLst/>
          </a:prstGeom>
          <a:solidFill>
            <a:srgbClr val="F2F2F2"/>
          </a:solidFill>
        </p:spPr>
        <p:txBody>
          <a:bodyPr wrap="square" lIns="144000" rIns="144000" tIns="108000" bIns="10800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vierfeldertafel(daten, fachbereich=None):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if fachbereich is not None: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daten = daten[daten["Fachbereich"] == fachbereich]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return daten.pivot_table(index="Geschlecht",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                     columns="Entscheid",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                     values="Anzahl", aggfunc="sum")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kennzahlen(zugelassen, abgelehnt, total):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bewerbungen = zugelassen + abgelehnt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return zugelassen / bewerbungen, bewerbungen / total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quote, anteil = kennzahlen(89, 19, 1835)  # Tupel entpacken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(a) Funktionen als Objekte, Lambda, yield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11088000" cy="5040000"/>
          </a:xfrm>
          <a:prstGeom prst="rect">
            <a:avLst/>
          </a:prstGeom>
          <a:solidFill>
            <a:srgbClr val="F2F2F2"/>
          </a:solidFill>
        </p:spPr>
        <p:txBody>
          <a:bodyPr wrap="square" lIns="144000" rIns="144000" tIns="108000" bIns="10800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Funktionen in einer Liste -&gt; nacheinander anwenden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bereinigungs_schritte = [str.strip, entferne_prozentzeichen, in_anteil]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tab4 = bereinige(["82.4%", "68.0%", ...], bereinigungs_schritte)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Lambda-Funktion und Currying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prozent = lambda x: f"{x:.1%}"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pruefe_streng = partial(pruefe_unabhaengigkeit, alpha=0.01)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Generator: liefert Ergebnisse erst auf Anfrage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ergebnisse_je_fachbereich(daten, fachbereiche):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for fb in fachbereiche: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yield fb, pruefe_unabhaengigkeit(vierfeldertafel(daten, fb))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Ausnahmebehandlung: nur den erwarteten Fehler abfangen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in_anteil(wert):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try: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return float(wert) / 100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raise ValueError(f"Ungültiger Tabellenwert: {wert!r}")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Vorüberlegungen zur Umsetzung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Tabelle 4 enthält nur Prozente, deshalb Anzahlen aus dem Originaldatensatz (Bickel et al. 1975); der Code prüft sie gegen Tabelle 4: 0 Abweichungen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Plausibilitätskontrolle: P(Z | G) = Σ P(Fᵢ | G) · P(Z | Fᵢ, G) ergibt die Zeile «Total»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Langes DataFrame (Fachbereich × Geschlecht × Entscheid), daraus jede Kreuztabelle mit pivot_table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Wiederholte Schritte als Funktionen: gesamt und für jeden der 6 Fachbereiche</a:t>
            </a:r>
          </a:p>
          <a:p>
            <a:pPr>
              <a:spcAft>
                <a:spcPts val="855"/>
              </a:spcAft>
            </a:pPr>
            <a:r>
              <a:rPr sz="1900" b="1">
                <a:solidFill>
                  <a:srgbClr val="52514E"/>
                </a:solidFill>
                <a:latin typeface="Calibri"/>
              </a:rPr>
              <a:t>•  pandas: Tabellen · numpy: Rechnen · matplotlib: Grafiken · scipy.stats: Chi-Quadrat-Test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(b) Die scheinbare Ungerechtigkeit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2</a:t>
            </a:r>
          </a:p>
        </p:txBody>
      </p:sp>
      <p:pic>
        <p:nvPicPr>
          <p:cNvPr id="5" name="Picture 4" descr="abb1_gesamtquo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152000"/>
            <a:ext cx="7457143" cy="52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620000"/>
            <a:ext cx="37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Männer: 44.5 %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Frauen: 30.4 %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Differenz: 14.2 Prozentpunkte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Bei Männerquote: 817 statt 557 Frauen zugelassen</a:t>
            </a:r>
          </a:p>
          <a:p>
            <a:pPr>
              <a:spcAft>
                <a:spcPts val="810"/>
              </a:spcAft>
            </a:pPr>
            <a:r>
              <a:rPr sz="1800" b="1">
                <a:solidFill>
                  <a:srgbClr val="52514E"/>
                </a:solidFill>
                <a:latin typeface="Calibri"/>
              </a:rPr>
              <a:t>•  Also Diskriminierung?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Je Fachbereich: kein Nachteil für Frauen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3</a:t>
            </a:r>
          </a:p>
        </p:txBody>
      </p:sp>
      <p:pic>
        <p:nvPicPr>
          <p:cNvPr id="5" name="Picture 4" descr="abb2_quote_fachbere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224000"/>
            <a:ext cx="8181818" cy="4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28000" y="1620000"/>
            <a:ext cx="306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In 4 von 6 Fachbereichen haben Frauen die höhere Quote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FB A: +20.3 Prozentpunkte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FB C und E: −2.8 bzw. −3.8 Prozentpunkte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Frauen wählten selektivere Fachbereiche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3</a:t>
            </a:r>
          </a:p>
        </p:txBody>
      </p:sp>
      <p:pic>
        <p:nvPicPr>
          <p:cNvPr id="5" name="Picture 4" descr="abb3_anteil_fachbere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1224000"/>
            <a:ext cx="5832000" cy="3207600"/>
          </a:xfrm>
          <a:prstGeom prst="rect">
            <a:avLst/>
          </a:prstGeom>
        </p:spPr>
      </p:pic>
      <p:pic>
        <p:nvPicPr>
          <p:cNvPr id="6" name="Picture 5" descr="abb4_selektivita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000" y="1224000"/>
            <a:ext cx="5760000" cy="37851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0000" y="4824000"/>
            <a:ext cx="11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Männer: 51.5 % bewerben sich in A oder B (Zulassungsquote ≈ 64 %)  ·  Frauen: nur 7.2 %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Je höher der Frauenanteil, desto tiefer die Zulassungsquote des Fachbereichs (r = −0.79)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Die Erklärung: totale Wahrscheinlichkeit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3</a:t>
            </a:r>
          </a:p>
        </p:txBody>
      </p:sp>
      <p:pic>
        <p:nvPicPr>
          <p:cNvPr id="5" name="Picture 4" descr="abb5_standardisi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296000"/>
            <a:ext cx="6900000" cy="414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68000" y="1440000"/>
            <a:ext cx="4248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1">
                <a:solidFill>
                  <a:srgbClr val="52514E"/>
                </a:solidFill>
                <a:latin typeface="Calibri"/>
              </a:rPr>
              <a:t>P(Z | G) = Σ P(Fᵢ | G) · P(Z | Fᵢ, G)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Gesamtquote = gewichteter Mittelwert der Fachbereichsquoten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Gleiche Gewichte für beide Geschlechter:</a:t>
            </a:r>
          </a:p>
          <a:p>
            <a:pPr>
              <a:spcAft>
                <a:spcPts val="765"/>
              </a:spcAft>
            </a:pPr>
            <a:r>
              <a:rPr sz="1700" b="1">
                <a:solidFill>
                  <a:srgbClr val="52514E"/>
                </a:solidFill>
                <a:latin typeface="Calibri"/>
              </a:rPr>
              <a:t>Frauen 43.0 % · Männer 38.7 %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gesamtquote(quote_g[g], gewichte_alle)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Stochastische Unabhängigkeit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Z, W unabhängig  ⇔  P(Z ∩ W) = P(Z) · P(W)  ⇔  P(Z | W) = P(Z)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908000"/>
          <a:ext cx="1116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/>
                <a:gridCol w="1422000"/>
                <a:gridCol w="1422000"/>
                <a:gridCol w="1422000"/>
                <a:gridCol w="1422000"/>
                <a:gridCol w="4392000"/>
              </a:tblGrid>
              <a:tr h="45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P(Z|W)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P(Z|M)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P(Z∩W)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P(Z)·P(W)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Chi-Quadrat-Test (α = 5 %)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1"/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30.4 %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44.5 %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0.1231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0.1572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χ² = 92.2, p &lt; 0.001: 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82.4 %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62.1 %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0.0746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χ² = 17.3, p &lt; 0.001: abhängig (pro Frauen)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68.0 %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63.0 %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p = 0.61: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34.1 %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36.9 %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0.2200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0.2266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p = 0.39: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34.9 %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33.1 %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p = 0.59: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23.9 %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27.7 %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p = 0.32: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7.0 %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5.9 %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p = 0.54: unabhängig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76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Insgesamt abhängig, innerhalb der Fachbereiche (bis auf A) unabhängig: bedingte Unabhängigkeit gegeben Fachbereich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Aggregiert: Zulassung und Geschlecht sind stochastisch abhängig (30.4 % vs. 44.5 %)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Je Fachbereich: kein Nachteil für Frauen; bedingt auf den Fachbereich meist unabhängig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Ursache: Frauen bewarben sich häufiger in stark umkämpften Fachbereichen</a:t>
            </a:r>
          </a:p>
          <a:p>
            <a:pPr>
              <a:spcAft>
                <a:spcPts val="855"/>
              </a:spcAft>
            </a:pPr>
            <a:r>
              <a:rPr sz="1900" b="1">
                <a:solidFill>
                  <a:srgbClr val="52514E"/>
                </a:solidFill>
                <a:latin typeface="Calibri"/>
              </a:rPr>
              <a:t>•  Simpson-Paradoxon: Die Drittvariable Fachbereich kehrt den Zusammenhang um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Grenzen: Beobachtungsdaten eines Jahres; Gründe für die Fachbereichswahl bleiben offen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Python: Dieselben Funktionen für Gesamtanalyse, 6 Fachbereiche und Standardisierung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Quellen · Fragen?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Bickel, P. J., Hammel, E. A. &amp; O'Connell, J. W. (1975). Sex Bias in Graduate Admissions: Data from Berkeley. Science, 187(4175), 398–404.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McKinney, W. (2018). Datenanalyse mit Python (2. Aufl.). O'Reilly. Abschnitt 3.2 Funktionen.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Newbold, P., Carlson, W. &amp; Thorne, B. (2013). Statistics for Business and Economics (8th ed.). Pearson.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ZHAW SML (HS 2026). Folienskript Statistik, Teil 3; Aufgabe 4, Tabelle 4: UCB Admissions.</a:t>
            </a:r>
          </a:p>
          <a:p>
            <a:pPr>
              <a:spcAft>
                <a:spcPts val="675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Code: Vortrag4_Berkeley_Analyse.ipynb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