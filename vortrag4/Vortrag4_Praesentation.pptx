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Begrüssung, Vorstellung der Gruppe. Ablauf: 1) Funktionen in Python, 2) die Daten und eine scheinbare Ungerechtigkeit, 3) der genaue Vergleich und stochastische Unabhängigkeit. Dauer ca. 15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4 526 Bewerbungen an den sechs grössten Fachbereichen. Aggregiert wurden deutlich weniger Frauen zugelassen; Bickel et al. (1975) haben die Zahlen auf eine Benachteiligung von Frauen untersucht. Unsere drei Aufgaben: (a) Funktionen in Python, (b) Darstellung der scheinbaren Ungerechtigkeit, (c) Vergleich der Verteilungen und stochastische Unabhängigkeit.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Faustregel McKinney: Code, den man mehr als einmal braucht, gehört in eine Funktion (S. 71). def/return, Positions- vs. Keyword-Argumente: Keyword nach Position, untereinander Reihenfolge egal (S. 72). Lokaler Namensraum wird beim Aufruf erzeugt und danach gelöscht; global möglichst vermeiden (S. 72–73). Mehrere Rückgabewerte sind eigentlich ein Tupel; Alternative Dictionary (S. 73–74). Rechts: unsere 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Funktionen lassen sich in Listen speichern und als Argument übergeben, Muster clean_strings (S. 74–75). Lambda: anonyme Einzeiler, ideal als Argument (S. 75–76). partial: Currying (S. 76–77). yield: Generator mit Lazy Evaluation (S. 77–78). try/except: nur den erwarteten Fehler (ValueError) abfangen (S. 79–81).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4 hat nur Prozente. Für P(W) und P(Z ∩ W) brauchen wir Anzahlen: aus dem Originaldatensatz (R-Datensatz UCBAdmissions), der Code prüft die Übereinstimmung mit Tabelle 4 (0 Abweichungen). Plausibilisierung: Der Satz der totalen Wahrscheinlichkeit reproduziert die Zeile Total. Diagrammtypen wie im Folienskript Teil 1. Libraries: pandas, numpy, matplotlib; alle in Anaconda enthalten.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einziger Vergleich genügt: die Gesamtquote. Säulendiagramm mit Nullachse, Werte direkt beschriftet, Differenz eingezeichnet. 44.5 vs. 30.4 Prozent, also 14.2 Prozentpunkte. Bei der Quote der Männer wären 817 statt 557 Frauen zugelassen worden.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Wendepunkt: In 4 von 6 Fachbereichen haben Frauen die höhere Quote, in A sogar +20.3 Prozentpunkte. Nur in C und E liegen sie leicht tiefer (−2.9 und −3.8 Prozentpunkte).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51.5 % der Männer bewarben sich in A oder B (Quote ca. 64 %), aber nur 7.2 % der Frauen. 92.8 % der Frauen bewarben sich in C bis F mit Quoten von 6 bis 35 %. Korrelation Frauenanteil zu Zulassungsquote: r = −0.79.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Baumdiagramm: alle Wege nach B addieren (Folienskript Teil 3, Folie 37). Die Gesamtquote ist ein gewichteter Mittelwert der Fachbereichsquoten. Frauen haben hohe Gewichte bei tiefen Quoten. Mit gleichen Gewichten für beide (Verteilung aller Bewerbungen): Frauen 43.0 %, Männer 38.7 %. Der Unterschied kehrt sich um. Technisch: dieselbe Funktion gesamtquote, nur andere Gewichte.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aus Teil 3, Folie 34: P(A|B) = P(A) bzw. P(A∩B) = P(A)·P(B), wie im Beispiel Navi und Klimaanlage. Gesamt: P(Z∩W) = 0.1231 statt 0.1572, also abhängig. Je Fachbereich: B bis F höchstens 5 Prozentpunkte Unterschied mit wechselnder Richtung, also annähernd unabhängig; B beruht auf nur 25 Frauen. Nur A deutlich abhängig, aber zugunsten der Frauen. Der Fachbereich ist die Drittvariable.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Zusammenfassung verbirgt die Drittvariable Fachbereich: Simpson-Paradoxon (Simpson, 1951). Eine Benachteiligung durch die Fachbereiche ist nicht erkennbar; offen bleibt, warum Frauen sich in selektivere Fachbereiche bewarben. Ob kleine Abweichungen zufällig sind, würde ein Hypothesentest klären; der ist erst später im Semester dran. Programmtechnisch: Funktionen machen die Analyse wiederverwendbar.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Dank, Fragen aus dem Publikum entgegennehmen.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296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Das Simpson-Paradoxon</a:t>
            </a:r>
          </a:p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an der UC Berkeley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24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Zulassungen 1973: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Funktionen in Python, Visualisierung und stochastische Unabhängigkeit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86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Vortrag 4 · Statistik · Wirtschaftsinformatik · Kleinklasse HS 2026</a:t>
            </a:r>
          </a:p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Leorat Krasniqi · Teoman-Doganay Lam · Filip Lazic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Ausgangslage: Diskriminierung in Berkeley?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4 526 Bewerbungen für ein Graduate-Studium an den 6 grössten Fachbereichen (A bis F)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Tabelle 4: Zulassungsquote je Fachbereich und Geschlecht sowie Verteilung der Bewerbungen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(a): Funktionen in Python (McKinney, 2018, Abschnitt 3.2)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(b): Die Ungerechtigkeit auf einen Blick darstellen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(c): Verteilungen vergleichen, stochastische Unabhängigkeit prüfen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ZHAW SML (2026)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in Python: Grundlagen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50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def deklariert, return gibt zurück (ohne return: None)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Positions- und Keyword-Argumente mit Standardwert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Lokaler Namensraum; global vermeiden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Mehrere Rückgabewerte = ein Tupel, alternativ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0" y="1224000"/>
            <a:ext cx="5940000" cy="432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kreuztabelle(daten, fachbereich=None):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if fachbereich is not None: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daten = daten[daten["Fachbereich"] == fachbereich]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daten.pivot_table(index="Geschlecht",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columns="Entscheid",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values="Anzahl", aggfunc="sum")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kennzahlen(zugelassen, abgelehnt, total):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bewerbungen = zugelassen + abgelehnt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zugelassen / bewerbungen, bewerbungen / total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quote, anteil = kennzahlen(89, 19, 1835)  # Tupel entpacken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71–74)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als Objekte, Lambda,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Leorat Krasniqi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088000" cy="504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Funktionen in einer Liste -&gt; nacheinander anwenden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bereinigungs_schritte = [str.strip, entferne_prozentzeichen, in_anteil]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tab4 = bereinige(["82.4%", "68.0%", ...], bereinigungs_schritte)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Lambda-Funktion und Currying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prozent = lambda x: f"{x:.1%}"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quote_frauen = partial(bedingte_quote, geschlecht="Frauen")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Generator: liefert Ergebnisse erst auf Anfrage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ergebnisse_je_fachbereich(daten, fachbereiche):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for fb in fachbereiche: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yield fb, pruefe_unabhaengigkeit(kreuztabelle(daten, fachbereich=fb))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Ausnahmebehandlung: nur den erwarteten Fehler abfangen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in_anteil(wert):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try: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return float(wert) / 100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raise ValueError(f"Ungültiger Tabellenwert: {wert!r}")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74–81)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Vorüberlegungen zur Umsetzung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Tabelle 4 enthält nur Prozente, deshalb Anzahlen aus dem Originaldatensatz; der Code prüft sie gegen Tabelle 4: 0 Abweichungen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Plausibilitätskontrolle: P(Z | G) = Σ P(Fᵢ | G) · P(Z | Fᵢ, G) ergibt die Zeile «Total»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Langes DataFrame (Fachbereich × Geschlecht × Entscheid), daraus jede Kreuztabelle mit pivot_table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Wiederholte Schritte als Funktionen: gesamt und für jeden der 6 Fachbereiche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Diagramme wie im Kurs: Säulen-, gruppiertes Säulen- und Streudiagramm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pandas: Tabellen · numpy: Rechnen · matplotlib: Diagramme · re/functools: Standardbibliothek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R Core Team (o. J.); Schnauss (o. J.-a, Folien 16, 42, 45; o. J.-b, Folie 37)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(b) Die scheinbare Ungerechtigkeit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1_gesamt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52000"/>
            <a:ext cx="7200000" cy="50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620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Männer: 44.5 %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Frauen: 30.4 %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Differenz: 14.2 Prozentpunkte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Bei Männerquote: 817 statt 557 Frauen zugelassen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Also Diskriminierung?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Je Fachbereich: kein Nachteil für Frauen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2_quote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24000"/>
            <a:ext cx="8181818" cy="4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28000" y="1620000"/>
            <a:ext cx="306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In 4 von 6 Fachbereichen haben Frauen die höhere Quote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A: +20.3 Prozentpunkte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C und E: −2.9 bzw. −3.8 Prozentpunkte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ZHAW SML (2026), Tabelle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Frauen wählten selektivere Fachbereiche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Teoman-Doganay Lam</a:t>
            </a:r>
          </a:p>
        </p:txBody>
      </p:sp>
      <p:pic>
        <p:nvPicPr>
          <p:cNvPr id="5" name="Picture 4" descr="abb3_anteil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1224000"/>
            <a:ext cx="5832000" cy="3207600"/>
          </a:xfrm>
          <a:prstGeom prst="rect">
            <a:avLst/>
          </a:prstGeom>
        </p:spPr>
      </p:pic>
      <p:pic>
        <p:nvPicPr>
          <p:cNvPr id="6" name="Picture 5" descr="abb4_selektivita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000" y="1224000"/>
            <a:ext cx="5760000" cy="3785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000" y="4824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Männer: 51.5 % bewerben sich in A oder B (Zulassungsquote ≈ 64 %)  ·  Frauen: nur 7.2 %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Je höher der Frauenanteil, desto tiefer die Zulassungsquote des Fachbereichs (r = −0.79)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(1975); ZHAW SML (2026)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Die Erklärung: totale Wahrscheinlichkeit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pic>
        <p:nvPicPr>
          <p:cNvPr id="5" name="Picture 4" descr="abb5_standardisi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96000"/>
            <a:ext cx="6900000" cy="41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68000" y="1440000"/>
            <a:ext cx="4248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P(Z | G) = Σ P(Fᵢ | G) · P(Z | Fᵢ, G)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 = gewichteter Mittelwert der Fachbereichsquoten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Gleiche Gewichte für beide Geschlechter:</a:t>
            </a:r>
          </a:p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Frauen 43.0 % · Männer 38.7 %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gesamtquote(quote_g[g], gewichte_alle)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 und Berechnung; Schnauss (o. J.-b, Folie 37); Daten: Bickel et al. (1975)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Stochastische Unabhängigkeit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Z, W unabhängig  ⇔  P(Z ∩ W) = P(Z) · P(W)  ⇔  P(Z | W) = P(Z)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872000"/>
          <a:ext cx="11159999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999"/>
                <a:gridCol w="1152000"/>
                <a:gridCol w="1152000"/>
                <a:gridCol w="1296000"/>
                <a:gridCol w="1152000"/>
                <a:gridCol w="1296000"/>
                <a:gridCol w="4104000"/>
              </a:tblGrid>
              <a:tr h="45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Differenz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P(Z∩W)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P(Z)·P(W)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Beurteilung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1"/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30.4 %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44.5 %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−14.2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82.4 %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62.1 %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+20.3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abhängig, zugunsten Frauen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68.0 %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63.0 %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+5.0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 (nur 25 Frauen)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−2.9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33.1 %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23.9 %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27.7 %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−3.8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7.0 %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5.9 %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688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Insgesamt abhängig, innerhalb der Fachbereiche (bis auf A) annähernd unabhängig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Berechnung; Schnauss (o. J.-b, Folie 34); Daten: Bickel et al. (1975)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Filip Lazic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Aggregiert: Zulassung und Geschlecht sind stochastisch abhängig (30.4 % vs. 44.5 %)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Je Fachbereich: kein Nachteil für Frauen; gegeben den Fachbereich annähernd unabhängig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Ursache: Frauen bewarben sich häufiger in stark umkämpften Fachbereichen</a:t>
            </a:r>
          </a:p>
          <a:p>
            <a:pPr>
              <a:spcAft>
                <a:spcPts val="855"/>
              </a:spcAft>
            </a:pPr>
            <a:r>
              <a:rPr sz="1900" b="1">
                <a:solidFill>
                  <a:srgbClr val="52514E"/>
                </a:solidFill>
                <a:latin typeface="Calibri"/>
              </a:rPr>
              <a:t>•  Simpson-Paradoxon: Die Drittvariable Fachbereich kehrt den Zusammenhang um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Grenzen: Beobachtungsdaten eines Jahres; Gründe für die Fachbereichswahl bleiben offen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Python: Dieselben Funktionen für Gesamtanalyse, 6 Fachbereiche und Standardisierung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Simpson (1951)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Literaturverzeichnis · 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Bickel, P. J., Hammel, E. A., &amp; O'Connell, J. W. (1975). Sex bias in graduate admissions: Data from Berkeley. </a:t>
            </a:r>
            <a:r>
              <a:rPr sz="1300" i="1">
                <a:solidFill>
                  <a:srgbClr val="52514E"/>
                </a:solidFill>
                <a:latin typeface="Calibri"/>
              </a:rPr>
              <a:t>Science, 187</a:t>
            </a:r>
            <a:r>
              <a:rPr sz="1300" i="0">
                <a:solidFill>
                  <a:srgbClr val="52514E"/>
                </a:solidFill>
                <a:latin typeface="Calibri"/>
              </a:rPr>
              <a:t>(4175), 398–404. https://doi.org/10.1126/science.187.4175.398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McKinney, W. (2018). </a:t>
            </a:r>
            <a:r>
              <a:rPr sz="1300" i="1">
                <a:solidFill>
                  <a:srgbClr val="52514E"/>
                </a:solidFill>
                <a:latin typeface="Calibri"/>
              </a:rPr>
              <a:t>Datenanalyse mit Python</a:t>
            </a:r>
            <a:r>
              <a:rPr sz="1300" i="0">
                <a:solidFill>
                  <a:srgbClr val="52514E"/>
                </a:solidFill>
                <a:latin typeface="Calibri"/>
              </a:rPr>
              <a:t> (2., korrigierte Aufl.). O'Reilly.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R Core Team. (o. J.). </a:t>
            </a:r>
            <a:r>
              <a:rPr sz="1300" i="1">
                <a:solidFill>
                  <a:srgbClr val="52514E"/>
                </a:solidFill>
                <a:latin typeface="Calibri"/>
              </a:rPr>
              <a:t>UCBAdmissions: Student admissions at UC Berkeley</a:t>
            </a:r>
            <a:r>
              <a:rPr sz="1300" i="0">
                <a:solidFill>
                  <a:srgbClr val="52514E"/>
                </a:solidFill>
                <a:latin typeface="Calibri"/>
              </a:rPr>
              <a:t> [Datensatz]. R-Paket datasets. https://github.com/wch/r-source/blob/trunk/src/library/datasets/data/UCBAdmissions.R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J.-a).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1: Tabellen und Diagramme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J.-b).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3: Wahrscheinlichkeitsrechnung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Simpson, E. H. (1951). The interpretation of interaction in contingency tables. </a:t>
            </a:r>
            <a:r>
              <a:rPr sz="1300" i="1">
                <a:solidFill>
                  <a:srgbClr val="52514E"/>
                </a:solidFill>
                <a:latin typeface="Calibri"/>
              </a:rPr>
              <a:t>Journal of the Royal Statistical Society: Series B (Methodological), 13</a:t>
            </a:r>
            <a:r>
              <a:rPr sz="1300" i="0">
                <a:solidFill>
                  <a:srgbClr val="52514E"/>
                </a:solidFill>
                <a:latin typeface="Calibri"/>
              </a:rPr>
              <a:t>(2), 238–241. https://doi.org/10.1111/j.2517-6161.1951.tb00088.x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ZHAW School of Management and Law. (2026). </a:t>
            </a:r>
            <a:r>
              <a:rPr sz="1300" i="1">
                <a:solidFill>
                  <a:srgbClr val="52514E"/>
                </a:solidFill>
                <a:latin typeface="Calibri"/>
              </a:rPr>
              <a:t>Aufgabe 4 (Vortrag-4: Python)</a:t>
            </a:r>
            <a:r>
              <a:rPr sz="1300" i="0">
                <a:solidFill>
                  <a:srgbClr val="52514E"/>
                </a:solidFill>
                <a:latin typeface="Calibri"/>
              </a:rPr>
              <a:t> [Aufgabenblatt].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Code und Ausarbeitung: Vortrag4_Berkeley_Analyse.ipynb, Vortrag4_Ausarbeitung.docx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