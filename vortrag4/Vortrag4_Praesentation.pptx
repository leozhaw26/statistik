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Begrüssung, Vorstellung der Gruppe. Ablauf: 1) Funktionen in Python, 2) die Daten und eine scheinbare Ungerechtigkeit, 3) der genaue Vergleich und stochastische Unabhängigkeit. Dauer ca. 15 Minuten.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4 526 Bewerbungen an den sechs grössten Fachbereichen. Aggregiert wurden deutlich weniger Frauen zugelassen; Bickel et al. (1975) haben die Zahlen auf eine Benachteiligung von Frauen untersucht. Unsere drei Aufgaben: (a) Funktionen in Python, (b) Darstellung der scheinbaren Ungerechtigkeit, (c) Vergleich der Verteilungen und stochastische Unabhängigkeit.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Faustregel McKinney: Code, den man mehr als einmal braucht, gehört in eine Funktion (S. 71). def/return, Positions- vs. Keyword-Argumente: Keyword nach Position, untereinander Reihenfolge egal (S. 72). Lokaler Namensraum wird beim Aufruf erzeugt und danach gelöscht; global möglichst vermeiden (S. 72–73). Mehrere Rückgabewerte sind eigentlich ein Tupel; Alternative Dictionary (S. 73–74). Rechts: unsere Anwendung.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Funktionen lassen sich in Listen speichern und als Argument übergeben, Muster clean_strings (S. 74–75). Lambda: anonyme Einzeiler, ideal als Argument (S. 75–76). partial: Currying (S. 76–77). yield: Generator mit Lazy Evaluation (S. 77–78). try/except: nur den erwarteten Fehler (ValueError) abfangen (S. 79–81).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Tabelle 4 hat nur Prozente. Für P(W) und P(Z ∩ W) brauchen wir Anzahlen: aus dem Originaldatensatz (R-Datensatz UCBAdmissions), der Code prüft die Übereinstimmung mit Tabelle 4 (0 Abweichungen). Plausibilisierung: Der Satz der totalen Wahrscheinlichkeit reproduziert die Zeile Total. Diagrammtypen wie im Folienskript Teil 1. Libraries: pandas, numpy, matplotlib; alle in Anaconda enthalten.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 einziger Vergleich genügt: die Gesamtquote. Säulendiagramm mit Nullachse, Werte direkt beschriftet, Differenz eingezeichnet. 44.5 vs. 30.4 Prozent, also 14.2 Prozentpunkte. Bei der Quote der Männer wären 817 statt 557 Frauen zugelassen worden.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Wendepunkt: In 4 von 6 Fachbereichen haben Frauen die höhere Quote, in A sogar +20.3 Prozentpunkte. Nur in C und E liegen sie leicht tiefer (−2.9 und −3.8 Prozentpunkte).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51.5 % der Männer bewarben sich in A oder B (Quote ca. 64 %), aber nur 7.2 % der Frauen. 92.8 % der Frauen bewarben sich in C bis F mit Quoten von 6 bis 35 %. Korrelation Frauenanteil zu Zulassungsquote: r = −0.79.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 Baumdiagramm: alle Wege nach B addieren (Folienskript Teil 3, Folie 37). Die Gesamtquote ist ein gewichteter Mittelwert der Fachbereichsquoten. Frauen haben hohe Gewichte bei tiefen Quoten. Mit gleichen Gewichten für beide (Verteilung aller Bewerbungen): Frauen 43.0 %, Männer 38.7 %. Der Unterschied kehrt sich um. Technisch: dieselbe Funktion gesamtquote, nur andere Gewichte.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 aus Teil 3, Folie 34: P(A|B) = P(A) bzw. P(A∩B) = P(A)·P(B), wie im Beispiel Navi und Klimaanlage. Gesamt: P(Z∩W) = 0.1231 statt 0.1572, also abhängig. Je Fachbereich: B bis F höchstens 5 Prozentpunkte Unterschied mit wechselnder Richtung, also annähernd unabhängig; B beruht auf nur 25 Frauen. Nur A deutlich abhängig, aber zugunsten der Frauen. Der Fachbereich ist die Drittvariable.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Zusammenfassung verbirgt die Drittvariable Fachbereich: Simpson-Paradoxon (Simpson, 1951). Eine Benachteiligung durch die Fachbereiche ist nicht erkennbar; offen bleibt, warum Frauen sich in selektivere Fachbereiche bewarben. Ob kleine Abweichungen zufällig sind, würde ein Hypothesentest klären; der ist erst später im Semester dran. Programmtechnisch: Funktionen machen die Analyse wiederverwendbar.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Dank, Fragen aus dem Publikum entgegennehmen.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1800000"/>
            <a:ext cx="1080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Das Berkeley-Paradoxon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2880000"/>
            <a:ext cx="1080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DDE6F0"/>
                </a:solidFill>
                <a:latin typeface="Calibri"/>
              </a:rPr>
              <a:t>Zulassungen an der UC Berkeley 1973: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DDE6F0"/>
                </a:solidFill>
                <a:latin typeface="Calibri"/>
              </a:rPr>
              <a:t>Funktionen in Python, Visualisierung und stochastische Unabhängigkeit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4860000"/>
            <a:ext cx="1080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0"/>
              </a:spcAft>
            </a:pPr>
            <a:r>
              <a:rPr sz="1600" b="0">
                <a:solidFill>
                  <a:srgbClr val="DDE6F0"/>
                </a:solidFill>
                <a:latin typeface="Calibri"/>
              </a:rPr>
              <a:t>Vortrag 4 · Statistik · Wirtschaftsinformatik · Kleinklasse HS 2026</a:t>
            </a:r>
          </a:p>
          <a:p>
            <a:pPr>
              <a:spcAft>
                <a:spcPts val="720"/>
              </a:spcAft>
            </a:pPr>
            <a:r>
              <a:rPr sz="1600" b="0">
                <a:solidFill>
                  <a:srgbClr val="DDE6F0"/>
                </a:solidFill>
                <a:latin typeface="Calibri"/>
              </a:rPr>
              <a:t>Leorat Krasniqi · Teoman-Doganay Lam · Filip Lazic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Ausgangslage: Diskriminierung in Berkeley?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Sprecher/in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224000"/>
            <a:ext cx="1098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52514E"/>
                </a:solidFill>
                <a:latin typeface="Calibri"/>
              </a:rPr>
              <a:t>•  4 526 Bewerbungen für ein Graduate-Studium an den 6 grössten Fachbereichen (A bis F)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52514E"/>
                </a:solidFill>
                <a:latin typeface="Calibri"/>
              </a:rPr>
              <a:t>•  Tabelle 4: Zulassungsquote je Fachbereich und Geschlecht sowie Verteilung der Bewerbungen</a:t>
            </a:r>
          </a:p>
          <a:p>
            <a:pPr>
              <a:spcAft>
                <a:spcPts val="900"/>
              </a:spcAft>
            </a:pPr>
            <a:r>
              <a:rPr sz="2000" b="1">
                <a:solidFill>
                  <a:srgbClr val="52514E"/>
                </a:solidFill>
                <a:latin typeface="Calibri"/>
              </a:rPr>
              <a:t>•  Aufgabe (a): Funktionen in Python (McKinney, 2018, Abschnitt 3.2)</a:t>
            </a:r>
          </a:p>
          <a:p>
            <a:pPr>
              <a:spcAft>
                <a:spcPts val="900"/>
              </a:spcAft>
            </a:pPr>
            <a:r>
              <a:rPr sz="2000" b="1">
                <a:solidFill>
                  <a:srgbClr val="52514E"/>
                </a:solidFill>
                <a:latin typeface="Calibri"/>
              </a:rPr>
              <a:t>•  Aufgabe (b): Die Ungerechtigkeit auf einen Blick darstellen</a:t>
            </a:r>
          </a:p>
          <a:p>
            <a:pPr>
              <a:spcAft>
                <a:spcPts val="900"/>
              </a:spcAft>
            </a:pPr>
            <a:r>
              <a:rPr sz="2000" b="1">
                <a:solidFill>
                  <a:srgbClr val="52514E"/>
                </a:solidFill>
                <a:latin typeface="Calibri"/>
              </a:rPr>
              <a:t>•  Aufgabe (c): Verteilungen vergleichen, stochastische Unabhängigkeit prüfen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Quellen: Bickel et al. (1975); ZHAW SML (2026)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(a) Funktionen in Python: Grundlagen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Sprecher/in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224000"/>
            <a:ext cx="504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def deklariert, return gibt zurück (ohne return: None)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Positions- und Keyword-Argumente mit Standardwert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Lokaler Namensraum; global vermeiden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Mehrere Rückgabewerte = ein Tupel, alternativ Dictionary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0" y="1224000"/>
            <a:ext cx="5940000" cy="4320000"/>
          </a:xfrm>
          <a:prstGeom prst="rect">
            <a:avLst/>
          </a:prstGeom>
          <a:solidFill>
            <a:srgbClr val="F2F2F2"/>
          </a:solidFill>
        </p:spPr>
        <p:txBody>
          <a:bodyPr wrap="square" lIns="144000" rIns="144000" tIns="108000" bIns="10800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def kreuztabelle(daten, fachbereich=None):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if fachbereich is not None: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    daten = daten[daten["Fachbereich"] == fachbereich]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return daten.pivot_table(index="Geschlecht",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                         columns="Entscheid",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                         values="Anzahl", aggfunc="sum")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/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def kennzahlen(zugelassen, abgelehnt, total):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bewerbungen = zugelassen + abgelehnt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return zugelassen / bewerbungen, bewerbungen / total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/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quote, anteil = kennzahlen(89, 19, 1835)  # Tupel entpacken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Quelle: McKinney (2018, S. 71–74)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(a) Funktionen als Objekte, Lambda, yield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Sprecher/in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188000"/>
            <a:ext cx="11088000" cy="5040000"/>
          </a:xfrm>
          <a:prstGeom prst="rect">
            <a:avLst/>
          </a:prstGeom>
          <a:solidFill>
            <a:srgbClr val="F2F2F2"/>
          </a:solidFill>
        </p:spPr>
        <p:txBody>
          <a:bodyPr wrap="square" lIns="144000" rIns="144000" tIns="108000" bIns="10800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# Funktionen in einer Liste -&gt; nacheinander anwenden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bereinigungs_schritte = [str.strip, entferne_prozentzeichen, in_anteil]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tab4 = bereinige(["82.4%", "68.0%", ...], bereinigungs_schritte)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/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# Lambda-Funktion und Currying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prozent = lambda x: f"{x:.1%}"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quote_frauen = partial(bedingte_quote, geschlecht="Frauen")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/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# Generator: liefert Ergebnisse erst auf Anfrage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def ergebnisse_je_fachbereich(daten, fachbereiche):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for fb in fachbereiche: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    yield fb, pruefe_unabhaengigkeit(kreuztabelle(daten, fachbereich=fb))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/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# Ausnahmebehandlung: nur den erwarteten Fehler abfangen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def in_anteil(wert):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try: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    return float(wert) / 100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except ValueError:</a:t>
            </a:r>
          </a:p>
          <a:p>
            <a:pPr>
              <a:spcAft>
                <a:spcPts val="540"/>
              </a:spcAft>
            </a:pPr>
            <a:r>
              <a:rPr sz="1200" b="0">
                <a:solidFill>
                  <a:srgbClr val="202020"/>
                </a:solidFill>
                <a:latin typeface="Consolas"/>
              </a:rPr>
              <a:t>        raise ValueError(f"Ungültiger Tabellenwert: {wert!r}")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Quelle: McKinney (2018, S. 74–81)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Vorüberlegungen zur Umsetzung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Sprecher/in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224000"/>
            <a:ext cx="1098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Tabelle 4 enthält nur Prozente, deshalb Anzahlen aus dem Originaldatensatz; der Code prüft sie gegen Tabelle 4: 0 Abweichungen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Plausibilitätskontrolle: P(Z | G) = Σ P(Fᵢ | G) · P(Z | Fᵢ, G) ergibt die Zeile «Total»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Langes DataFrame (Fachbereich × Geschlecht × Entscheid), daraus jede Kreuztabelle mit pivot_table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Wiederholte Schritte als Funktionen: gesamt und für jeden der 6 Fachbereiche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Diagramme wie im Kurs: Säulen-, gruppiertes Säulen- und Streudiagramm</a:t>
            </a:r>
          </a:p>
          <a:p>
            <a:pPr>
              <a:spcAft>
                <a:spcPts val="810"/>
              </a:spcAft>
            </a:pPr>
            <a:r>
              <a:rPr sz="1800" b="1">
                <a:solidFill>
                  <a:srgbClr val="52514E"/>
                </a:solidFill>
                <a:latin typeface="Calibri"/>
              </a:rPr>
              <a:t>•  pandas: Tabellen · numpy: Rechnen · matplotlib: Diagramme · re/functools: Standardbibliothek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Quellen: R Core Team (o. J.); Schnauss (o. J.-a, Folien 16, 42, 45; o. J.-b, Folie 37)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(b) Die scheinbare Ungerechtigkeit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Sprecher/in 2</a:t>
            </a:r>
          </a:p>
        </p:txBody>
      </p:sp>
      <p:pic>
        <p:nvPicPr>
          <p:cNvPr id="5" name="Picture 4" descr="abb1_gesamtquo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1152000"/>
            <a:ext cx="7200000" cy="504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00000" y="1620000"/>
            <a:ext cx="378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Männer: 44.5 %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Frauen: 30.4 %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Differenz: 14.2 Prozentpunkte</a:t>
            </a:r>
          </a:p>
          <a:p>
            <a:pPr>
              <a:spcAft>
                <a:spcPts val="81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•  Bei Männerquote: 817 statt 557 Frauen zugelassen</a:t>
            </a:r>
          </a:p>
          <a:p>
            <a:pPr>
              <a:spcAft>
                <a:spcPts val="810"/>
              </a:spcAft>
            </a:pPr>
            <a:r>
              <a:rPr sz="1800" b="1">
                <a:solidFill>
                  <a:srgbClr val="52514E"/>
                </a:solidFill>
                <a:latin typeface="Calibri"/>
              </a:rPr>
              <a:t>•  Also Diskriminierung?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Eigene Darstellung; Daten: Bickel et al. (1975)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(c) Je Fachbereich: kein Nachteil für Frauen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Sprecher/in 2</a:t>
            </a:r>
          </a:p>
        </p:txBody>
      </p:sp>
      <p:pic>
        <p:nvPicPr>
          <p:cNvPr id="5" name="Picture 4" descr="abb2_quote_fachberei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1224000"/>
            <a:ext cx="8181818" cy="45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928000" y="1620000"/>
            <a:ext cx="306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•  In 4 von 6 Fachbereichen haben Frauen die höhere Quote</a:t>
            </a:r>
          </a:p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•  FB A: +20.3 Prozentpunkte</a:t>
            </a:r>
          </a:p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•  FB C und E: −2.9 bzw. −3.8 Prozentpunkte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Eigene Darstellung; Daten: ZHAW SML (2026), Tabelle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(c) Frauen wählten selektivere Fachbereiche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Sprecher/in 2</a:t>
            </a:r>
          </a:p>
        </p:txBody>
      </p:sp>
      <p:pic>
        <p:nvPicPr>
          <p:cNvPr id="5" name="Picture 4" descr="abb3_anteil_fachberei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1224000"/>
            <a:ext cx="5832000" cy="3207600"/>
          </a:xfrm>
          <a:prstGeom prst="rect">
            <a:avLst/>
          </a:prstGeom>
        </p:spPr>
      </p:pic>
      <p:pic>
        <p:nvPicPr>
          <p:cNvPr id="6" name="Picture 5" descr="abb4_selektivita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2000" y="1224000"/>
            <a:ext cx="5760000" cy="37851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0000" y="4824000"/>
            <a:ext cx="1116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Männer: 51.5 % bewerben sich in A oder B (Zulassungsquote ≈ 64 %)  ·  Frauen: nur 7.2 %</a:t>
            </a:r>
          </a:p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Je höher der Frauenanteil, desto tiefer die Zulassungsquote des Fachbereichs (r = −0.79)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Eigene Darstellung; Daten: Bickel et al. (1975); ZHAW SML (2026)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(c) Die Erklärung: totale Wahrscheinlichkeit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Sprecher/in 3</a:t>
            </a:r>
          </a:p>
        </p:txBody>
      </p:sp>
      <p:pic>
        <p:nvPicPr>
          <p:cNvPr id="5" name="Picture 4" descr="abb5_standardisi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1296000"/>
            <a:ext cx="6900000" cy="414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68000" y="1440000"/>
            <a:ext cx="4248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65"/>
              </a:spcAft>
            </a:pPr>
            <a:r>
              <a:rPr sz="1700" b="1">
                <a:solidFill>
                  <a:srgbClr val="52514E"/>
                </a:solidFill>
                <a:latin typeface="Calibri"/>
              </a:rPr>
              <a:t>P(Z | G) = Σ P(Fᵢ | G) · P(Z | Fᵢ, G)</a:t>
            </a:r>
          </a:p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Gesamtquote = gewichteter Mittelwert der Fachbereichsquoten</a:t>
            </a:r>
          </a:p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Gleiche Gewichte für beide Geschlechter:</a:t>
            </a:r>
          </a:p>
          <a:p>
            <a:pPr>
              <a:spcAft>
                <a:spcPts val="765"/>
              </a:spcAft>
            </a:pPr>
            <a:r>
              <a:rPr sz="1700" b="1">
                <a:solidFill>
                  <a:srgbClr val="52514E"/>
                </a:solidFill>
                <a:latin typeface="Calibri"/>
              </a:rPr>
              <a:t>Frauen 43.0 % · Männer 38.7 %</a:t>
            </a:r>
          </a:p>
          <a:p>
            <a:pPr>
              <a:spcAft>
                <a:spcPts val="765"/>
              </a:spcAft>
            </a:pPr>
            <a:r>
              <a:rPr sz="1700" b="0">
                <a:solidFill>
                  <a:srgbClr val="52514E"/>
                </a:solidFill>
                <a:latin typeface="Calibri"/>
              </a:rPr>
              <a:t>gesamtquote(quote_g[g], gewichte_alle)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Eigene Darstellung und Berechnung; Schnauss (o. J.-b, Folie 37); Daten: Bickel et al. (1975)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(c) Stochastische Unabhängigkeit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Sprecher/in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188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Z, W unabhängig  ⇔  P(Z ∩ W) = P(Z) · P(W)  ⇔  P(Z | W) = P(Z)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0000" y="1872000"/>
          <a:ext cx="11159999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7999"/>
                <a:gridCol w="1152000"/>
                <a:gridCol w="1152000"/>
                <a:gridCol w="1296000"/>
                <a:gridCol w="1152000"/>
                <a:gridCol w="1296000"/>
                <a:gridCol w="4104000"/>
              </a:tblGrid>
              <a:tr h="45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P(Z|W)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P(Z|M)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Differenz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P(Z∩W)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P(Z)·P(W)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Beurteilung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500" b="1"/>
                        <a:t>Gesamt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30.4 %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44.5 %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−14.2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0.1231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0.1572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abhängig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500" b="0"/>
                        <a:t>FB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82.4 %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62.1 %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+20.3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0.0954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0.0746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abhängig, zugunsten Frauen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500" b="0"/>
                        <a:t>FB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68.0 %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63.0 %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+5.0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0.0291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0.0270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annähernd unabhängig (nur 25 Frauen)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500" b="0"/>
                        <a:t>FB 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34.1 %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36.9 %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−2.9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0.2200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0.2266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annähernd unabhängig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500" b="0"/>
                        <a:t>FB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34.9 %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33.1 %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+1.8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0.1654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0.1608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annähernd unabhängig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500" b="0"/>
                        <a:t>FB 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23.9 %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27.7 %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−3.8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0.1610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0.1694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annähernd unabhängig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500" b="0"/>
                        <a:t>FB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7.0 %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5.9 %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+1.1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0.0336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0.0308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annähernd unabhängig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0000" y="5688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Insgesamt abhängig, innerhalb der Fachbereiche (bis auf A) annähernd unabhängig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Eigene Berechnung; Schnauss (o. J.-b, Folie 34); Daten: Bickel et al. (1975)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Fazit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Sprecher/in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224000"/>
            <a:ext cx="1098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52514E"/>
                </a:solidFill>
                <a:latin typeface="Calibri"/>
              </a:rPr>
              <a:t>•  Aggregiert: Zulassung und Geschlecht sind stochastisch abhängig (30.4 % vs. 44.5 %)</a:t>
            </a:r>
          </a:p>
          <a:p>
            <a:pPr>
              <a:spcAft>
                <a:spcPts val="855"/>
              </a:spcAft>
            </a:pPr>
            <a:r>
              <a:rPr sz="1900" b="0">
                <a:solidFill>
                  <a:srgbClr val="52514E"/>
                </a:solidFill>
                <a:latin typeface="Calibri"/>
              </a:rPr>
              <a:t>•  Je Fachbereich: kein Nachteil für Frauen; gegeben den Fachbereich annähernd unabhängig</a:t>
            </a:r>
          </a:p>
          <a:p>
            <a:pPr>
              <a:spcAft>
                <a:spcPts val="855"/>
              </a:spcAft>
            </a:pPr>
            <a:r>
              <a:rPr sz="1900" b="0">
                <a:solidFill>
                  <a:srgbClr val="52514E"/>
                </a:solidFill>
                <a:latin typeface="Calibri"/>
              </a:rPr>
              <a:t>•  Ursache: Frauen bewarben sich häufiger in stark umkämpften Fachbereichen</a:t>
            </a:r>
          </a:p>
          <a:p>
            <a:pPr>
              <a:spcAft>
                <a:spcPts val="855"/>
              </a:spcAft>
            </a:pPr>
            <a:r>
              <a:rPr sz="1900" b="1">
                <a:solidFill>
                  <a:srgbClr val="52514E"/>
                </a:solidFill>
                <a:latin typeface="Calibri"/>
              </a:rPr>
              <a:t>•  Simpson-Paradoxon: Die Drittvariable Fachbereich kehrt den Zusammenhang um</a:t>
            </a:r>
          </a:p>
          <a:p>
            <a:pPr>
              <a:spcAft>
                <a:spcPts val="855"/>
              </a:spcAft>
            </a:pPr>
            <a:r>
              <a:rPr sz="1900" b="0">
                <a:solidFill>
                  <a:srgbClr val="52514E"/>
                </a:solidFill>
                <a:latin typeface="Calibri"/>
              </a:rPr>
              <a:t>•  Grenzen: Beobachtungsdaten eines Jahres; Gründe für die Fachbereichswahl bleiben offen</a:t>
            </a:r>
          </a:p>
          <a:p>
            <a:pPr>
              <a:spcAft>
                <a:spcPts val="855"/>
              </a:spcAft>
            </a:pPr>
            <a:r>
              <a:rPr sz="1900" b="0">
                <a:solidFill>
                  <a:srgbClr val="52514E"/>
                </a:solidFill>
                <a:latin typeface="Calibri"/>
              </a:rPr>
              <a:t>•  Python: Dieselben Funktionen für Gesamtanalyse, 6 Fachbereiche und Standardisierung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6372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Quellen: Bickel et al. (1975); Simpson (1951)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25999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324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Literaturverzeichnis · Fragen?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0" y="6372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152000"/>
            <a:ext cx="1116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i="0">
                <a:solidFill>
                  <a:srgbClr val="52514E"/>
                </a:solidFill>
                <a:latin typeface="Calibri"/>
              </a:rPr>
              <a:t>Bickel, P. J., Hammel, E. A., &amp; O'Connell, J. W. (1975). Sex bias in graduate admissions: Data from Berkeley. </a:t>
            </a:r>
            <a:r>
              <a:rPr sz="1300" i="1">
                <a:solidFill>
                  <a:srgbClr val="52514E"/>
                </a:solidFill>
                <a:latin typeface="Calibri"/>
              </a:rPr>
              <a:t>Science, 187</a:t>
            </a:r>
            <a:r>
              <a:rPr sz="1300" i="0">
                <a:solidFill>
                  <a:srgbClr val="52514E"/>
                </a:solidFill>
                <a:latin typeface="Calibri"/>
              </a:rPr>
              <a:t>(4175), 398–404. https://doi.org/10.1126/science.187.4175.398</a:t>
            </a:r>
          </a:p>
          <a:p>
            <a:pPr>
              <a:spcAft>
                <a:spcPts val="500"/>
              </a:spcAft>
            </a:pPr>
            <a:r>
              <a:rPr sz="1300" i="0">
                <a:solidFill>
                  <a:srgbClr val="52514E"/>
                </a:solidFill>
                <a:latin typeface="Calibri"/>
              </a:rPr>
              <a:t>McKinney, W. (2018). </a:t>
            </a:r>
            <a:r>
              <a:rPr sz="1300" i="1">
                <a:solidFill>
                  <a:srgbClr val="52514E"/>
                </a:solidFill>
                <a:latin typeface="Calibri"/>
              </a:rPr>
              <a:t>Datenanalyse mit Python</a:t>
            </a:r>
            <a:r>
              <a:rPr sz="1300" i="0">
                <a:solidFill>
                  <a:srgbClr val="52514E"/>
                </a:solidFill>
                <a:latin typeface="Calibri"/>
              </a:rPr>
              <a:t> (2., korrigierte Aufl.). O'Reilly.</a:t>
            </a:r>
          </a:p>
          <a:p>
            <a:pPr>
              <a:spcAft>
                <a:spcPts val="500"/>
              </a:spcAft>
            </a:pPr>
            <a:r>
              <a:rPr sz="1300" i="0">
                <a:solidFill>
                  <a:srgbClr val="52514E"/>
                </a:solidFill>
                <a:latin typeface="Calibri"/>
              </a:rPr>
              <a:t>R Core Team. (o. J.). </a:t>
            </a:r>
            <a:r>
              <a:rPr sz="1300" i="1">
                <a:solidFill>
                  <a:srgbClr val="52514E"/>
                </a:solidFill>
                <a:latin typeface="Calibri"/>
              </a:rPr>
              <a:t>UCBAdmissions: Student admissions at UC Berkeley</a:t>
            </a:r>
            <a:r>
              <a:rPr sz="1300" i="0">
                <a:solidFill>
                  <a:srgbClr val="52514E"/>
                </a:solidFill>
                <a:latin typeface="Calibri"/>
              </a:rPr>
              <a:t> [Datensatz]. R-Paket datasets. https://github.com/wch/r-source/blob/trunk/src/library/datasets/data/UCBAdmissions.R</a:t>
            </a:r>
          </a:p>
          <a:p>
            <a:pPr>
              <a:spcAft>
                <a:spcPts val="500"/>
              </a:spcAft>
            </a:pPr>
            <a:r>
              <a:rPr sz="1300" i="0">
                <a:solidFill>
                  <a:srgbClr val="52514E"/>
                </a:solidFill>
                <a:latin typeface="Calibri"/>
              </a:rPr>
              <a:t>Schnauss, M. (o. J.-a). </a:t>
            </a:r>
            <a:r>
              <a:rPr sz="1300" i="1">
                <a:solidFill>
                  <a:srgbClr val="52514E"/>
                </a:solidFill>
                <a:latin typeface="Calibri"/>
              </a:rPr>
              <a:t>Statistik (w.BA.XX.2Stat-WIN.XX), Teil 1: Tabellen und Diagramme</a:t>
            </a:r>
            <a:r>
              <a:rPr sz="1300" i="0">
                <a:solidFill>
                  <a:srgbClr val="52514E"/>
                </a:solidFill>
                <a:latin typeface="Calibri"/>
              </a:rPr>
              <a:t> [Vorlesungsfolien]. ZHAW School of Management and Law.</a:t>
            </a:r>
          </a:p>
          <a:p>
            <a:pPr>
              <a:spcAft>
                <a:spcPts val="500"/>
              </a:spcAft>
            </a:pPr>
            <a:r>
              <a:rPr sz="1300" i="0">
                <a:solidFill>
                  <a:srgbClr val="52514E"/>
                </a:solidFill>
                <a:latin typeface="Calibri"/>
              </a:rPr>
              <a:t>Schnauss, M. (o. J.-b). </a:t>
            </a:r>
            <a:r>
              <a:rPr sz="1300" i="1">
                <a:solidFill>
                  <a:srgbClr val="52514E"/>
                </a:solidFill>
                <a:latin typeface="Calibri"/>
              </a:rPr>
              <a:t>Statistik (w.BA.XX.2Stat-WIN.XX), Teil 3: Wahrscheinlichkeitsrechnung</a:t>
            </a:r>
            <a:r>
              <a:rPr sz="1300" i="0">
                <a:solidFill>
                  <a:srgbClr val="52514E"/>
                </a:solidFill>
                <a:latin typeface="Calibri"/>
              </a:rPr>
              <a:t> [Vorlesungsfolien]. ZHAW School of Management and Law.</a:t>
            </a:r>
          </a:p>
          <a:p>
            <a:pPr>
              <a:spcAft>
                <a:spcPts val="500"/>
              </a:spcAft>
            </a:pPr>
            <a:r>
              <a:rPr sz="1300" i="0">
                <a:solidFill>
                  <a:srgbClr val="52514E"/>
                </a:solidFill>
                <a:latin typeface="Calibri"/>
              </a:rPr>
              <a:t>Simpson, E. H. (1951). The interpretation of interaction in contingency tables. </a:t>
            </a:r>
            <a:r>
              <a:rPr sz="1300" i="1">
                <a:solidFill>
                  <a:srgbClr val="52514E"/>
                </a:solidFill>
                <a:latin typeface="Calibri"/>
              </a:rPr>
              <a:t>Journal of the Royal Statistical Society: Series B (Methodological), 13</a:t>
            </a:r>
            <a:r>
              <a:rPr sz="1300" i="0">
                <a:solidFill>
                  <a:srgbClr val="52514E"/>
                </a:solidFill>
                <a:latin typeface="Calibri"/>
              </a:rPr>
              <a:t>(2), 238–241. https://doi.org/10.1111/j.2517-6161.1951.tb00088.x</a:t>
            </a:r>
          </a:p>
          <a:p>
            <a:pPr>
              <a:spcAft>
                <a:spcPts val="500"/>
              </a:spcAft>
            </a:pPr>
            <a:r>
              <a:rPr sz="1300" i="0">
                <a:solidFill>
                  <a:srgbClr val="52514E"/>
                </a:solidFill>
                <a:latin typeface="Calibri"/>
              </a:rPr>
              <a:t>ZHAW School of Management and Law. (2026). </a:t>
            </a:r>
            <a:r>
              <a:rPr sz="1300" i="1">
                <a:solidFill>
                  <a:srgbClr val="52514E"/>
                </a:solidFill>
                <a:latin typeface="Calibri"/>
              </a:rPr>
              <a:t>Aufgabe 4 (Vortrag-4: Python)</a:t>
            </a:r>
            <a:r>
              <a:rPr sz="1300" i="0">
                <a:solidFill>
                  <a:srgbClr val="52514E"/>
                </a:solidFill>
                <a:latin typeface="Calibri"/>
              </a:rPr>
              <a:t> [Aufgabenblatt].</a:t>
            </a:r>
          </a:p>
          <a:p>
            <a:pPr>
              <a:spcAft>
                <a:spcPts val="500"/>
              </a:spcAft>
            </a:pPr>
            <a:r>
              <a:rPr sz="1300" i="0">
                <a:solidFill>
                  <a:srgbClr val="52514E"/>
                </a:solidFill>
                <a:latin typeface="Calibri"/>
              </a:rPr>
              <a:t>Code und Ausarbeitung: Vortrag4_Berkeley_Analyse.ipynb, Vortrag4_Ausarbeitung.docx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